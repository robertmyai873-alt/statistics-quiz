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76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204700" cy="6858000"/>
  <p:notesSz cx="122047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85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53339"/>
            <a:ext cx="12198350" cy="405130"/>
          </a:xfrm>
          <a:custGeom>
            <a:avLst/>
            <a:gdLst/>
            <a:ahLst/>
            <a:cxnLst/>
            <a:rect l="l" t="t" r="r" b="b"/>
            <a:pathLst>
              <a:path w="12198350" h="405129">
                <a:moveTo>
                  <a:pt x="12198350" y="0"/>
                </a:moveTo>
                <a:lnTo>
                  <a:pt x="0" y="0"/>
                </a:lnTo>
                <a:lnTo>
                  <a:pt x="0" y="404660"/>
                </a:lnTo>
                <a:lnTo>
                  <a:pt x="12198350" y="404660"/>
                </a:lnTo>
                <a:lnTo>
                  <a:pt x="12198350" y="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316" y="4880691"/>
            <a:ext cx="5027782" cy="127579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3719334"/>
            <a:ext cx="12198350" cy="802640"/>
          </a:xfrm>
          <a:custGeom>
            <a:avLst/>
            <a:gdLst/>
            <a:ahLst/>
            <a:cxnLst/>
            <a:rect l="l" t="t" r="r" b="b"/>
            <a:pathLst>
              <a:path w="12198350" h="802639">
                <a:moveTo>
                  <a:pt x="0" y="802601"/>
                </a:moveTo>
                <a:lnTo>
                  <a:pt x="12198350" y="802601"/>
                </a:lnTo>
                <a:lnTo>
                  <a:pt x="12198350" y="0"/>
                </a:lnTo>
                <a:lnTo>
                  <a:pt x="0" y="0"/>
                </a:lnTo>
                <a:lnTo>
                  <a:pt x="0" y="802601"/>
                </a:lnTo>
                <a:close/>
              </a:path>
            </a:pathLst>
          </a:custGeom>
          <a:solidFill>
            <a:srgbClr val="8592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0"/>
            <a:ext cx="12198350" cy="3719829"/>
          </a:xfrm>
          <a:custGeom>
            <a:avLst/>
            <a:gdLst/>
            <a:ahLst/>
            <a:cxnLst/>
            <a:rect l="l" t="t" r="r" b="b"/>
            <a:pathLst>
              <a:path w="12198350" h="3719829">
                <a:moveTo>
                  <a:pt x="12198350" y="0"/>
                </a:moveTo>
                <a:lnTo>
                  <a:pt x="0" y="0"/>
                </a:lnTo>
                <a:lnTo>
                  <a:pt x="0" y="3719334"/>
                </a:lnTo>
                <a:lnTo>
                  <a:pt x="12198350" y="3719334"/>
                </a:lnTo>
                <a:lnTo>
                  <a:pt x="12198350" y="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85875" y="694435"/>
            <a:ext cx="7302500" cy="2285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0480"/>
            <a:ext cx="854329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0604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0604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235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77340"/>
            <a:ext cx="5309044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0604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0604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0604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53339"/>
            <a:ext cx="12198350" cy="405130"/>
          </a:xfrm>
          <a:custGeom>
            <a:avLst/>
            <a:gdLst/>
            <a:ahLst/>
            <a:cxnLst/>
            <a:rect l="l" t="t" r="r" b="b"/>
            <a:pathLst>
              <a:path w="12198350" h="405129">
                <a:moveTo>
                  <a:pt x="12198350" y="0"/>
                </a:moveTo>
                <a:lnTo>
                  <a:pt x="0" y="0"/>
                </a:lnTo>
                <a:lnTo>
                  <a:pt x="0" y="404660"/>
                </a:lnTo>
                <a:lnTo>
                  <a:pt x="12198350" y="404660"/>
                </a:lnTo>
                <a:lnTo>
                  <a:pt x="12198350" y="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962" y="319532"/>
            <a:ext cx="1142077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7890" y="1144651"/>
            <a:ext cx="10410190" cy="2585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1158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77940"/>
            <a:ext cx="3905504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77940"/>
            <a:ext cx="2807081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13410" y="6565342"/>
            <a:ext cx="223204" cy="198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Georgia"/>
                <a:cs typeface="Georgia"/>
              </a:defRPr>
            </a:lvl1pPr>
          </a:lstStyle>
          <a:p>
            <a:pPr marL="106045">
              <a:lnSpc>
                <a:spcPct val="10000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anmirman.org/gca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towardsdatascience.com/probability-concepts-explained-maximum-likelihood-estimation-c7b4342fdbb1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anmirman.org/gca" TargetMode="Externa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hyperlink" Target="https://www.danmirman.org/gc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viewer?a=v&amp;pid=sites&amp;srcid=ZGVmYXVsdGRvbWFpbnxkYW5pZWxtaXJtYW58Z3g6MWI5ZWViMTc3YzI2YmVh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926465" marR="5080" indent="-914400">
              <a:lnSpc>
                <a:spcPct val="100200"/>
              </a:lnSpc>
              <a:spcBef>
                <a:spcPts val="85"/>
              </a:spcBef>
            </a:pPr>
            <a:r>
              <a:rPr sz="5400" dirty="0">
                <a:solidFill>
                  <a:srgbClr val="FFFFFF"/>
                </a:solidFill>
              </a:rPr>
              <a:t>Statistics</a:t>
            </a:r>
            <a:r>
              <a:rPr sz="5400" spc="-100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for</a:t>
            </a:r>
            <a:r>
              <a:rPr sz="5400" spc="-85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CSAI</a:t>
            </a:r>
            <a:r>
              <a:rPr sz="5400" spc="-90" dirty="0">
                <a:solidFill>
                  <a:srgbClr val="FFFFFF"/>
                </a:solidFill>
              </a:rPr>
              <a:t> </a:t>
            </a:r>
            <a:r>
              <a:rPr sz="5400" spc="-25" dirty="0">
                <a:solidFill>
                  <a:srgbClr val="FFFFFF"/>
                </a:solidFill>
              </a:rPr>
              <a:t>II </a:t>
            </a:r>
            <a:r>
              <a:rPr sz="5400" dirty="0">
                <a:solidFill>
                  <a:srgbClr val="FFFFFF"/>
                </a:solidFill>
              </a:rPr>
              <a:t>12</a:t>
            </a:r>
            <a:r>
              <a:rPr sz="5400" spc="-50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–</a:t>
            </a:r>
            <a:r>
              <a:rPr sz="5400" spc="-5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Growth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Curve </a:t>
            </a:r>
            <a:r>
              <a:rPr dirty="0">
                <a:solidFill>
                  <a:srgbClr val="FFFFFF"/>
                </a:solidFill>
              </a:rPr>
              <a:t>Modeling/Mixed</a:t>
            </a:r>
            <a:r>
              <a:rPr spc="-19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models</a:t>
            </a:r>
            <a:endParaRPr sz="54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045">
              <a:lnSpc>
                <a:spcPct val="100000"/>
              </a:lnSpc>
            </a:pPr>
            <a:fld id="{81D60167-4931-47E6-BA6A-407CBD079E47}" type="slidenum">
              <a:rPr spc="-50" dirty="0"/>
              <a:t>1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487398" y="3944759"/>
            <a:ext cx="2689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Travis</a:t>
            </a:r>
            <a:r>
              <a:rPr sz="2400" spc="-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J.</a:t>
            </a:r>
            <a:r>
              <a:rPr sz="2400" spc="-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FFFFFF"/>
                </a:solidFill>
                <a:latin typeface="Georgia"/>
                <a:cs typeface="Georgia"/>
              </a:rPr>
              <a:t>Wiltshire</a:t>
            </a:r>
            <a:r>
              <a:rPr sz="2400" spc="-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Georgia"/>
                <a:cs typeface="Georgia"/>
              </a:rPr>
              <a:t>|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1960" y="222097"/>
            <a:ext cx="22720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Modules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86435" y="6565342"/>
            <a:ext cx="11112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2849" y="1145324"/>
            <a:ext cx="9082405" cy="5193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340" indent="-33591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343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Introduction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Probability</a:t>
            </a:r>
            <a:endParaRPr sz="2800">
              <a:latin typeface="Georgia"/>
              <a:cs typeface="Georgia"/>
            </a:endParaRPr>
          </a:p>
          <a:p>
            <a:pPr marL="393700" indent="-381000">
              <a:lnSpc>
                <a:spcPct val="100000"/>
              </a:lnSpc>
              <a:buAutoNum type="arabicPeriod"/>
              <a:tabLst>
                <a:tab pos="39370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Sampling</a:t>
            </a:r>
            <a:r>
              <a:rPr sz="2800" spc="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Theory</a:t>
            </a:r>
            <a:endParaRPr sz="2800">
              <a:latin typeface="Georgia"/>
              <a:cs typeface="Georgia"/>
            </a:endParaRPr>
          </a:p>
          <a:p>
            <a:pPr marL="391795" indent="-379095">
              <a:lnSpc>
                <a:spcPct val="100000"/>
              </a:lnSpc>
              <a:buAutoNum type="arabicPeriod"/>
              <a:tabLst>
                <a:tab pos="39179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Revisiting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Hypothesis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Testing</a:t>
            </a:r>
            <a:r>
              <a:rPr sz="28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&amp;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Intro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Correlation</a:t>
            </a:r>
            <a:endParaRPr sz="2800">
              <a:latin typeface="Georgia"/>
              <a:cs typeface="Georgia"/>
            </a:endParaRPr>
          </a:p>
          <a:p>
            <a:pPr marL="396875" indent="-384175">
              <a:lnSpc>
                <a:spcPct val="100000"/>
              </a:lnSpc>
              <a:buAutoNum type="arabicPeriod"/>
              <a:tabLst>
                <a:tab pos="396875" algn="l"/>
              </a:tabLst>
            </a:pP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Correlation</a:t>
            </a:r>
            <a:endParaRPr sz="2800">
              <a:latin typeface="Georgia"/>
              <a:cs typeface="Georgia"/>
            </a:endParaRPr>
          </a:p>
          <a:p>
            <a:pPr marL="383540" indent="-370840">
              <a:lnSpc>
                <a:spcPct val="100000"/>
              </a:lnSpc>
              <a:buAutoNum type="arabicPeriod"/>
              <a:tabLst>
                <a:tab pos="3835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Intro</a:t>
            </a:r>
            <a:r>
              <a:rPr sz="2800" spc="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endParaRPr sz="2800">
              <a:latin typeface="Georgia"/>
              <a:cs typeface="Georgia"/>
            </a:endParaRPr>
          </a:p>
          <a:p>
            <a:pPr marL="396875" indent="-384175">
              <a:lnSpc>
                <a:spcPct val="100000"/>
              </a:lnSpc>
              <a:buAutoNum type="arabicPeriod"/>
              <a:tabLst>
                <a:tab pos="39687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More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Centering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Checking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Assumptions</a:t>
            </a:r>
            <a:endParaRPr sz="2800">
              <a:latin typeface="Georgia"/>
              <a:cs typeface="Georgia"/>
            </a:endParaRPr>
          </a:p>
          <a:p>
            <a:pPr marL="374650" indent="-361950">
              <a:lnSpc>
                <a:spcPct val="100000"/>
              </a:lnSpc>
              <a:buAutoNum type="arabicPeriod"/>
              <a:tabLst>
                <a:tab pos="37465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Multiple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Assumptions</a:t>
            </a:r>
            <a:endParaRPr sz="2800">
              <a:latin typeface="Georgia"/>
              <a:cs typeface="Georgia"/>
            </a:endParaRPr>
          </a:p>
          <a:p>
            <a:pPr marL="407670" indent="-394970">
              <a:lnSpc>
                <a:spcPct val="100000"/>
              </a:lnSpc>
              <a:buAutoNum type="arabicPeriod"/>
              <a:tabLst>
                <a:tab pos="407670" algn="l"/>
              </a:tabLst>
            </a:pP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Interactions</a:t>
            </a:r>
            <a:endParaRPr sz="2800">
              <a:latin typeface="Georgia"/>
              <a:cs typeface="Georgia"/>
            </a:endParaRPr>
          </a:p>
          <a:p>
            <a:pPr marL="396875" indent="-384175">
              <a:lnSpc>
                <a:spcPct val="100000"/>
              </a:lnSpc>
              <a:buAutoNum type="arabicPeriod"/>
              <a:tabLst>
                <a:tab pos="39687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Multiple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Categories</a:t>
            </a:r>
            <a:endParaRPr sz="2800">
              <a:latin typeface="Georgia"/>
              <a:cs typeface="Georgia"/>
            </a:endParaRPr>
          </a:p>
          <a:p>
            <a:pPr marL="567690" indent="-554990">
              <a:lnSpc>
                <a:spcPct val="100000"/>
              </a:lnSpc>
              <a:buAutoNum type="arabicPeriod"/>
              <a:tabLst>
                <a:tab pos="56769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Multiple</a:t>
            </a:r>
            <a:r>
              <a:rPr sz="2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Polynomials</a:t>
            </a:r>
            <a:endParaRPr sz="2800">
              <a:latin typeface="Georgia"/>
              <a:cs typeface="Georgia"/>
            </a:endParaRPr>
          </a:p>
          <a:p>
            <a:pPr marL="502284" indent="-489584">
              <a:lnSpc>
                <a:spcPct val="100000"/>
              </a:lnSpc>
              <a:buAutoNum type="arabicPeriod"/>
              <a:tabLst>
                <a:tab pos="502284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Mixed</a:t>
            </a:r>
            <a:r>
              <a:rPr sz="28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Models</a:t>
            </a:r>
            <a:endParaRPr sz="2800">
              <a:latin typeface="Georgia"/>
              <a:cs typeface="Georgia"/>
            </a:endParaRPr>
          </a:p>
          <a:p>
            <a:pPr marL="548005" indent="-535305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548005" algn="l"/>
              </a:tabLst>
            </a:pP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Growth</a:t>
            </a:r>
            <a:r>
              <a:rPr sz="2800" i="1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i="1" dirty="0">
                <a:solidFill>
                  <a:srgbClr val="001158"/>
                </a:solidFill>
                <a:latin typeface="Georgia"/>
                <a:cs typeface="Georgia"/>
              </a:rPr>
              <a:t>Curve</a:t>
            </a:r>
            <a:r>
              <a:rPr sz="2800" i="1" spc="-10" dirty="0">
                <a:solidFill>
                  <a:srgbClr val="001158"/>
                </a:solidFill>
                <a:latin typeface="Georgia"/>
                <a:cs typeface="Georgia"/>
              </a:rPr>
              <a:t> Analysis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686435" y="6565342"/>
            <a:ext cx="111125" cy="198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0" dirty="0">
                <a:solidFill>
                  <a:srgbClr val="FFFFFF"/>
                </a:solidFill>
                <a:latin typeface="Georgia"/>
                <a:cs typeface="Georgia"/>
              </a:rPr>
              <a:t>2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1962" y="1030630"/>
            <a:ext cx="7665720" cy="412877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345"/>
              </a:spcBef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What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it?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Example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modeling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time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with</a:t>
            </a:r>
            <a:r>
              <a:rPr sz="2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straight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line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Adding</a:t>
            </a:r>
            <a:r>
              <a:rPr sz="28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polynomials</a:t>
            </a:r>
            <a:endParaRPr sz="2800">
              <a:latin typeface="Georgia"/>
              <a:cs typeface="Georgia"/>
            </a:endParaRPr>
          </a:p>
          <a:p>
            <a:pPr marL="374015" indent="-361315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37401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Orthogonal</a:t>
            </a:r>
            <a:r>
              <a:rPr sz="2800" spc="-10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polynomials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spcBef>
                <a:spcPts val="1340"/>
              </a:spcBef>
              <a:buAutoNum type="arabicPeriod"/>
              <a:tabLst>
                <a:tab pos="373380" algn="l"/>
              </a:tabLst>
            </a:pP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Reporting</a:t>
            </a:r>
            <a:endParaRPr sz="2800">
              <a:latin typeface="Georgia"/>
              <a:cs typeface="Georgia"/>
            </a:endParaRPr>
          </a:p>
          <a:p>
            <a:pPr marL="373380" indent="-360680">
              <a:lnSpc>
                <a:spcPct val="100000"/>
              </a:lnSpc>
              <a:spcBef>
                <a:spcPts val="1250"/>
              </a:spcBef>
              <a:buAutoNum type="arabicPeriod"/>
              <a:tabLst>
                <a:tab pos="373380" algn="l"/>
              </a:tabLst>
            </a:pP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Graphing</a:t>
            </a:r>
            <a:endParaRPr sz="2800">
              <a:latin typeface="Georgia"/>
              <a:cs typeface="Georgia"/>
            </a:endParaRPr>
          </a:p>
          <a:p>
            <a:pPr marL="374015" indent="-361315">
              <a:lnSpc>
                <a:spcPct val="100000"/>
              </a:lnSpc>
              <a:spcBef>
                <a:spcPts val="1225"/>
              </a:spcBef>
              <a:buAutoNum type="arabicPeriod"/>
              <a:tabLst>
                <a:tab pos="37401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Wrap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up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8945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Mixed</a:t>
            </a:r>
            <a:r>
              <a:rPr sz="3600" spc="-95" dirty="0"/>
              <a:t> </a:t>
            </a:r>
            <a:r>
              <a:rPr sz="3600" dirty="0"/>
              <a:t>Models</a:t>
            </a:r>
            <a:r>
              <a:rPr sz="3600" spc="-95" dirty="0"/>
              <a:t> </a:t>
            </a:r>
            <a:r>
              <a:rPr sz="3600" dirty="0"/>
              <a:t>and</a:t>
            </a:r>
            <a:r>
              <a:rPr sz="3600" spc="-95" dirty="0"/>
              <a:t> </a:t>
            </a:r>
            <a:r>
              <a:rPr sz="3600" dirty="0"/>
              <a:t>Growth</a:t>
            </a:r>
            <a:r>
              <a:rPr sz="3600" spc="-90" dirty="0"/>
              <a:t> </a:t>
            </a:r>
            <a:r>
              <a:rPr sz="3600" dirty="0"/>
              <a:t>Curve</a:t>
            </a:r>
            <a:r>
              <a:rPr sz="3600" spc="-90" dirty="0"/>
              <a:t> </a:t>
            </a:r>
            <a:r>
              <a:rPr sz="3600" spc="-10" dirty="0"/>
              <a:t>Modeling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5261257" y="1066800"/>
            <a:ext cx="554990" cy="5255260"/>
          </a:xfrm>
          <a:custGeom>
            <a:avLst/>
            <a:gdLst/>
            <a:ahLst/>
            <a:cxnLst/>
            <a:rect l="l" t="t" r="r" b="b"/>
            <a:pathLst>
              <a:path w="554989" h="5255260">
                <a:moveTo>
                  <a:pt x="554659" y="0"/>
                </a:moveTo>
                <a:lnTo>
                  <a:pt x="0" y="5255118"/>
                </a:lnTo>
              </a:path>
            </a:pathLst>
          </a:custGeom>
          <a:ln w="12693">
            <a:solidFill>
              <a:srgbClr val="00115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784080" y="2664383"/>
            <a:ext cx="5771515" cy="351091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965"/>
              </a:spcBef>
              <a:buFont typeface="Arial"/>
              <a:buChar char="•"/>
              <a:tabLst>
                <a:tab pos="193040" algn="l"/>
              </a:tabLst>
            </a:pP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Special</a:t>
            </a:r>
            <a:r>
              <a:rPr sz="22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case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2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mixed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001158"/>
                </a:solidFill>
                <a:latin typeface="Georgia"/>
                <a:cs typeface="Georgia"/>
              </a:rPr>
              <a:t>modeling</a:t>
            </a:r>
            <a:endParaRPr sz="22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193040" algn="l"/>
              </a:tabLst>
            </a:pP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Focus</a:t>
            </a:r>
            <a:r>
              <a:rPr sz="22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on</a:t>
            </a:r>
            <a:r>
              <a:rPr sz="22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longitudinal</a:t>
            </a:r>
            <a:r>
              <a:rPr sz="22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001158"/>
                </a:solidFill>
                <a:latin typeface="Georgia"/>
                <a:cs typeface="Georgia"/>
              </a:rPr>
              <a:t>designs</a:t>
            </a:r>
            <a:endParaRPr sz="2200">
              <a:latin typeface="Georgia"/>
              <a:cs typeface="Georgia"/>
            </a:endParaRPr>
          </a:p>
          <a:p>
            <a:pPr marL="373380" lvl="1" indent="-179705">
              <a:lnSpc>
                <a:spcPct val="100000"/>
              </a:lnSpc>
              <a:spcBef>
                <a:spcPts val="1040"/>
              </a:spcBef>
              <a:buFont typeface="Arial"/>
              <a:buChar char="-"/>
              <a:tabLst>
                <a:tab pos="373380" algn="l"/>
              </a:tabLst>
            </a:pPr>
            <a:r>
              <a:rPr sz="1900" dirty="0">
                <a:solidFill>
                  <a:srgbClr val="001158"/>
                </a:solidFill>
                <a:latin typeface="Georgia"/>
                <a:cs typeface="Georgia"/>
              </a:rPr>
              <a:t>i.e.,</a:t>
            </a:r>
            <a:r>
              <a:rPr sz="19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900" dirty="0">
                <a:solidFill>
                  <a:srgbClr val="001158"/>
                </a:solidFill>
                <a:latin typeface="Georgia"/>
                <a:cs typeface="Georgia"/>
              </a:rPr>
              <a:t>repeated</a:t>
            </a:r>
            <a:r>
              <a:rPr sz="19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900" dirty="0">
                <a:solidFill>
                  <a:srgbClr val="001158"/>
                </a:solidFill>
                <a:latin typeface="Georgia"/>
                <a:cs typeface="Georgia"/>
              </a:rPr>
              <a:t>measures</a:t>
            </a:r>
            <a:r>
              <a:rPr sz="19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900" spc="-10" dirty="0">
                <a:solidFill>
                  <a:srgbClr val="001158"/>
                </a:solidFill>
                <a:latin typeface="Georgia"/>
                <a:cs typeface="Georgia"/>
              </a:rPr>
              <a:t>(time-</a:t>
            </a:r>
            <a:r>
              <a:rPr sz="1900" dirty="0">
                <a:solidFill>
                  <a:srgbClr val="001158"/>
                </a:solidFill>
                <a:latin typeface="Georgia"/>
                <a:cs typeface="Georgia"/>
              </a:rPr>
              <a:t>series)</a:t>
            </a:r>
            <a:r>
              <a:rPr sz="19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900" spc="-2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endParaRPr sz="1900">
              <a:latin typeface="Georgia"/>
              <a:cs typeface="Georgia"/>
            </a:endParaRPr>
          </a:p>
          <a:p>
            <a:pPr marL="192405" marR="53975" indent="-180340">
              <a:lnSpc>
                <a:spcPts val="2300"/>
              </a:lnSpc>
              <a:spcBef>
                <a:spcPts val="1285"/>
              </a:spcBef>
              <a:buFont typeface="Arial"/>
              <a:buChar char="•"/>
              <a:tabLst>
                <a:tab pos="193675" algn="l"/>
              </a:tabLst>
            </a:pP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Always</a:t>
            </a:r>
            <a:r>
              <a:rPr sz="22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includes</a:t>
            </a:r>
            <a:r>
              <a:rPr sz="22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Time</a:t>
            </a:r>
            <a:r>
              <a:rPr sz="22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(or</a:t>
            </a:r>
            <a:r>
              <a:rPr sz="22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another</a:t>
            </a:r>
            <a:r>
              <a:rPr sz="22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001158"/>
                </a:solidFill>
                <a:latin typeface="Georgia"/>
                <a:cs typeface="Georgia"/>
              </a:rPr>
              <a:t>relevant 	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continuous</a:t>
            </a:r>
            <a:r>
              <a:rPr sz="22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variable)</a:t>
            </a:r>
            <a:r>
              <a:rPr sz="22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as</a:t>
            </a:r>
            <a:r>
              <a:rPr sz="22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predictor</a:t>
            </a:r>
            <a:r>
              <a:rPr sz="22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F46E32"/>
                </a:solidFill>
                <a:latin typeface="Georgia"/>
                <a:cs typeface="Georgia"/>
              </a:rPr>
              <a:t>(“Growth”)</a:t>
            </a:r>
            <a:endParaRPr sz="2200">
              <a:latin typeface="Georgia"/>
              <a:cs typeface="Georgia"/>
            </a:endParaRPr>
          </a:p>
          <a:p>
            <a:pPr marL="192405" marR="5080" indent="-180340">
              <a:lnSpc>
                <a:spcPct val="120900"/>
              </a:lnSpc>
              <a:spcBef>
                <a:spcPts val="894"/>
              </a:spcBef>
              <a:buFont typeface="Arial"/>
              <a:buChar char="•"/>
              <a:tabLst>
                <a:tab pos="193675" algn="l"/>
              </a:tabLst>
            </a:pP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Use</a:t>
            </a:r>
            <a:r>
              <a:rPr sz="22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polynomial</a:t>
            </a:r>
            <a:r>
              <a:rPr sz="22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regression</a:t>
            </a:r>
            <a:r>
              <a:rPr sz="22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2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2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001158"/>
                </a:solidFill>
                <a:latin typeface="Georgia"/>
                <a:cs typeface="Georgia"/>
              </a:rPr>
              <a:t>different 	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patterns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change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over</a:t>
            </a:r>
            <a:r>
              <a:rPr sz="22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dirty="0">
                <a:solidFill>
                  <a:srgbClr val="001158"/>
                </a:solidFill>
                <a:latin typeface="Georgia"/>
                <a:cs typeface="Georgia"/>
              </a:rPr>
              <a:t>time</a:t>
            </a:r>
            <a:r>
              <a:rPr sz="22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200" spc="-10" dirty="0">
                <a:solidFill>
                  <a:srgbClr val="F46E32"/>
                </a:solidFill>
                <a:latin typeface="Georgia"/>
                <a:cs typeface="Georgia"/>
              </a:rPr>
              <a:t>(“Curve”)</a:t>
            </a:r>
            <a:endParaRPr sz="2200">
              <a:latin typeface="Georgia"/>
              <a:cs typeface="Georgia"/>
            </a:endParaRPr>
          </a:p>
          <a:p>
            <a:pPr marL="373380" lvl="1" indent="-179705">
              <a:lnSpc>
                <a:spcPct val="100000"/>
              </a:lnSpc>
              <a:spcBef>
                <a:spcPts val="1670"/>
              </a:spcBef>
              <a:buFont typeface="Arial"/>
              <a:buChar char="-"/>
              <a:tabLst>
                <a:tab pos="373380" algn="l"/>
              </a:tabLst>
            </a:pPr>
            <a:r>
              <a:rPr sz="1900" dirty="0">
                <a:solidFill>
                  <a:srgbClr val="001158"/>
                </a:solidFill>
                <a:latin typeface="Georgia"/>
                <a:cs typeface="Georgia"/>
              </a:rPr>
              <a:t>i.e.,</a:t>
            </a:r>
            <a:r>
              <a:rPr sz="19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900" dirty="0">
                <a:solidFill>
                  <a:srgbClr val="001158"/>
                </a:solidFill>
                <a:latin typeface="Georgia"/>
                <a:cs typeface="Georgia"/>
              </a:rPr>
              <a:t>raising</a:t>
            </a:r>
            <a:r>
              <a:rPr sz="19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900" dirty="0">
                <a:solidFill>
                  <a:srgbClr val="001158"/>
                </a:solidFill>
                <a:latin typeface="Georgia"/>
                <a:cs typeface="Georgia"/>
              </a:rPr>
              <a:t>time</a:t>
            </a:r>
            <a:r>
              <a:rPr sz="19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9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19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900" dirty="0">
                <a:solidFill>
                  <a:srgbClr val="001158"/>
                </a:solidFill>
                <a:latin typeface="Georgia"/>
                <a:cs typeface="Georgia"/>
              </a:rPr>
              <a:t>different</a:t>
            </a:r>
            <a:r>
              <a:rPr sz="19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900" spc="-10" dirty="0">
                <a:solidFill>
                  <a:srgbClr val="001158"/>
                </a:solidFill>
                <a:latin typeface="Georgia"/>
                <a:cs typeface="Georgia"/>
              </a:rPr>
              <a:t>polynomials</a:t>
            </a:r>
            <a:endParaRPr sz="19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02520" y="915924"/>
            <a:ext cx="5916295" cy="116586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45"/>
              </a:spcBef>
            </a:pPr>
            <a:r>
              <a:rPr sz="3200" dirty="0">
                <a:latin typeface="Georgia"/>
                <a:cs typeface="Georgia"/>
              </a:rPr>
              <a:t>Y</a:t>
            </a:r>
            <a:r>
              <a:rPr sz="3150" i="1" baseline="-18518" dirty="0">
                <a:latin typeface="Georgia"/>
                <a:cs typeface="Georgia"/>
              </a:rPr>
              <a:t>si</a:t>
            </a:r>
            <a:r>
              <a:rPr sz="3150" i="1" spc="375" baseline="-1851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=</a:t>
            </a:r>
            <a:r>
              <a:rPr sz="3200" spc="-25" dirty="0">
                <a:latin typeface="Georgia"/>
                <a:cs typeface="Georgia"/>
              </a:rPr>
              <a:t> </a:t>
            </a:r>
            <a:r>
              <a:rPr sz="3200" i="1" dirty="0">
                <a:latin typeface="Georgia"/>
                <a:cs typeface="Georgia"/>
              </a:rPr>
              <a:t>b</a:t>
            </a:r>
            <a:r>
              <a:rPr sz="3150" baseline="-18518" dirty="0">
                <a:latin typeface="Georgia"/>
                <a:cs typeface="Georgia"/>
              </a:rPr>
              <a:t>0s</a:t>
            </a:r>
            <a:r>
              <a:rPr sz="3150" spc="390" baseline="-18518" dirty="0">
                <a:latin typeface="Georgia"/>
                <a:cs typeface="Georgia"/>
              </a:rPr>
              <a:t> </a:t>
            </a:r>
            <a:r>
              <a:rPr sz="3200" dirty="0">
                <a:solidFill>
                  <a:srgbClr val="FF0000"/>
                </a:solidFill>
                <a:latin typeface="Georgia"/>
                <a:cs typeface="Georgia"/>
              </a:rPr>
              <a:t>+</a:t>
            </a:r>
            <a:r>
              <a:rPr sz="3200" spc="-2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200" i="1" dirty="0">
                <a:solidFill>
                  <a:srgbClr val="FF0000"/>
                </a:solidFill>
                <a:latin typeface="Georgia"/>
                <a:cs typeface="Georgia"/>
              </a:rPr>
              <a:t>b</a:t>
            </a:r>
            <a:r>
              <a:rPr sz="3150" baseline="-18518" dirty="0">
                <a:solidFill>
                  <a:srgbClr val="FF0000"/>
                </a:solidFill>
                <a:latin typeface="Georgia"/>
                <a:cs typeface="Georgia"/>
              </a:rPr>
              <a:t>1s</a:t>
            </a:r>
            <a:r>
              <a:rPr sz="3200" dirty="0">
                <a:solidFill>
                  <a:srgbClr val="FF0000"/>
                </a:solidFill>
                <a:latin typeface="Georgia"/>
                <a:cs typeface="Georgia"/>
              </a:rPr>
              <a:t>Time</a:t>
            </a:r>
            <a:r>
              <a:rPr sz="3150" i="1" baseline="-18518" dirty="0">
                <a:solidFill>
                  <a:srgbClr val="FF0000"/>
                </a:solidFill>
                <a:latin typeface="Georgia"/>
                <a:cs typeface="Georgia"/>
              </a:rPr>
              <a:t>i</a:t>
            </a:r>
            <a:r>
              <a:rPr sz="3150" i="1" spc="382" baseline="-18518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+</a:t>
            </a:r>
            <a:r>
              <a:rPr sz="3200" spc="-25" dirty="0">
                <a:latin typeface="Georgia"/>
                <a:cs typeface="Georgia"/>
              </a:rPr>
              <a:t> </a:t>
            </a:r>
            <a:r>
              <a:rPr sz="3200" i="1" dirty="0">
                <a:latin typeface="Georgia"/>
                <a:cs typeface="Georgia"/>
              </a:rPr>
              <a:t>b</a:t>
            </a:r>
            <a:r>
              <a:rPr sz="3150" baseline="-18518" dirty="0">
                <a:latin typeface="Georgia"/>
                <a:cs typeface="Georgia"/>
              </a:rPr>
              <a:t>2s</a:t>
            </a:r>
            <a:r>
              <a:rPr sz="3200" i="1" dirty="0">
                <a:latin typeface="Georgia"/>
                <a:cs typeface="Georgia"/>
              </a:rPr>
              <a:t>X</a:t>
            </a:r>
            <a:r>
              <a:rPr sz="3150" i="1" baseline="-18518" dirty="0">
                <a:latin typeface="Georgia"/>
                <a:cs typeface="Georgia"/>
              </a:rPr>
              <a:t>i</a:t>
            </a:r>
            <a:r>
              <a:rPr sz="3150" i="1" spc="367" baseline="-1851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+…</a:t>
            </a:r>
            <a:r>
              <a:rPr sz="3200" spc="-25" dirty="0">
                <a:latin typeface="Georgia"/>
                <a:cs typeface="Georgia"/>
              </a:rPr>
              <a:t> </a:t>
            </a:r>
            <a:r>
              <a:rPr sz="3200" i="1" spc="-25" dirty="0">
                <a:latin typeface="Georgia"/>
                <a:cs typeface="Georgia"/>
              </a:rPr>
              <a:t>ε</a:t>
            </a:r>
            <a:r>
              <a:rPr sz="3150" i="1" spc="-37" baseline="-18518" dirty="0">
                <a:latin typeface="Georgia"/>
                <a:cs typeface="Georgia"/>
              </a:rPr>
              <a:t>si</a:t>
            </a:r>
            <a:endParaRPr sz="3150" baseline="-18518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650"/>
              </a:spcBef>
              <a:tabLst>
                <a:tab pos="2499995" algn="l"/>
              </a:tabLst>
            </a:pPr>
            <a:r>
              <a:rPr sz="4800" i="1" baseline="12152" dirty="0">
                <a:latin typeface="Georgia"/>
                <a:cs typeface="Georgia"/>
              </a:rPr>
              <a:t>b</a:t>
            </a:r>
            <a:r>
              <a:rPr sz="2100" dirty="0">
                <a:latin typeface="Georgia"/>
                <a:cs typeface="Georgia"/>
              </a:rPr>
              <a:t>0s</a:t>
            </a:r>
            <a:r>
              <a:rPr sz="2100" spc="270" dirty="0">
                <a:latin typeface="Georgia"/>
                <a:cs typeface="Georgia"/>
              </a:rPr>
              <a:t> </a:t>
            </a:r>
            <a:r>
              <a:rPr sz="4800" baseline="12152" dirty="0">
                <a:latin typeface="Georgia"/>
                <a:cs typeface="Georgia"/>
              </a:rPr>
              <a:t>=</a:t>
            </a:r>
            <a:r>
              <a:rPr sz="4800" spc="-22" baseline="12152" dirty="0">
                <a:latin typeface="Georgia"/>
                <a:cs typeface="Georgia"/>
              </a:rPr>
              <a:t> </a:t>
            </a:r>
            <a:r>
              <a:rPr sz="4800" i="1" baseline="12152" dirty="0">
                <a:latin typeface="Georgia"/>
                <a:cs typeface="Georgia"/>
              </a:rPr>
              <a:t>b</a:t>
            </a:r>
            <a:r>
              <a:rPr sz="2100" dirty="0">
                <a:latin typeface="Georgia"/>
                <a:cs typeface="Georgia"/>
              </a:rPr>
              <a:t>0</a:t>
            </a:r>
            <a:r>
              <a:rPr sz="2100" spc="275" dirty="0">
                <a:latin typeface="Georgia"/>
                <a:cs typeface="Georgia"/>
              </a:rPr>
              <a:t> </a:t>
            </a:r>
            <a:r>
              <a:rPr sz="4800" baseline="12152" dirty="0">
                <a:latin typeface="Georgia"/>
                <a:cs typeface="Georgia"/>
              </a:rPr>
              <a:t>+</a:t>
            </a:r>
            <a:r>
              <a:rPr sz="4800" spc="-22" baseline="12152" dirty="0">
                <a:latin typeface="Georgia"/>
                <a:cs typeface="Georgia"/>
              </a:rPr>
              <a:t> </a:t>
            </a:r>
            <a:r>
              <a:rPr sz="4800" i="1" spc="-37" baseline="12152" dirty="0">
                <a:latin typeface="Georgia"/>
                <a:cs typeface="Georgia"/>
              </a:rPr>
              <a:t>S</a:t>
            </a:r>
            <a:r>
              <a:rPr sz="2100" i="1" spc="-25" dirty="0">
                <a:latin typeface="Georgia"/>
                <a:cs typeface="Georgia"/>
              </a:rPr>
              <a:t>0s</a:t>
            </a:r>
            <a:r>
              <a:rPr sz="2100" i="1" dirty="0">
                <a:latin typeface="Georgia"/>
                <a:cs typeface="Georgia"/>
              </a:rPr>
              <a:t>	</a:t>
            </a:r>
            <a:r>
              <a:rPr sz="2100" i="1" dirty="0">
                <a:solidFill>
                  <a:srgbClr val="0070C0"/>
                </a:solidFill>
                <a:latin typeface="Georgia"/>
                <a:cs typeface="Georgia"/>
              </a:rPr>
              <a:t>Random</a:t>
            </a:r>
            <a:r>
              <a:rPr sz="2100" i="1" spc="100" dirty="0">
                <a:solidFill>
                  <a:srgbClr val="0070C0"/>
                </a:solidFill>
                <a:latin typeface="Georgia"/>
                <a:cs typeface="Georgia"/>
              </a:rPr>
              <a:t> </a:t>
            </a:r>
            <a:r>
              <a:rPr sz="2100" i="1" spc="-10" dirty="0">
                <a:solidFill>
                  <a:srgbClr val="0070C0"/>
                </a:solidFill>
                <a:latin typeface="Georgia"/>
                <a:cs typeface="Georgia"/>
              </a:rPr>
              <a:t>Intercept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02520" y="1976628"/>
            <a:ext cx="239014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latin typeface="Georgia"/>
                <a:cs typeface="Georgia"/>
              </a:rPr>
              <a:t>b</a:t>
            </a:r>
            <a:r>
              <a:rPr sz="3150" i="1" baseline="-18518" dirty="0">
                <a:latin typeface="Georgia"/>
                <a:cs typeface="Georgia"/>
              </a:rPr>
              <a:t>ns</a:t>
            </a:r>
            <a:r>
              <a:rPr sz="3150" i="1" spc="412" baseline="-1851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=</a:t>
            </a:r>
            <a:r>
              <a:rPr sz="3200" spc="-10" dirty="0">
                <a:latin typeface="Georgia"/>
                <a:cs typeface="Georgia"/>
              </a:rPr>
              <a:t> </a:t>
            </a:r>
            <a:r>
              <a:rPr sz="3200" i="1" dirty="0">
                <a:latin typeface="Georgia"/>
                <a:cs typeface="Georgia"/>
              </a:rPr>
              <a:t>b</a:t>
            </a:r>
            <a:r>
              <a:rPr sz="3150" baseline="-18518" dirty="0">
                <a:latin typeface="Georgia"/>
                <a:cs typeface="Georgia"/>
              </a:rPr>
              <a:t>n</a:t>
            </a:r>
            <a:r>
              <a:rPr sz="3150" spc="412" baseline="-1851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+</a:t>
            </a:r>
            <a:r>
              <a:rPr sz="3200" spc="-10" dirty="0">
                <a:latin typeface="Georgia"/>
                <a:cs typeface="Georgia"/>
              </a:rPr>
              <a:t> </a:t>
            </a:r>
            <a:r>
              <a:rPr sz="3200" i="1" spc="-25" dirty="0">
                <a:latin typeface="Georgia"/>
                <a:cs typeface="Georgia"/>
              </a:rPr>
              <a:t>S</a:t>
            </a:r>
            <a:r>
              <a:rPr sz="3150" i="1" spc="-37" baseline="-18518" dirty="0">
                <a:latin typeface="Georgia"/>
                <a:cs typeface="Georgia"/>
              </a:rPr>
              <a:t>ns</a:t>
            </a:r>
            <a:endParaRPr sz="3150" baseline="-18518">
              <a:latin typeface="Georgia"/>
              <a:cs typeface="Georg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36220" y="2204720"/>
            <a:ext cx="191388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i="1" dirty="0">
                <a:solidFill>
                  <a:srgbClr val="0070C0"/>
                </a:solidFill>
                <a:latin typeface="Georgia"/>
                <a:cs typeface="Georgia"/>
              </a:rPr>
              <a:t>Random</a:t>
            </a:r>
            <a:r>
              <a:rPr sz="2100" i="1" spc="100" dirty="0">
                <a:solidFill>
                  <a:srgbClr val="0070C0"/>
                </a:solidFill>
                <a:latin typeface="Georgia"/>
                <a:cs typeface="Georgia"/>
              </a:rPr>
              <a:t> </a:t>
            </a:r>
            <a:r>
              <a:rPr sz="2100" i="1" spc="-10" dirty="0">
                <a:solidFill>
                  <a:srgbClr val="0070C0"/>
                </a:solidFill>
                <a:latin typeface="Georgia"/>
                <a:cs typeface="Georgia"/>
              </a:rPr>
              <a:t>Slopes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7826" y="3033267"/>
            <a:ext cx="4624705" cy="295465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92405" marR="32384" indent="-180340">
              <a:lnSpc>
                <a:spcPts val="3000"/>
              </a:lnSpc>
              <a:spcBef>
                <a:spcPts val="500"/>
              </a:spcBef>
              <a:buFont typeface="Arial"/>
              <a:buChar char="•"/>
              <a:tabLst>
                <a:tab pos="19367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Used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hierarchical/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nested/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clustered</a:t>
            </a:r>
            <a:r>
              <a:rPr sz="28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endParaRPr sz="2800">
              <a:latin typeface="Georgia"/>
              <a:cs typeface="Georgia"/>
            </a:endParaRPr>
          </a:p>
          <a:p>
            <a:pPr marL="374650" marR="414655" indent="-181610">
              <a:lnSpc>
                <a:spcPts val="2620"/>
              </a:lnSpc>
              <a:spcBef>
                <a:spcPts val="1190"/>
              </a:spcBef>
            </a:pPr>
            <a:r>
              <a:rPr sz="2400" dirty="0">
                <a:solidFill>
                  <a:srgbClr val="001158"/>
                </a:solidFill>
                <a:latin typeface="Arial"/>
                <a:cs typeface="Arial"/>
              </a:rPr>
              <a:t>-</a:t>
            </a:r>
            <a:r>
              <a:rPr sz="2400" spc="-90" dirty="0">
                <a:solidFill>
                  <a:srgbClr val="001158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Groups,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cohorts,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schools,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organizations,</a:t>
            </a:r>
            <a:r>
              <a:rPr sz="2400" spc="-1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hospitals,</a:t>
            </a:r>
            <a:r>
              <a:rPr sz="2400" spc="-1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001158"/>
                </a:solidFill>
                <a:latin typeface="Georgia"/>
                <a:cs typeface="Georgia"/>
              </a:rPr>
              <a:t>etc.</a:t>
            </a:r>
            <a:endParaRPr sz="2400">
              <a:latin typeface="Georgia"/>
              <a:cs typeface="Georgia"/>
            </a:endParaRPr>
          </a:p>
          <a:p>
            <a:pPr marL="192405" marR="5080" indent="-180340">
              <a:lnSpc>
                <a:spcPct val="90700"/>
              </a:lnSpc>
              <a:spcBef>
                <a:spcPts val="1090"/>
              </a:spcBef>
              <a:buFont typeface="Arial"/>
              <a:buChar char="•"/>
              <a:tabLst>
                <a:tab pos="193675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We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include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fixed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and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predict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an 	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outcome</a:t>
            </a:r>
            <a:r>
              <a:rPr sz="2800" spc="-1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endParaRPr sz="28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3866" y="986027"/>
            <a:ext cx="4765040" cy="117157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70"/>
              </a:spcBef>
              <a:tabLst>
                <a:tab pos="3727450" algn="l"/>
              </a:tabLst>
            </a:pPr>
            <a:r>
              <a:rPr sz="3200" dirty="0">
                <a:latin typeface="Georgia"/>
                <a:cs typeface="Georgia"/>
              </a:rPr>
              <a:t>Y</a:t>
            </a:r>
            <a:r>
              <a:rPr sz="3150" i="1" baseline="-18518" dirty="0">
                <a:latin typeface="Georgia"/>
                <a:cs typeface="Georgia"/>
              </a:rPr>
              <a:t>si</a:t>
            </a:r>
            <a:r>
              <a:rPr sz="3150" i="1" spc="390" baseline="-1851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=</a:t>
            </a:r>
            <a:r>
              <a:rPr sz="3200" spc="-15" dirty="0">
                <a:latin typeface="Georgia"/>
                <a:cs typeface="Georgia"/>
              </a:rPr>
              <a:t> </a:t>
            </a:r>
            <a:r>
              <a:rPr sz="3200" i="1" dirty="0">
                <a:latin typeface="Georgia"/>
                <a:cs typeface="Georgia"/>
              </a:rPr>
              <a:t>b</a:t>
            </a:r>
            <a:r>
              <a:rPr sz="3150" baseline="-18518" dirty="0">
                <a:latin typeface="Georgia"/>
                <a:cs typeface="Georgia"/>
              </a:rPr>
              <a:t>0s</a:t>
            </a:r>
            <a:r>
              <a:rPr sz="3150" spc="405" baseline="-1851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+</a:t>
            </a:r>
            <a:r>
              <a:rPr sz="3200" spc="-15" dirty="0">
                <a:latin typeface="Georgia"/>
                <a:cs typeface="Georgia"/>
              </a:rPr>
              <a:t> </a:t>
            </a:r>
            <a:r>
              <a:rPr sz="3200" i="1" dirty="0">
                <a:latin typeface="Georgia"/>
                <a:cs typeface="Georgia"/>
              </a:rPr>
              <a:t>b</a:t>
            </a:r>
            <a:r>
              <a:rPr sz="3150" baseline="-18518" dirty="0">
                <a:latin typeface="Georgia"/>
                <a:cs typeface="Georgia"/>
              </a:rPr>
              <a:t>1s</a:t>
            </a:r>
            <a:r>
              <a:rPr sz="3200" i="1" dirty="0">
                <a:latin typeface="Georgia"/>
                <a:cs typeface="Georgia"/>
              </a:rPr>
              <a:t>X</a:t>
            </a:r>
            <a:r>
              <a:rPr sz="3150" i="1" baseline="-18518" dirty="0">
                <a:latin typeface="Georgia"/>
                <a:cs typeface="Georgia"/>
              </a:rPr>
              <a:t>i</a:t>
            </a:r>
            <a:r>
              <a:rPr sz="3150" i="1" spc="390" baseline="-1851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+</a:t>
            </a:r>
            <a:r>
              <a:rPr sz="3200" spc="-15" dirty="0">
                <a:latin typeface="Georgia"/>
                <a:cs typeface="Georgia"/>
              </a:rPr>
              <a:t> </a:t>
            </a:r>
            <a:r>
              <a:rPr sz="3200" spc="-60" dirty="0">
                <a:latin typeface="Georgia"/>
                <a:cs typeface="Georgia"/>
              </a:rPr>
              <a:t>…</a:t>
            </a:r>
            <a:r>
              <a:rPr sz="3200" dirty="0">
                <a:latin typeface="Georgia"/>
                <a:cs typeface="Georgia"/>
              </a:rPr>
              <a:t>	</a:t>
            </a:r>
            <a:r>
              <a:rPr sz="3200" i="1" spc="-25" dirty="0">
                <a:latin typeface="Georgia"/>
                <a:cs typeface="Georgia"/>
              </a:rPr>
              <a:t>ε</a:t>
            </a:r>
            <a:r>
              <a:rPr sz="3150" i="1" spc="-37" baseline="-18518" dirty="0">
                <a:latin typeface="Georgia"/>
                <a:cs typeface="Georgia"/>
              </a:rPr>
              <a:t>si</a:t>
            </a:r>
            <a:endParaRPr sz="3150" baseline="-18518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  <a:spcBef>
                <a:spcPts val="675"/>
              </a:spcBef>
              <a:tabLst>
                <a:tab pos="2499995" algn="l"/>
              </a:tabLst>
            </a:pPr>
            <a:r>
              <a:rPr sz="4800" i="1" baseline="12152" dirty="0">
                <a:latin typeface="Georgia"/>
                <a:cs typeface="Georgia"/>
              </a:rPr>
              <a:t>b</a:t>
            </a:r>
            <a:r>
              <a:rPr sz="2100" dirty="0">
                <a:latin typeface="Georgia"/>
                <a:cs typeface="Georgia"/>
              </a:rPr>
              <a:t>0s</a:t>
            </a:r>
            <a:r>
              <a:rPr sz="2100" spc="270" dirty="0">
                <a:latin typeface="Georgia"/>
                <a:cs typeface="Georgia"/>
              </a:rPr>
              <a:t> </a:t>
            </a:r>
            <a:r>
              <a:rPr sz="4800" baseline="12152" dirty="0">
                <a:latin typeface="Georgia"/>
                <a:cs typeface="Georgia"/>
              </a:rPr>
              <a:t>=</a:t>
            </a:r>
            <a:r>
              <a:rPr sz="4800" spc="-22" baseline="12152" dirty="0">
                <a:latin typeface="Georgia"/>
                <a:cs typeface="Georgia"/>
              </a:rPr>
              <a:t> </a:t>
            </a:r>
            <a:r>
              <a:rPr sz="4800" i="1" baseline="12152" dirty="0">
                <a:latin typeface="Georgia"/>
                <a:cs typeface="Georgia"/>
              </a:rPr>
              <a:t>b</a:t>
            </a:r>
            <a:r>
              <a:rPr sz="2100" dirty="0">
                <a:latin typeface="Georgia"/>
                <a:cs typeface="Georgia"/>
              </a:rPr>
              <a:t>0</a:t>
            </a:r>
            <a:r>
              <a:rPr sz="2100" spc="275" dirty="0">
                <a:latin typeface="Georgia"/>
                <a:cs typeface="Georgia"/>
              </a:rPr>
              <a:t> </a:t>
            </a:r>
            <a:r>
              <a:rPr sz="4800" baseline="12152" dirty="0">
                <a:latin typeface="Georgia"/>
                <a:cs typeface="Georgia"/>
              </a:rPr>
              <a:t>+</a:t>
            </a:r>
            <a:r>
              <a:rPr sz="4800" spc="-22" baseline="12152" dirty="0">
                <a:latin typeface="Georgia"/>
                <a:cs typeface="Georgia"/>
              </a:rPr>
              <a:t> </a:t>
            </a:r>
            <a:r>
              <a:rPr sz="4800" i="1" spc="-37" baseline="12152" dirty="0">
                <a:latin typeface="Georgia"/>
                <a:cs typeface="Georgia"/>
              </a:rPr>
              <a:t>S</a:t>
            </a:r>
            <a:r>
              <a:rPr sz="2100" i="1" spc="-25" dirty="0">
                <a:latin typeface="Georgia"/>
                <a:cs typeface="Georgia"/>
              </a:rPr>
              <a:t>0s</a:t>
            </a:r>
            <a:r>
              <a:rPr sz="2100" i="1" dirty="0">
                <a:latin typeface="Georgia"/>
                <a:cs typeface="Georgia"/>
              </a:rPr>
              <a:t>	</a:t>
            </a:r>
            <a:r>
              <a:rPr sz="2100" i="1" dirty="0">
                <a:solidFill>
                  <a:srgbClr val="0070C0"/>
                </a:solidFill>
                <a:latin typeface="Georgia"/>
                <a:cs typeface="Georgia"/>
              </a:rPr>
              <a:t>Random</a:t>
            </a:r>
            <a:r>
              <a:rPr sz="2100" i="1" spc="100" dirty="0">
                <a:solidFill>
                  <a:srgbClr val="0070C0"/>
                </a:solidFill>
                <a:latin typeface="Georgia"/>
                <a:cs typeface="Georgia"/>
              </a:rPr>
              <a:t> </a:t>
            </a:r>
            <a:r>
              <a:rPr sz="2100" i="1" spc="-10" dirty="0">
                <a:solidFill>
                  <a:srgbClr val="0070C0"/>
                </a:solidFill>
                <a:latin typeface="Georgia"/>
                <a:cs typeface="Georgia"/>
              </a:rPr>
              <a:t>Intercept</a:t>
            </a:r>
            <a:endParaRPr sz="21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3866" y="2049779"/>
            <a:ext cx="221678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200" i="1" dirty="0">
                <a:latin typeface="Georgia"/>
                <a:cs typeface="Georgia"/>
              </a:rPr>
              <a:t>b</a:t>
            </a:r>
            <a:r>
              <a:rPr sz="3150" baseline="-18518" dirty="0">
                <a:latin typeface="Georgia"/>
                <a:cs typeface="Georgia"/>
              </a:rPr>
              <a:t>1</a:t>
            </a:r>
            <a:r>
              <a:rPr sz="3150" i="1" baseline="-18518" dirty="0">
                <a:latin typeface="Georgia"/>
                <a:cs typeface="Georgia"/>
              </a:rPr>
              <a:t>j</a:t>
            </a:r>
            <a:r>
              <a:rPr sz="3150" i="1" spc="390" baseline="-1851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=</a:t>
            </a:r>
            <a:r>
              <a:rPr sz="3200" spc="-15" dirty="0">
                <a:latin typeface="Georgia"/>
                <a:cs typeface="Georgia"/>
              </a:rPr>
              <a:t> </a:t>
            </a:r>
            <a:r>
              <a:rPr sz="3200" i="1" dirty="0">
                <a:latin typeface="Georgia"/>
                <a:cs typeface="Georgia"/>
              </a:rPr>
              <a:t>b</a:t>
            </a:r>
            <a:r>
              <a:rPr sz="3150" baseline="-18518" dirty="0">
                <a:latin typeface="Georgia"/>
                <a:cs typeface="Georgia"/>
              </a:rPr>
              <a:t>1</a:t>
            </a:r>
            <a:r>
              <a:rPr sz="3150" spc="397" baseline="-18518" dirty="0">
                <a:latin typeface="Georgia"/>
                <a:cs typeface="Georgia"/>
              </a:rPr>
              <a:t> </a:t>
            </a:r>
            <a:r>
              <a:rPr sz="3200" dirty="0">
                <a:latin typeface="Georgia"/>
                <a:cs typeface="Georgia"/>
              </a:rPr>
              <a:t>+</a:t>
            </a:r>
            <a:r>
              <a:rPr sz="3200" spc="-15" dirty="0">
                <a:latin typeface="Georgia"/>
                <a:cs typeface="Georgia"/>
              </a:rPr>
              <a:t> </a:t>
            </a:r>
            <a:r>
              <a:rPr sz="3200" i="1" spc="-25" dirty="0">
                <a:latin typeface="Georgia"/>
                <a:cs typeface="Georgia"/>
              </a:rPr>
              <a:t>S</a:t>
            </a:r>
            <a:r>
              <a:rPr sz="3150" i="1" spc="-37" baseline="-18518" dirty="0">
                <a:latin typeface="Georgia"/>
                <a:cs typeface="Georgia"/>
              </a:rPr>
              <a:t>1s</a:t>
            </a:r>
            <a:endParaRPr sz="3150" baseline="-18518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76037" y="2277871"/>
            <a:ext cx="191388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i="1" dirty="0">
                <a:solidFill>
                  <a:srgbClr val="0070C0"/>
                </a:solidFill>
                <a:latin typeface="Georgia"/>
                <a:cs typeface="Georgia"/>
              </a:rPr>
              <a:t>Random</a:t>
            </a:r>
            <a:r>
              <a:rPr sz="2100" i="1" spc="100" dirty="0">
                <a:solidFill>
                  <a:srgbClr val="0070C0"/>
                </a:solidFill>
                <a:latin typeface="Georgia"/>
                <a:cs typeface="Georgia"/>
              </a:rPr>
              <a:t> </a:t>
            </a:r>
            <a:r>
              <a:rPr sz="2100" i="1" spc="-10" dirty="0">
                <a:solidFill>
                  <a:srgbClr val="0070C0"/>
                </a:solidFill>
                <a:latin typeface="Georgia"/>
                <a:cs typeface="Georgia"/>
              </a:rPr>
              <a:t>Slopes</a:t>
            </a:r>
            <a:endParaRPr sz="2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21460" y="515619"/>
            <a:ext cx="96475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When</a:t>
            </a:r>
            <a:r>
              <a:rPr spc="-6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use</a:t>
            </a:r>
            <a:r>
              <a:rPr spc="-65" dirty="0"/>
              <a:t> </a:t>
            </a:r>
            <a:r>
              <a:rPr dirty="0"/>
              <a:t>Growth</a:t>
            </a:r>
            <a:r>
              <a:rPr spc="-55" dirty="0"/>
              <a:t> </a:t>
            </a:r>
            <a:r>
              <a:rPr dirty="0"/>
              <a:t>Curve</a:t>
            </a:r>
            <a:r>
              <a:rPr spc="-65" dirty="0"/>
              <a:t> </a:t>
            </a:r>
            <a:r>
              <a:rPr spc="-10" dirty="0"/>
              <a:t>Modeling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7899" y="1714217"/>
            <a:ext cx="4687175" cy="429657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82916" y="1684014"/>
            <a:ext cx="4693590" cy="44048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10987" y="6101588"/>
            <a:ext cx="2931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Figures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Mirman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(2014)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>
              <a:lnSpc>
                <a:spcPct val="100000"/>
              </a:lnSpc>
            </a:pPr>
            <a:r>
              <a:rPr spc="-50" dirty="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Process</a:t>
            </a:r>
            <a:r>
              <a:rPr spc="-75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building</a:t>
            </a:r>
            <a:r>
              <a:rPr spc="-70" dirty="0"/>
              <a:t> </a:t>
            </a:r>
            <a:r>
              <a:rPr dirty="0"/>
              <a:t>growth</a:t>
            </a:r>
            <a:r>
              <a:rPr spc="-65" dirty="0"/>
              <a:t> </a:t>
            </a:r>
            <a:r>
              <a:rPr dirty="0"/>
              <a:t>curve</a:t>
            </a:r>
            <a:r>
              <a:rPr spc="-75" dirty="0"/>
              <a:t> </a:t>
            </a:r>
            <a:r>
              <a:rPr spc="-10" dirty="0"/>
              <a:t>models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725">
              <a:lnSpc>
                <a:spcPct val="100000"/>
              </a:lnSpc>
            </a:pPr>
            <a:r>
              <a:rPr spc="-50" dirty="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962" y="1042585"/>
            <a:ext cx="11087735" cy="489077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844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Base</a:t>
            </a:r>
            <a:r>
              <a:rPr sz="28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(unconditional)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typically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only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includes:</a:t>
            </a:r>
            <a:endParaRPr sz="2800">
              <a:latin typeface="Georgia"/>
              <a:cs typeface="Georgia"/>
            </a:endParaRPr>
          </a:p>
          <a:p>
            <a:pPr marL="372745" lvl="1" indent="-179705">
              <a:lnSpc>
                <a:spcPct val="100000"/>
              </a:lnSpc>
              <a:spcBef>
                <a:spcPts val="640"/>
              </a:spcBef>
              <a:buFont typeface="Arial"/>
              <a:buChar char="-"/>
              <a:tabLst>
                <a:tab pos="37274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Outcome,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time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intercepts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subjects</a:t>
            </a:r>
            <a:endParaRPr sz="2400">
              <a:latin typeface="Georgia"/>
              <a:cs typeface="Georgia"/>
            </a:endParaRPr>
          </a:p>
          <a:p>
            <a:pPr marL="193040" indent="-180340">
              <a:lnSpc>
                <a:spcPct val="100000"/>
              </a:lnSpc>
              <a:spcBef>
                <a:spcPts val="535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Next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steps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could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include:</a:t>
            </a:r>
            <a:endParaRPr sz="2800">
              <a:latin typeface="Georgia"/>
              <a:cs typeface="Georgia"/>
            </a:endParaRPr>
          </a:p>
          <a:p>
            <a:pPr marL="372745" lvl="1" indent="-179705">
              <a:lnSpc>
                <a:spcPct val="100000"/>
              </a:lnSpc>
              <a:spcBef>
                <a:spcPts val="640"/>
              </a:spcBef>
              <a:buFont typeface="Arial"/>
              <a:buChar char="-"/>
              <a:tabLst>
                <a:tab pos="37274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adding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polynomials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time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(unconditional)</a:t>
            </a:r>
            <a:endParaRPr sz="2400">
              <a:latin typeface="Georgia"/>
              <a:cs typeface="Georgia"/>
            </a:endParaRPr>
          </a:p>
          <a:p>
            <a:pPr marL="372745" lvl="1" indent="-179705">
              <a:lnSpc>
                <a:spcPct val="100000"/>
              </a:lnSpc>
              <a:spcBef>
                <a:spcPts val="625"/>
              </a:spcBef>
              <a:buFont typeface="Arial"/>
              <a:buChar char="-"/>
              <a:tabLst>
                <a:tab pos="37274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adding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interest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(conditional)</a:t>
            </a:r>
            <a:endParaRPr sz="2400">
              <a:latin typeface="Georgia"/>
              <a:cs typeface="Georgia"/>
            </a:endParaRPr>
          </a:p>
          <a:p>
            <a:pPr marL="372745" lvl="1" indent="-179705">
              <a:lnSpc>
                <a:spcPct val="100000"/>
              </a:lnSpc>
              <a:spcBef>
                <a:spcPts val="600"/>
              </a:spcBef>
              <a:buFont typeface="Arial"/>
              <a:buChar char="-"/>
              <a:tabLst>
                <a:tab pos="37274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adding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interaction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001158"/>
                </a:solidFill>
                <a:latin typeface="Georgia"/>
                <a:cs typeface="Georgia"/>
              </a:rPr>
              <a:t>term</a:t>
            </a:r>
            <a:endParaRPr sz="2400">
              <a:latin typeface="Georgia"/>
              <a:cs typeface="Georgia"/>
            </a:endParaRPr>
          </a:p>
          <a:p>
            <a:pPr marL="372745" lvl="1" indent="-179705">
              <a:lnSpc>
                <a:spcPct val="100000"/>
              </a:lnSpc>
              <a:spcBef>
                <a:spcPts val="625"/>
              </a:spcBef>
              <a:buFont typeface="Arial"/>
              <a:buChar char="-"/>
              <a:tabLst>
                <a:tab pos="37274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adding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slopes</a:t>
            </a:r>
            <a:endParaRPr sz="2400">
              <a:latin typeface="Georgia"/>
              <a:cs typeface="Georgia"/>
            </a:endParaRPr>
          </a:p>
          <a:p>
            <a:pPr marL="372745" lvl="1" indent="-179705">
              <a:lnSpc>
                <a:spcPct val="100000"/>
              </a:lnSpc>
              <a:spcBef>
                <a:spcPts val="625"/>
              </a:spcBef>
              <a:buFont typeface="Arial"/>
              <a:buChar char="-"/>
              <a:tabLst>
                <a:tab pos="37274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…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so</a:t>
            </a:r>
            <a:r>
              <a:rPr sz="24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on.</a:t>
            </a:r>
            <a:endParaRPr sz="2400">
              <a:latin typeface="Georgia"/>
              <a:cs typeface="Georgia"/>
            </a:endParaRPr>
          </a:p>
          <a:p>
            <a:pPr marL="193040" marR="5080" indent="-180975">
              <a:lnSpc>
                <a:spcPct val="80400"/>
              </a:lnSpc>
              <a:spcBef>
                <a:spcPts val="117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Including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fixed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and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interaction</a:t>
            </a:r>
            <a:r>
              <a:rPr sz="28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terms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captures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(conditional)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interest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on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how</a:t>
            </a:r>
            <a:r>
              <a:rPr sz="28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dependent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changes</a:t>
            </a:r>
            <a:r>
              <a:rPr sz="28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0" dirty="0">
                <a:solidFill>
                  <a:srgbClr val="001158"/>
                </a:solidFill>
                <a:latin typeface="Georgia"/>
                <a:cs typeface="Georgia"/>
              </a:rPr>
              <a:t>over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time.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4EDA6-4736-4F36-5257-6525D37E6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62" y="319532"/>
            <a:ext cx="11420774" cy="615553"/>
          </a:xfrm>
        </p:spPr>
        <p:txBody>
          <a:bodyPr/>
          <a:lstStyle/>
          <a:p>
            <a:r>
              <a:rPr lang="en-US" b="0" dirty="0"/>
              <a:t>Exercise 1: Run a series of growth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4D2AC-93DC-0C3F-15C8-4CF689507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750" y="990600"/>
            <a:ext cx="10410190" cy="483209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Load the lme4 and </a:t>
            </a:r>
            <a:r>
              <a:rPr lang="en-US" dirty="0" err="1"/>
              <a:t>lmerTest</a:t>
            </a:r>
            <a:r>
              <a:rPr lang="en-US" dirty="0"/>
              <a:t> packages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Load the </a:t>
            </a:r>
            <a:r>
              <a:rPr lang="en-US" dirty="0" err="1"/>
              <a:t>ChickWeight</a:t>
            </a:r>
            <a:r>
              <a:rPr lang="en-US" dirty="0"/>
              <a:t> data: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Load </a:t>
            </a:r>
            <a:r>
              <a:rPr lang="en-US" dirty="0" err="1"/>
              <a:t>GrowthCurve_Examples.Rdata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data(</a:t>
            </a:r>
            <a:r>
              <a:rPr lang="en-US" dirty="0" err="1"/>
              <a:t>ChickWeight</a:t>
            </a:r>
            <a:r>
              <a:rPr 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Check out the data set (look at data frame, get a summary, read the documentation)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 </a:t>
            </a:r>
            <a:r>
              <a:rPr lang="en-US" dirty="0" err="1"/>
              <a:t>lmer</a:t>
            </a:r>
            <a:r>
              <a:rPr lang="en-US" dirty="0"/>
              <a:t>() make and save the following models. Be sure you understand what the models are testing before running them. And make some predictions about the tested relationships.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weight ~ Time + (1|Chick), REML=F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weight ~ Time + Diet + (1|Chick), REML=F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weight ~ Time * Diet + (1|Chick), REML=F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864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6096" y="4102100"/>
            <a:ext cx="8359679" cy="27559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135" dirty="0"/>
              <a:t> </a:t>
            </a:r>
            <a:r>
              <a:rPr dirty="0"/>
              <a:t>using</a:t>
            </a:r>
            <a:r>
              <a:rPr spc="-125" dirty="0"/>
              <a:t> </a:t>
            </a:r>
            <a:r>
              <a:rPr dirty="0"/>
              <a:t>ChickWeight</a:t>
            </a:r>
            <a:r>
              <a:rPr spc="-135" dirty="0"/>
              <a:t> </a:t>
            </a:r>
            <a:r>
              <a:rPr dirty="0"/>
              <a:t>data</a:t>
            </a:r>
            <a:r>
              <a:rPr spc="-125" dirty="0"/>
              <a:t> </a:t>
            </a:r>
            <a:r>
              <a:rPr spc="-25" dirty="0"/>
              <a:t>set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1962" y="1203452"/>
            <a:ext cx="3029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93675" algn="l"/>
              </a:tabLst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Start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out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“base”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2449" y="1590675"/>
            <a:ext cx="9979023" cy="243363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420555" y="6137147"/>
            <a:ext cx="26777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4"/>
              </a:rPr>
              <a:t>https://www.danmirman.org/gca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Comparisons</a:t>
            </a:r>
            <a:r>
              <a:rPr spc="-6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model</a:t>
            </a:r>
            <a:r>
              <a:rPr spc="-60" dirty="0"/>
              <a:t> </a:t>
            </a:r>
            <a:r>
              <a:rPr spc="-25" dirty="0"/>
              <a:t>fit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66562" y="1080617"/>
            <a:ext cx="10821035" cy="383667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19075" indent="-18097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2190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Tend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rely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on</a:t>
            </a:r>
            <a:r>
              <a:rPr sz="2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goodness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fit: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log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likelihood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1158"/>
                </a:solidFill>
                <a:latin typeface="Georgia"/>
                <a:cs typeface="Georgia"/>
              </a:rPr>
              <a:t>(LL)</a:t>
            </a:r>
            <a:endParaRPr sz="2600">
              <a:latin typeface="Georgia"/>
              <a:cs typeface="Georgia"/>
            </a:endParaRPr>
          </a:p>
          <a:p>
            <a:pPr marL="219075" indent="-180975">
              <a:lnSpc>
                <a:spcPct val="100000"/>
              </a:lnSpc>
              <a:spcBef>
                <a:spcPts val="865"/>
              </a:spcBef>
              <a:buFont typeface="Arial"/>
              <a:buChar char="•"/>
              <a:tabLst>
                <a:tab pos="2190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Not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very</a:t>
            </a:r>
            <a:r>
              <a:rPr sz="26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meaningful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(unlike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an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R</a:t>
            </a:r>
            <a:r>
              <a:rPr sz="2550" spc="-37" baseline="26143" dirty="0">
                <a:solidFill>
                  <a:srgbClr val="001158"/>
                </a:solidFill>
                <a:latin typeface="Georgia"/>
                <a:cs typeface="Georgia"/>
              </a:rPr>
              <a:t>2</a:t>
            </a:r>
            <a:r>
              <a:rPr sz="2600" spc="-25" dirty="0">
                <a:solidFill>
                  <a:srgbClr val="001158"/>
                </a:solidFill>
                <a:latin typeface="Georgia"/>
                <a:cs typeface="Georgia"/>
              </a:rPr>
              <a:t>)</a:t>
            </a:r>
            <a:endParaRPr sz="2600">
              <a:latin typeface="Georgia"/>
              <a:cs typeface="Georgia"/>
            </a:endParaRPr>
          </a:p>
          <a:p>
            <a:pPr marL="219075" marR="276860" indent="-180975">
              <a:lnSpc>
                <a:spcPts val="2810"/>
              </a:lnSpc>
              <a:spcBef>
                <a:spcPts val="1240"/>
              </a:spcBef>
              <a:buFont typeface="Arial"/>
              <a:buChar char="•"/>
              <a:tabLst>
                <a:tab pos="2190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Change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LL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indicates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improvement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fit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dirty="0">
                <a:solidFill>
                  <a:srgbClr val="001158"/>
                </a:solidFill>
                <a:latin typeface="Georgia"/>
                <a:cs typeface="Georgia"/>
              </a:rPr>
              <a:t>(higher</a:t>
            </a:r>
            <a:r>
              <a:rPr sz="2600" b="1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b="1" spc="-25" dirty="0">
                <a:solidFill>
                  <a:srgbClr val="001158"/>
                </a:solidFill>
                <a:latin typeface="Georgia"/>
                <a:cs typeface="Georgia"/>
              </a:rPr>
              <a:t>is </a:t>
            </a:r>
            <a:r>
              <a:rPr sz="2600" b="1" spc="-10" dirty="0">
                <a:solidFill>
                  <a:srgbClr val="001158"/>
                </a:solidFill>
                <a:latin typeface="Georgia"/>
                <a:cs typeface="Georgia"/>
              </a:rPr>
              <a:t>better)</a:t>
            </a:r>
            <a:endParaRPr sz="2600">
              <a:latin typeface="Georgia"/>
              <a:cs typeface="Georgia"/>
            </a:endParaRPr>
          </a:p>
          <a:p>
            <a:pPr marL="219075" indent="-180975">
              <a:lnSpc>
                <a:spcPct val="100000"/>
              </a:lnSpc>
              <a:spcBef>
                <a:spcPts val="819"/>
              </a:spcBef>
              <a:buFont typeface="Arial"/>
              <a:buChar char="•"/>
              <a:tabLst>
                <a:tab pos="219075" algn="l"/>
              </a:tabLst>
            </a:pP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-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2LL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follows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chi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square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distribution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(so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we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get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1158"/>
                </a:solidFill>
                <a:latin typeface="Georgia"/>
                <a:cs typeface="Georgia"/>
              </a:rPr>
              <a:t>p-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values</a:t>
            </a:r>
            <a:r>
              <a:rPr sz="26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this</a:t>
            </a:r>
            <a:r>
              <a:rPr sz="2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20" dirty="0">
                <a:solidFill>
                  <a:srgbClr val="001158"/>
                </a:solidFill>
                <a:latin typeface="Georgia"/>
                <a:cs typeface="Georgia"/>
              </a:rPr>
              <a:t>way)</a:t>
            </a:r>
            <a:endParaRPr sz="2600">
              <a:latin typeface="Georgia"/>
              <a:cs typeface="Georgia"/>
            </a:endParaRPr>
          </a:p>
          <a:p>
            <a:pPr marL="219075" indent="-180975">
              <a:lnSpc>
                <a:spcPct val="100000"/>
              </a:lnSpc>
              <a:spcBef>
                <a:spcPts val="890"/>
              </a:spcBef>
              <a:buFont typeface="Arial"/>
              <a:buChar char="•"/>
              <a:tabLst>
                <a:tab pos="219075" algn="l"/>
              </a:tabLst>
            </a:pP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only</a:t>
            </a:r>
            <a:r>
              <a:rPr sz="26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compare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nested</a:t>
            </a:r>
            <a:r>
              <a:rPr sz="2600" spc="-7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models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(dependent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variable</a:t>
            </a:r>
            <a:r>
              <a:rPr sz="2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must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be</a:t>
            </a:r>
            <a:r>
              <a:rPr sz="2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600" spc="-10" dirty="0">
                <a:solidFill>
                  <a:srgbClr val="001158"/>
                </a:solidFill>
                <a:latin typeface="Georgia"/>
                <a:cs typeface="Georgia"/>
              </a:rPr>
              <a:t>same)</a:t>
            </a:r>
            <a:endParaRPr sz="26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115"/>
              </a:spcBef>
            </a:pPr>
            <a:endParaRPr sz="2600">
              <a:latin typeface="Georgia"/>
              <a:cs typeface="Georgia"/>
            </a:endParaRPr>
          </a:p>
          <a:p>
            <a:pPr marL="38100">
              <a:lnSpc>
                <a:spcPct val="100000"/>
              </a:lnSpc>
            </a:pPr>
            <a:r>
              <a:rPr sz="18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Check</a:t>
            </a:r>
            <a:r>
              <a:rPr sz="1800" u="sng" spc="-35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 </a:t>
            </a:r>
            <a:r>
              <a:rPr sz="18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out</a:t>
            </a:r>
            <a:r>
              <a:rPr sz="1800" u="sng" spc="-3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 </a:t>
            </a:r>
            <a:r>
              <a:rPr sz="18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this</a:t>
            </a:r>
            <a:r>
              <a:rPr sz="1800" u="sng" spc="-35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 </a:t>
            </a:r>
            <a:r>
              <a:rPr sz="18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for</a:t>
            </a:r>
            <a:r>
              <a:rPr sz="1800" u="sng" spc="-35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 </a:t>
            </a:r>
            <a:r>
              <a:rPr sz="18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more</a:t>
            </a:r>
            <a:r>
              <a:rPr sz="1800" u="sng" spc="-25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 </a:t>
            </a:r>
            <a:r>
              <a:rPr sz="18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on</a:t>
            </a:r>
            <a:r>
              <a:rPr sz="1800" u="sng" spc="-35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 </a:t>
            </a:r>
            <a:r>
              <a:rPr sz="18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LL</a:t>
            </a:r>
            <a:r>
              <a:rPr sz="1800" u="sng" spc="-35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 </a:t>
            </a:r>
            <a:r>
              <a:rPr sz="18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and</a:t>
            </a:r>
            <a:r>
              <a:rPr sz="1800" u="sng" spc="-3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 </a:t>
            </a:r>
            <a:r>
              <a:rPr sz="18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maximum</a:t>
            </a:r>
            <a:r>
              <a:rPr sz="1800" u="sng" spc="-3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 </a:t>
            </a:r>
            <a:r>
              <a:rPr sz="1800" u="sng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likelihood</a:t>
            </a:r>
            <a:r>
              <a:rPr sz="1800" u="sng" spc="-3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 </a:t>
            </a:r>
            <a:r>
              <a:rPr sz="18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estimation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D7190-A14F-86F1-FA41-DCF5BDE36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EA5B0-9A76-6B42-1AB5-7E3FD092E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962" y="319532"/>
            <a:ext cx="11420774" cy="615553"/>
          </a:xfrm>
        </p:spPr>
        <p:txBody>
          <a:bodyPr/>
          <a:lstStyle/>
          <a:p>
            <a:r>
              <a:rPr lang="en-US" b="0" dirty="0"/>
              <a:t>Exercise 2: Compare fit of growth models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5AA79-B7F6-C70E-EB55-D478DAA38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750" y="990600"/>
            <a:ext cx="10410190" cy="372409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Use </a:t>
            </a:r>
            <a:r>
              <a:rPr lang="en-US" dirty="0" err="1"/>
              <a:t>anova</a:t>
            </a:r>
            <a:r>
              <a:rPr lang="en-US" dirty="0"/>
              <a:t>() to compare all three models (you can enter all three at once)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You could also use </a:t>
            </a:r>
            <a:r>
              <a:rPr lang="en-US" dirty="0" err="1"/>
              <a:t>test_performance</a:t>
            </a:r>
            <a:r>
              <a:rPr lang="en-US" dirty="0"/>
              <a:t>() from the performance package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Generate a summary of the best fitting model and interpret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Now add the random slopes for Time to the model and compare it to your best fitting model from before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Check assumptions of the best fitting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Try to make a plot of the best fitting model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624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110" dirty="0"/>
              <a:t> </a:t>
            </a:r>
            <a:r>
              <a:rPr dirty="0"/>
              <a:t>using</a:t>
            </a:r>
            <a:r>
              <a:rPr spc="-105" dirty="0"/>
              <a:t> </a:t>
            </a:r>
            <a:r>
              <a:rPr dirty="0"/>
              <a:t>ChickWeight</a:t>
            </a:r>
            <a:r>
              <a:rPr spc="-114" dirty="0"/>
              <a:t> </a:t>
            </a:r>
            <a:r>
              <a:rPr dirty="0"/>
              <a:t>data</a:t>
            </a:r>
            <a:r>
              <a:rPr spc="-105" dirty="0"/>
              <a:t> </a:t>
            </a:r>
            <a:r>
              <a:rPr dirty="0"/>
              <a:t>set</a:t>
            </a:r>
            <a:r>
              <a:rPr spc="-114" dirty="0"/>
              <a:t> </a:t>
            </a:r>
            <a:r>
              <a:rPr spc="-10" dirty="0"/>
              <a:t>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962" y="1203452"/>
            <a:ext cx="6318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93040" algn="l"/>
              </a:tabLst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comparison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(change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goodness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fit;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log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likelihood)</a:t>
            </a:r>
            <a:endParaRPr sz="18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832" y="1701058"/>
            <a:ext cx="6841541" cy="20072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3563" y="3988310"/>
            <a:ext cx="6834812" cy="226957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57965" y="1709737"/>
            <a:ext cx="3734389" cy="393565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420555" y="6137147"/>
            <a:ext cx="26777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5"/>
              </a:rPr>
              <a:t>https://www.danmirman.org/gca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21460" y="515620"/>
            <a:ext cx="85217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Functional</a:t>
            </a:r>
            <a:r>
              <a:rPr spc="-105" dirty="0"/>
              <a:t> </a:t>
            </a:r>
            <a:r>
              <a:rPr dirty="0"/>
              <a:t>form</a:t>
            </a:r>
            <a:r>
              <a:rPr spc="-85" dirty="0"/>
              <a:t> </a:t>
            </a:r>
            <a:r>
              <a:rPr dirty="0"/>
              <a:t>of</a:t>
            </a:r>
            <a:r>
              <a:rPr spc="-90" dirty="0"/>
              <a:t> </a:t>
            </a:r>
            <a:r>
              <a:rPr dirty="0"/>
              <a:t>growth</a:t>
            </a:r>
            <a:r>
              <a:rPr spc="-80" dirty="0"/>
              <a:t> </a:t>
            </a:r>
            <a:r>
              <a:rPr spc="-10" dirty="0"/>
              <a:t>curve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9775" y="1267764"/>
            <a:ext cx="3545814" cy="26593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1475" y="1094401"/>
            <a:ext cx="8799195" cy="463232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118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Polynomial</a:t>
            </a:r>
            <a:r>
              <a:rPr sz="28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patterns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8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change</a:t>
            </a:r>
            <a:endParaRPr sz="2800">
              <a:latin typeface="Georgia"/>
              <a:cs typeface="Georgia"/>
            </a:endParaRPr>
          </a:p>
          <a:p>
            <a:pPr marL="372745" marR="2597785" lvl="1" indent="-179705">
              <a:lnSpc>
                <a:spcPts val="2620"/>
              </a:lnSpc>
              <a:spcBef>
                <a:spcPts val="1235"/>
              </a:spcBef>
              <a:buFont typeface="Arial"/>
              <a:buChar char="-"/>
              <a:tabLst>
                <a:tab pos="37465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Function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must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be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adequate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shape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of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0" dirty="0">
                <a:solidFill>
                  <a:srgbClr val="001158"/>
                </a:solidFill>
                <a:latin typeface="Georgia"/>
                <a:cs typeface="Georgia"/>
              </a:rPr>
              <a:t>data</a:t>
            </a:r>
            <a:endParaRPr sz="2400">
              <a:latin typeface="Georgia"/>
              <a:cs typeface="Georgia"/>
            </a:endParaRPr>
          </a:p>
          <a:p>
            <a:pPr marL="372745" marR="2622550" lvl="1" indent="-179705">
              <a:lnSpc>
                <a:spcPts val="2590"/>
              </a:lnSpc>
              <a:spcBef>
                <a:spcPts val="1095"/>
              </a:spcBef>
              <a:buFont typeface="Arial"/>
              <a:buChar char="-"/>
              <a:tabLst>
                <a:tab pos="374650" algn="l"/>
              </a:tabLst>
            </a:pPr>
            <a:r>
              <a:rPr sz="2400" b="1" dirty="0">
                <a:solidFill>
                  <a:srgbClr val="001158"/>
                </a:solidFill>
                <a:latin typeface="Georgia"/>
                <a:cs typeface="Georgia"/>
              </a:rPr>
              <a:t>Dynamically</a:t>
            </a:r>
            <a:r>
              <a:rPr sz="2400" b="1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b="1" dirty="0">
                <a:solidFill>
                  <a:srgbClr val="001158"/>
                </a:solidFill>
                <a:latin typeface="Georgia"/>
                <a:cs typeface="Georgia"/>
              </a:rPr>
              <a:t>consistency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: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400" spc="-6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of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average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equal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average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endParaRPr sz="2400">
              <a:latin typeface="Georgia"/>
              <a:cs typeface="Georgia"/>
            </a:endParaRPr>
          </a:p>
          <a:p>
            <a:pPr marL="374650">
              <a:lnSpc>
                <a:spcPts val="2245"/>
              </a:lnSpc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individual</a:t>
            </a:r>
            <a:r>
              <a:rPr sz="24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models</a:t>
            </a:r>
            <a:endParaRPr sz="2400">
              <a:latin typeface="Georgia"/>
              <a:cs typeface="Georgia"/>
            </a:endParaRPr>
          </a:p>
          <a:p>
            <a:pPr marR="5080" algn="r">
              <a:lnSpc>
                <a:spcPts val="1535"/>
              </a:lnSpc>
            </a:pP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Time</a:t>
            </a:r>
            <a:endParaRPr sz="1800">
              <a:latin typeface="Georgia"/>
              <a:cs typeface="Georgia"/>
            </a:endParaRPr>
          </a:p>
          <a:p>
            <a:pPr marL="372745" lvl="1" indent="-179705">
              <a:lnSpc>
                <a:spcPts val="2590"/>
              </a:lnSpc>
              <a:buFont typeface="Arial"/>
              <a:buChar char="-"/>
              <a:tabLst>
                <a:tab pos="37274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any</a:t>
            </a:r>
            <a:r>
              <a:rPr sz="24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kind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curve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shape</a:t>
            </a:r>
            <a:endParaRPr sz="2400">
              <a:latin typeface="Georgia"/>
              <a:cs typeface="Georgia"/>
            </a:endParaRPr>
          </a:p>
          <a:p>
            <a:pPr marL="372745" lvl="1" indent="-179705">
              <a:lnSpc>
                <a:spcPct val="100000"/>
              </a:lnSpc>
              <a:spcBef>
                <a:spcPts val="910"/>
              </a:spcBef>
              <a:buFont typeface="Arial"/>
              <a:buChar char="-"/>
              <a:tabLst>
                <a:tab pos="37274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Are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not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good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at:</a:t>
            </a:r>
            <a:endParaRPr sz="2400">
              <a:latin typeface="Georgia"/>
              <a:cs typeface="Georgia"/>
            </a:endParaRPr>
          </a:p>
          <a:p>
            <a:pPr marL="1084580" lvl="2" indent="-157480">
              <a:lnSpc>
                <a:spcPct val="100000"/>
              </a:lnSpc>
              <a:spcBef>
                <a:spcPts val="1025"/>
              </a:spcBef>
              <a:buChar char="-"/>
              <a:tabLst>
                <a:tab pos="1084580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capturing</a:t>
            </a:r>
            <a:r>
              <a:rPr sz="2000" spc="-7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asymptotic</a:t>
            </a:r>
            <a:r>
              <a:rPr sz="20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behavior</a:t>
            </a:r>
            <a:endParaRPr sz="2000">
              <a:latin typeface="Georgia"/>
              <a:cs typeface="Georgia"/>
            </a:endParaRPr>
          </a:p>
          <a:p>
            <a:pPr marL="1050925" marR="3227070" lvl="2" indent="-124460">
              <a:lnSpc>
                <a:spcPts val="2180"/>
              </a:lnSpc>
              <a:spcBef>
                <a:spcPts val="1170"/>
              </a:spcBef>
              <a:buChar char="-"/>
              <a:tabLst>
                <a:tab pos="1050925" algn="l"/>
                <a:tab pos="1083945" algn="l"/>
              </a:tabLst>
            </a:pP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	extrapolating</a:t>
            </a:r>
            <a:r>
              <a:rPr sz="20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outside</a:t>
            </a:r>
            <a:r>
              <a:rPr sz="2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0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observed </a:t>
            </a:r>
            <a:r>
              <a:rPr sz="2000" dirty="0">
                <a:solidFill>
                  <a:srgbClr val="001158"/>
                </a:solidFill>
                <a:latin typeface="Georgia"/>
                <a:cs typeface="Georgia"/>
              </a:rPr>
              <a:t>time</a:t>
            </a:r>
            <a:r>
              <a:rPr sz="20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000" spc="-10" dirty="0">
                <a:solidFill>
                  <a:srgbClr val="001158"/>
                </a:solidFill>
                <a:latin typeface="Georgia"/>
                <a:cs typeface="Georgia"/>
              </a:rPr>
              <a:t>window</a:t>
            </a:r>
            <a:endParaRPr sz="20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7375" y="4111764"/>
            <a:ext cx="4125404" cy="218403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8350" cy="6858000"/>
            <a:chOff x="0" y="0"/>
            <a:chExt cx="1219835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1975" y="0"/>
              <a:ext cx="8863350" cy="66293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13928" y="2355573"/>
              <a:ext cx="8863346" cy="426719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8393948" y="5796788"/>
            <a:ext cx="2074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Mirman,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2014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1975" y="0"/>
            <a:ext cx="8642597" cy="647310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9294" y="651783"/>
            <a:ext cx="6277068" cy="53060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99674" y="6049771"/>
            <a:ext cx="2074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Mirman,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2014</a:t>
            </a:r>
            <a:endParaRPr sz="1800">
              <a:latin typeface="Georgia"/>
              <a:cs typeface="Georg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Specifying</a:t>
            </a:r>
            <a:r>
              <a:rPr spc="-110" dirty="0"/>
              <a:t> </a:t>
            </a:r>
            <a:r>
              <a:rPr dirty="0"/>
              <a:t>random</a:t>
            </a:r>
            <a:r>
              <a:rPr spc="-114" dirty="0"/>
              <a:t> </a:t>
            </a:r>
            <a:r>
              <a:rPr spc="-10" dirty="0"/>
              <a:t>effects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91962" y="1048173"/>
            <a:ext cx="11350625" cy="269240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93040" indent="-180340">
              <a:lnSpc>
                <a:spcPct val="100000"/>
              </a:lnSpc>
              <a:spcBef>
                <a:spcPts val="1210"/>
              </a:spcBef>
              <a:buFont typeface="Arial"/>
              <a:buChar char="•"/>
              <a:tabLst>
                <a:tab pos="19304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“Keep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it</a:t>
            </a:r>
            <a:r>
              <a:rPr sz="2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maximal”</a:t>
            </a:r>
            <a:endParaRPr sz="2800">
              <a:latin typeface="Georgia"/>
              <a:cs typeface="Georgia"/>
            </a:endParaRPr>
          </a:p>
          <a:p>
            <a:pPr marL="372745" marR="5080" lvl="1" indent="-179705">
              <a:lnSpc>
                <a:spcPts val="2590"/>
              </a:lnSpc>
              <a:spcBef>
                <a:spcPts val="1280"/>
              </a:spcBef>
              <a:buFont typeface="Arial"/>
              <a:buChar char="-"/>
              <a:tabLst>
                <a:tab pos="37465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When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are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underspecified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growth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models,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more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variance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can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get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relegated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fixed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than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should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be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terms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error.</a:t>
            </a:r>
            <a:endParaRPr sz="2400">
              <a:latin typeface="Georgia"/>
              <a:cs typeface="Georgia"/>
            </a:endParaRPr>
          </a:p>
          <a:p>
            <a:pPr marL="372745" lvl="1" indent="-179705">
              <a:lnSpc>
                <a:spcPct val="100000"/>
              </a:lnSpc>
              <a:spcBef>
                <a:spcPts val="780"/>
              </a:spcBef>
              <a:buFont typeface="Arial"/>
              <a:buChar char="-"/>
              <a:tabLst>
                <a:tab pos="37274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Try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include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all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possible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polynomials</a:t>
            </a:r>
            <a:endParaRPr sz="2400">
              <a:latin typeface="Georgia"/>
              <a:cs typeface="Georgia"/>
            </a:endParaRPr>
          </a:p>
          <a:p>
            <a:pPr marL="372745" marR="641985" lvl="1" indent="-179705">
              <a:lnSpc>
                <a:spcPts val="2620"/>
              </a:lnSpc>
              <a:spcBef>
                <a:spcPts val="1215"/>
              </a:spcBef>
              <a:buFont typeface="Arial"/>
              <a:buChar char="-"/>
              <a:tabLst>
                <a:tab pos="374650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If</a:t>
            </a:r>
            <a:r>
              <a:rPr sz="2400" spc="-6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doesn’t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converge,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simplify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effect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structure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(see</a:t>
            </a:r>
            <a:r>
              <a:rPr sz="24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Mirman, 	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2014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4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spc="-10" dirty="0">
                <a:solidFill>
                  <a:srgbClr val="001158"/>
                </a:solidFill>
                <a:latin typeface="Georgia"/>
                <a:cs typeface="Georgia"/>
              </a:rPr>
              <a:t>ideas)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3375" y="0"/>
            <a:ext cx="8610600" cy="648438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6690" y="1187822"/>
            <a:ext cx="5375943" cy="188806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Reporting</a:t>
            </a:r>
            <a:r>
              <a:rPr sz="3600" spc="-95" dirty="0"/>
              <a:t> </a:t>
            </a:r>
            <a:r>
              <a:rPr sz="3600" dirty="0"/>
              <a:t>results</a:t>
            </a:r>
            <a:r>
              <a:rPr sz="3600" spc="-90" dirty="0"/>
              <a:t> </a:t>
            </a:r>
            <a:r>
              <a:rPr sz="3600" dirty="0"/>
              <a:t>from</a:t>
            </a:r>
            <a:r>
              <a:rPr sz="3600" spc="-85" dirty="0"/>
              <a:t> </a:t>
            </a:r>
            <a:r>
              <a:rPr sz="3600" dirty="0"/>
              <a:t>growth</a:t>
            </a:r>
            <a:r>
              <a:rPr sz="3600" spc="-90" dirty="0"/>
              <a:t> </a:t>
            </a:r>
            <a:r>
              <a:rPr sz="3600" dirty="0"/>
              <a:t>curve</a:t>
            </a:r>
            <a:r>
              <a:rPr sz="3600" spc="-85" dirty="0"/>
              <a:t> </a:t>
            </a:r>
            <a:r>
              <a:rPr sz="3600" spc="-10" dirty="0"/>
              <a:t>analysis</a:t>
            </a:r>
            <a:endParaRPr sz="36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391962" y="1054862"/>
            <a:ext cx="11322050" cy="517969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1270"/>
              </a:spcBef>
              <a:buFont typeface="Arial"/>
              <a:buChar char="•"/>
              <a:tabLst>
                <a:tab pos="193675" algn="l"/>
              </a:tabLst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Must</a:t>
            </a:r>
            <a:r>
              <a:rPr sz="1800" spc="-3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report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form</a:t>
            </a:r>
            <a:r>
              <a:rPr sz="18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model</a:t>
            </a:r>
            <a:endParaRPr sz="1800">
              <a:latin typeface="Georgia"/>
              <a:cs typeface="Georgia"/>
            </a:endParaRPr>
          </a:p>
          <a:p>
            <a:pPr marL="374650" lvl="1" indent="-181610">
              <a:lnSpc>
                <a:spcPct val="100000"/>
              </a:lnSpc>
              <a:spcBef>
                <a:spcPts val="1040"/>
              </a:spcBef>
              <a:buFont typeface="Arial"/>
              <a:buChar char="-"/>
              <a:tabLst>
                <a:tab pos="374650" algn="l"/>
              </a:tabLst>
            </a:pP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Types</a:t>
            </a:r>
            <a:r>
              <a:rPr sz="1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of</a:t>
            </a:r>
            <a:r>
              <a:rPr sz="1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polynomials,</a:t>
            </a:r>
            <a:r>
              <a:rPr sz="1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fixed</a:t>
            </a:r>
            <a:r>
              <a:rPr sz="1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effects,</a:t>
            </a:r>
            <a:r>
              <a:rPr sz="1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random</a:t>
            </a:r>
            <a:r>
              <a:rPr sz="16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spc="-10" dirty="0">
                <a:solidFill>
                  <a:srgbClr val="001158"/>
                </a:solidFill>
                <a:latin typeface="Georgia"/>
                <a:cs typeface="Georgia"/>
              </a:rPr>
              <a:t>effects</a:t>
            </a:r>
            <a:endParaRPr sz="1600">
              <a:latin typeface="Georgia"/>
              <a:cs typeface="Georgia"/>
            </a:endParaRPr>
          </a:p>
          <a:p>
            <a:pPr marL="193675" indent="-180975">
              <a:lnSpc>
                <a:spcPct val="100000"/>
              </a:lnSpc>
              <a:spcBef>
                <a:spcPts val="975"/>
              </a:spcBef>
              <a:buFont typeface="Arial"/>
              <a:buChar char="•"/>
              <a:tabLst>
                <a:tab pos="193675" algn="l"/>
              </a:tabLst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Main</a:t>
            </a:r>
            <a:r>
              <a:rPr sz="1800" spc="-3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findings</a:t>
            </a:r>
            <a:endParaRPr sz="1800">
              <a:latin typeface="Georgia"/>
              <a:cs typeface="Georgia"/>
            </a:endParaRPr>
          </a:p>
          <a:p>
            <a:pPr marL="374650" lvl="1" indent="-181610">
              <a:lnSpc>
                <a:spcPct val="100000"/>
              </a:lnSpc>
              <a:spcBef>
                <a:spcPts val="1040"/>
              </a:spcBef>
              <a:buFont typeface="Arial"/>
              <a:buChar char="-"/>
              <a:tabLst>
                <a:tab pos="374650" algn="l"/>
              </a:tabLst>
            </a:pP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Report</a:t>
            </a:r>
            <a:r>
              <a:rPr sz="1600" spc="-5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parameter</a:t>
            </a:r>
            <a:r>
              <a:rPr sz="1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estimates,</a:t>
            </a:r>
            <a:r>
              <a:rPr sz="1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standard</a:t>
            </a:r>
            <a:r>
              <a:rPr sz="16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errors,</a:t>
            </a:r>
            <a:r>
              <a:rPr sz="16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dirty="0">
                <a:solidFill>
                  <a:srgbClr val="001158"/>
                </a:solidFill>
                <a:latin typeface="Georgia"/>
                <a:cs typeface="Georgia"/>
              </a:rPr>
              <a:t>significance</a:t>
            </a:r>
            <a:r>
              <a:rPr sz="16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600" spc="-10" dirty="0">
                <a:solidFill>
                  <a:srgbClr val="001158"/>
                </a:solidFill>
                <a:latin typeface="Georgia"/>
                <a:cs typeface="Georgia"/>
              </a:rPr>
              <a:t>tests</a:t>
            </a:r>
            <a:endParaRPr sz="1600">
              <a:latin typeface="Georgia"/>
              <a:cs typeface="Georgia"/>
            </a:endParaRPr>
          </a:p>
          <a:p>
            <a:pPr marL="193675" indent="-180975">
              <a:lnSpc>
                <a:spcPct val="100000"/>
              </a:lnSpc>
              <a:spcBef>
                <a:spcPts val="975"/>
              </a:spcBef>
              <a:buFont typeface="Arial"/>
              <a:buChar char="•"/>
              <a:tabLst>
                <a:tab pos="193675" algn="l"/>
              </a:tabLst>
            </a:pP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Include</a:t>
            </a:r>
            <a:r>
              <a:rPr sz="1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dirty="0">
                <a:solidFill>
                  <a:srgbClr val="001158"/>
                </a:solidFill>
                <a:latin typeface="Georgia"/>
                <a:cs typeface="Georgia"/>
              </a:rPr>
              <a:t>a</a:t>
            </a:r>
            <a:r>
              <a:rPr sz="1800" spc="-2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1800" spc="-10" dirty="0">
                <a:solidFill>
                  <a:srgbClr val="001158"/>
                </a:solidFill>
                <a:latin typeface="Georgia"/>
                <a:cs typeface="Georgia"/>
              </a:rPr>
              <a:t>graph!</a:t>
            </a:r>
            <a:endParaRPr sz="1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800">
              <a:latin typeface="Georgia"/>
              <a:cs typeface="Georgia"/>
            </a:endParaRPr>
          </a:p>
          <a:p>
            <a:pPr marL="103505" marR="5080">
              <a:lnSpc>
                <a:spcPct val="100000"/>
              </a:lnSpc>
            </a:pP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“Growth</a:t>
            </a:r>
            <a:r>
              <a:rPr sz="1700" b="1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curve</a:t>
            </a:r>
            <a:r>
              <a:rPr sz="1700" b="1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analysis</a:t>
            </a:r>
            <a:r>
              <a:rPr sz="1700" b="1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(Mirman,</a:t>
            </a:r>
            <a:r>
              <a:rPr sz="1700" b="1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2014)</a:t>
            </a:r>
            <a:r>
              <a:rPr sz="1700" b="1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was</a:t>
            </a:r>
            <a:r>
              <a:rPr sz="1700" b="1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used</a:t>
            </a:r>
            <a:r>
              <a:rPr sz="1700" b="1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to</a:t>
            </a:r>
            <a:r>
              <a:rPr sz="1700" b="1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analyze</a:t>
            </a:r>
            <a:r>
              <a:rPr sz="1700" b="1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the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target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gaze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data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from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300ms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to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spc="-10" dirty="0">
                <a:solidFill>
                  <a:srgbClr val="002060"/>
                </a:solidFill>
                <a:latin typeface="Georgia"/>
                <a:cs typeface="Georgia"/>
              </a:rPr>
              <a:t>1000ms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after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word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onset.</a:t>
            </a:r>
            <a:r>
              <a:rPr sz="1700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The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overall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time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course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of</a:t>
            </a:r>
            <a:r>
              <a:rPr sz="1700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target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fixations</a:t>
            </a:r>
            <a:r>
              <a:rPr sz="1700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was</a:t>
            </a:r>
            <a:r>
              <a:rPr sz="1700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modeled</a:t>
            </a:r>
            <a:r>
              <a:rPr sz="1700" i="1" spc="-1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with</a:t>
            </a:r>
            <a:r>
              <a:rPr sz="1700" b="1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a</a:t>
            </a:r>
            <a:r>
              <a:rPr sz="1700" b="1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spc="-10" dirty="0">
                <a:solidFill>
                  <a:srgbClr val="002060"/>
                </a:solidFill>
                <a:latin typeface="Georgia"/>
                <a:cs typeface="Georgia"/>
              </a:rPr>
              <a:t>third-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order</a:t>
            </a:r>
            <a:r>
              <a:rPr sz="1700" b="1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spc="-10" dirty="0">
                <a:solidFill>
                  <a:srgbClr val="002060"/>
                </a:solidFill>
                <a:latin typeface="Georgia"/>
                <a:cs typeface="Georgia"/>
              </a:rPr>
              <a:t>(cubic)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orthogonal</a:t>
            </a:r>
            <a:r>
              <a:rPr sz="1700" b="1" i="1" spc="-4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polynomial</a:t>
            </a:r>
            <a:r>
              <a:rPr sz="1700" b="1" i="1" spc="-6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and</a:t>
            </a:r>
            <a:r>
              <a:rPr sz="1700" i="1" spc="-4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fixed</a:t>
            </a:r>
            <a:r>
              <a:rPr sz="1700" b="1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effects</a:t>
            </a:r>
            <a:r>
              <a:rPr sz="1700" b="1" i="1" spc="-4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of</a:t>
            </a:r>
            <a:r>
              <a:rPr sz="1700" b="1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Condition</a:t>
            </a:r>
            <a:r>
              <a:rPr sz="1700" b="1" i="1" spc="-5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(Low</a:t>
            </a:r>
            <a:r>
              <a:rPr sz="1700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vs.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High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frequency;</a:t>
            </a:r>
            <a:r>
              <a:rPr sz="1700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spc="-10" dirty="0">
                <a:solidFill>
                  <a:srgbClr val="002060"/>
                </a:solidFill>
                <a:latin typeface="Georgia"/>
                <a:cs typeface="Georgia"/>
              </a:rPr>
              <a:t>within-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participants)</a:t>
            </a:r>
            <a:r>
              <a:rPr sz="1700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on</a:t>
            </a:r>
            <a:r>
              <a:rPr sz="1700" i="1" spc="-4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all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time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terms.</a:t>
            </a:r>
            <a:r>
              <a:rPr sz="1700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The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model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also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included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spc="-10" dirty="0">
                <a:solidFill>
                  <a:srgbClr val="002060"/>
                </a:solidFill>
                <a:latin typeface="Georgia"/>
                <a:cs typeface="Georgia"/>
              </a:rPr>
              <a:t>participant</a:t>
            </a:r>
            <a:r>
              <a:rPr sz="1700" b="1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random</a:t>
            </a:r>
            <a:r>
              <a:rPr sz="1700" b="1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effects</a:t>
            </a:r>
            <a:r>
              <a:rPr sz="1700" b="1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on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all</a:t>
            </a:r>
            <a:r>
              <a:rPr sz="1700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time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terms</a:t>
            </a:r>
            <a:r>
              <a:rPr sz="1700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and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spc="-10" dirty="0">
                <a:solidFill>
                  <a:srgbClr val="002060"/>
                </a:solidFill>
                <a:latin typeface="Georgia"/>
                <a:cs typeface="Georgia"/>
              </a:rPr>
              <a:t>participant-</a:t>
            </a:r>
            <a:r>
              <a:rPr sz="1700" b="1" i="1" spc="-25" dirty="0">
                <a:solidFill>
                  <a:srgbClr val="002060"/>
                </a:solidFill>
                <a:latin typeface="Georgia"/>
                <a:cs typeface="Georgia"/>
              </a:rPr>
              <a:t>by-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condition</a:t>
            </a:r>
            <a:r>
              <a:rPr sz="1700" b="1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random</a:t>
            </a:r>
            <a:r>
              <a:rPr sz="1700" b="1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effects</a:t>
            </a:r>
            <a:r>
              <a:rPr sz="1700" b="1" i="1" spc="-6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on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all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time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terms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except</a:t>
            </a:r>
            <a:r>
              <a:rPr sz="1700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the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cubic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(estimating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random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effects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is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“expensive”</a:t>
            </a:r>
            <a:r>
              <a:rPr sz="1700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in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terms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of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the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number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of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observation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required,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so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this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cubic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term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was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excluded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because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it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tends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to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capture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spc="-10" dirty="0">
                <a:solidFill>
                  <a:srgbClr val="002060"/>
                </a:solidFill>
                <a:latin typeface="Georgia"/>
                <a:cs typeface="Georgia"/>
              </a:rPr>
              <a:t>less-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relevant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spc="-10" dirty="0">
                <a:solidFill>
                  <a:srgbClr val="002060"/>
                </a:solidFill>
                <a:latin typeface="Georgia"/>
                <a:cs typeface="Georgia"/>
              </a:rPr>
              <a:t>effects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in</a:t>
            </a:r>
            <a:r>
              <a:rPr sz="1700" i="1" spc="-4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the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tails).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There</a:t>
            </a:r>
            <a:r>
              <a:rPr sz="1700" b="1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was</a:t>
            </a:r>
            <a:r>
              <a:rPr sz="1700" b="1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a</a:t>
            </a:r>
            <a:r>
              <a:rPr sz="1700" b="1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significant</a:t>
            </a:r>
            <a:r>
              <a:rPr sz="1700" b="1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effect</a:t>
            </a:r>
            <a:r>
              <a:rPr sz="1700" b="1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of</a:t>
            </a:r>
            <a:r>
              <a:rPr sz="1700" b="1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Condition</a:t>
            </a:r>
            <a:r>
              <a:rPr sz="1700" b="1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on</a:t>
            </a:r>
            <a:r>
              <a:rPr sz="1700" b="1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the</a:t>
            </a:r>
            <a:r>
              <a:rPr sz="1700" b="1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intercept</a:t>
            </a:r>
            <a:r>
              <a:rPr sz="1700" b="1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term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,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indicating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lower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spc="-10" dirty="0">
                <a:solidFill>
                  <a:srgbClr val="002060"/>
                </a:solidFill>
                <a:latin typeface="Georgia"/>
                <a:cs typeface="Georgia"/>
              </a:rPr>
              <a:t>overall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target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fixation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proportions</a:t>
            </a:r>
            <a:r>
              <a:rPr sz="1700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for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the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Low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condition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relative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to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the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High</a:t>
            </a:r>
            <a:r>
              <a:rPr sz="1700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condition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(Estimate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=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spc="-10" dirty="0">
                <a:solidFill>
                  <a:srgbClr val="002060"/>
                </a:solidFill>
                <a:latin typeface="Georgia"/>
                <a:cs typeface="Georgia"/>
              </a:rPr>
              <a:t>-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0.058,</a:t>
            </a:r>
            <a:r>
              <a:rPr sz="1700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SE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=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0.019,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p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spc="-50" dirty="0">
                <a:solidFill>
                  <a:srgbClr val="002060"/>
                </a:solidFill>
                <a:latin typeface="Georgia"/>
                <a:cs typeface="Georgia"/>
              </a:rPr>
              <a:t>&lt;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0.01).</a:t>
            </a:r>
            <a:r>
              <a:rPr sz="1700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There</a:t>
            </a:r>
            <a:r>
              <a:rPr sz="1700" b="1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was</a:t>
            </a:r>
            <a:r>
              <a:rPr sz="1700" b="1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also</a:t>
            </a:r>
            <a:r>
              <a:rPr sz="1700" b="1" i="1" spc="-4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a</a:t>
            </a:r>
            <a:r>
              <a:rPr sz="1700" b="1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significant</a:t>
            </a:r>
            <a:r>
              <a:rPr sz="1700" b="1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effect</a:t>
            </a:r>
            <a:r>
              <a:rPr sz="1700" b="1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on</a:t>
            </a:r>
            <a:r>
              <a:rPr sz="1700" b="1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the</a:t>
            </a:r>
            <a:r>
              <a:rPr sz="1700" b="1" i="1" spc="-4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quadratic</a:t>
            </a:r>
            <a:r>
              <a:rPr sz="1700" b="1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term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,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indicating</a:t>
            </a:r>
            <a:r>
              <a:rPr sz="1700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shallower</a:t>
            </a:r>
            <a:r>
              <a:rPr sz="1700" i="1" spc="-4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curvature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-</a:t>
            </a:r>
            <a:r>
              <a:rPr sz="1700" i="1" spc="-4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spc="-10" dirty="0">
                <a:solidFill>
                  <a:srgbClr val="002060"/>
                </a:solidFill>
                <a:latin typeface="Georgia"/>
                <a:cs typeface="Georgia"/>
              </a:rPr>
              <a:t>slower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word</a:t>
            </a:r>
            <a:r>
              <a:rPr sz="1700" i="1" spc="-4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recognition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-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in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the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Low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condition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relative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to</a:t>
            </a:r>
            <a:r>
              <a:rPr sz="1700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the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High</a:t>
            </a:r>
            <a:r>
              <a:rPr sz="1700" i="1" spc="-1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condition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(Estimate</a:t>
            </a:r>
            <a:r>
              <a:rPr sz="1700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=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0.16,</a:t>
            </a:r>
            <a:r>
              <a:rPr sz="1700" i="1" spc="-1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SE</a:t>
            </a:r>
            <a:r>
              <a:rPr sz="1700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=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0.054,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p</a:t>
            </a:r>
            <a:r>
              <a:rPr sz="1700" i="1" spc="-1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&lt;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0.01).</a:t>
            </a:r>
            <a:r>
              <a:rPr sz="1700" i="1" spc="-1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spc="-25" dirty="0">
                <a:solidFill>
                  <a:srgbClr val="002060"/>
                </a:solidFill>
                <a:latin typeface="Georgia"/>
                <a:cs typeface="Georgia"/>
              </a:rPr>
              <a:t>All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other</a:t>
            </a:r>
            <a:r>
              <a:rPr sz="1700" b="1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effects</a:t>
            </a:r>
            <a:r>
              <a:rPr sz="1700" b="1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of</a:t>
            </a:r>
            <a:r>
              <a:rPr sz="1700" b="1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Condition</a:t>
            </a:r>
            <a:r>
              <a:rPr sz="1700" b="1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were</a:t>
            </a:r>
            <a:r>
              <a:rPr sz="1700" b="1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not</a:t>
            </a:r>
            <a:r>
              <a:rPr sz="1700" b="1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b="1" i="1" dirty="0">
                <a:solidFill>
                  <a:srgbClr val="002060"/>
                </a:solidFill>
                <a:latin typeface="Georgia"/>
                <a:cs typeface="Georgia"/>
              </a:rPr>
              <a:t>significant</a:t>
            </a:r>
            <a:r>
              <a:rPr sz="1700" b="1" i="1" spc="-2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(see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Table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1</a:t>
            </a:r>
            <a:r>
              <a:rPr sz="1700" i="1" spc="-3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for</a:t>
            </a:r>
            <a:r>
              <a:rPr sz="1700" i="1" spc="-30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dirty="0">
                <a:solidFill>
                  <a:srgbClr val="002060"/>
                </a:solidFill>
                <a:latin typeface="Georgia"/>
                <a:cs typeface="Georgia"/>
              </a:rPr>
              <a:t>full</a:t>
            </a:r>
            <a:r>
              <a:rPr sz="1700" i="1" spc="-25" dirty="0">
                <a:solidFill>
                  <a:srgbClr val="002060"/>
                </a:solidFill>
                <a:latin typeface="Georgia"/>
                <a:cs typeface="Georgia"/>
              </a:rPr>
              <a:t> </a:t>
            </a:r>
            <a:r>
              <a:rPr sz="1700" i="1" spc="-10" dirty="0">
                <a:solidFill>
                  <a:srgbClr val="002060"/>
                </a:solidFill>
                <a:latin typeface="Georgia"/>
                <a:cs typeface="Georgia"/>
              </a:rPr>
              <a:t>results).”</a:t>
            </a:r>
            <a:endParaRPr sz="17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Visualizing</a:t>
            </a:r>
            <a:r>
              <a:rPr spc="-95" dirty="0"/>
              <a:t> </a:t>
            </a:r>
            <a:r>
              <a:rPr dirty="0"/>
              <a:t>growth</a:t>
            </a:r>
            <a:r>
              <a:rPr spc="-95" dirty="0"/>
              <a:t> </a:t>
            </a:r>
            <a:r>
              <a:rPr dirty="0"/>
              <a:t>curve</a:t>
            </a:r>
            <a:r>
              <a:rPr spc="-95" dirty="0"/>
              <a:t> </a:t>
            </a:r>
            <a:r>
              <a:rPr spc="-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1962" y="1188211"/>
            <a:ext cx="11095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indent="-17970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92405" algn="l"/>
              </a:tabLst>
            </a:pP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ggplot2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is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the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best</a:t>
            </a:r>
            <a:r>
              <a:rPr sz="2400" spc="-5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way: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see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example</a:t>
            </a:r>
            <a:r>
              <a:rPr sz="2400" spc="-4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code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dirty="0">
                <a:solidFill>
                  <a:srgbClr val="001158"/>
                </a:solidFill>
                <a:latin typeface="Georgia"/>
                <a:cs typeface="Georgia"/>
              </a:rPr>
              <a:t>from</a:t>
            </a:r>
            <a:r>
              <a:rPr sz="2400" spc="-4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400" u="sng" spc="-1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2"/>
              </a:rPr>
              <a:t>https://www.danmirman.org/gca</a:t>
            </a:r>
            <a:endParaRPr sz="2400">
              <a:latin typeface="Georgia"/>
              <a:cs typeface="Georg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5861" y="1707184"/>
            <a:ext cx="11264900" cy="4352925"/>
            <a:chOff x="455861" y="1707184"/>
            <a:chExt cx="11264900" cy="43529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8589" y="2696882"/>
              <a:ext cx="10533863" cy="104588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5861" y="3944366"/>
              <a:ext cx="9491113" cy="36545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4504" y="1707184"/>
              <a:ext cx="4836156" cy="435254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1960" y="222097"/>
            <a:ext cx="7200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Preparing</a:t>
            </a:r>
            <a:r>
              <a:rPr spc="-50" dirty="0"/>
              <a:t> </a:t>
            </a:r>
            <a:r>
              <a:rPr dirty="0"/>
              <a:t>for</a:t>
            </a:r>
            <a:r>
              <a:rPr spc="-50" dirty="0"/>
              <a:t> </a:t>
            </a:r>
            <a:r>
              <a:rPr dirty="0"/>
              <a:t>end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10" dirty="0"/>
              <a:t>course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97890" y="1144651"/>
            <a:ext cx="10410190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3380" indent="-36068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73380" algn="l"/>
              </a:tabLst>
            </a:pPr>
            <a:r>
              <a:rPr dirty="0"/>
              <a:t>Complete</a:t>
            </a:r>
            <a:r>
              <a:rPr spc="-35" dirty="0"/>
              <a:t> </a:t>
            </a:r>
            <a:r>
              <a:rPr dirty="0"/>
              <a:t>final</a:t>
            </a:r>
            <a:r>
              <a:rPr spc="-45" dirty="0"/>
              <a:t> </a:t>
            </a:r>
            <a:r>
              <a:rPr dirty="0"/>
              <a:t>practical</a:t>
            </a:r>
            <a:r>
              <a:rPr spc="-45" dirty="0"/>
              <a:t> </a:t>
            </a:r>
            <a:r>
              <a:rPr spc="-10" dirty="0"/>
              <a:t>exercises</a:t>
            </a: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dirty="0"/>
              <a:t>Prepare</a:t>
            </a:r>
            <a:r>
              <a:rPr spc="-15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show</a:t>
            </a:r>
            <a:r>
              <a:rPr spc="-15" dirty="0"/>
              <a:t> </a:t>
            </a:r>
            <a:r>
              <a:rPr dirty="0"/>
              <a:t>up</a:t>
            </a:r>
            <a:r>
              <a:rPr spc="-20" dirty="0"/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Exam</a:t>
            </a:r>
            <a:r>
              <a:rPr spc="-20" dirty="0"/>
              <a:t> </a:t>
            </a:r>
            <a:r>
              <a:rPr dirty="0"/>
              <a:t>Q</a:t>
            </a:r>
            <a:r>
              <a:rPr spc="-20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session</a:t>
            </a:r>
            <a:r>
              <a:rPr spc="-20" dirty="0"/>
              <a:t> </a:t>
            </a:r>
            <a:r>
              <a:rPr lang="en-US" spc="-20" dirty="0"/>
              <a:t>(next week)</a:t>
            </a:r>
          </a:p>
          <a:p>
            <a:pPr marL="373380" indent="-360680">
              <a:lnSpc>
                <a:spcPct val="100000"/>
              </a:lnSpc>
              <a:buAutoNum type="arabicPeriod"/>
              <a:tabLst>
                <a:tab pos="373380" algn="l"/>
              </a:tabLst>
            </a:pP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Keep</a:t>
            </a:r>
            <a:r>
              <a:rPr sz="28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an</a:t>
            </a:r>
            <a:r>
              <a:rPr sz="28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eye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on</a:t>
            </a:r>
            <a:r>
              <a:rPr sz="28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Canvas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for</a:t>
            </a:r>
            <a:r>
              <a:rPr sz="28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Exam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Study</a:t>
            </a:r>
            <a:r>
              <a:rPr sz="28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Guide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(prior</a:t>
            </a:r>
            <a:r>
              <a:rPr sz="2800" spc="-1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dirty="0">
                <a:solidFill>
                  <a:srgbClr val="001158"/>
                </a:solidFill>
                <a:latin typeface="Georgia"/>
                <a:cs typeface="Georgia"/>
              </a:rPr>
              <a:t>to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25" dirty="0">
                <a:solidFill>
                  <a:srgbClr val="001158"/>
                </a:solidFill>
                <a:latin typeface="Georgia"/>
                <a:cs typeface="Georgia"/>
              </a:rPr>
              <a:t>Q&amp;A</a:t>
            </a:r>
            <a:r>
              <a:rPr lang="en-US" sz="2800" spc="-25" dirty="0">
                <a:solidFill>
                  <a:srgbClr val="001158"/>
                </a:solidFill>
                <a:latin typeface="Georgia"/>
                <a:cs typeface="Georgia"/>
              </a:rPr>
              <a:t> </a:t>
            </a:r>
            <a:r>
              <a:rPr sz="2800" spc="-10" dirty="0">
                <a:solidFill>
                  <a:srgbClr val="001158"/>
                </a:solidFill>
                <a:latin typeface="Georgia"/>
                <a:cs typeface="Georgia"/>
              </a:rPr>
              <a:t>session)</a:t>
            </a:r>
            <a:endParaRPr sz="2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316" y="4849737"/>
            <a:ext cx="5027782" cy="127580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12198350" cy="4522470"/>
          </a:xfrm>
          <a:custGeom>
            <a:avLst/>
            <a:gdLst/>
            <a:ahLst/>
            <a:cxnLst/>
            <a:rect l="l" t="t" r="r" b="b"/>
            <a:pathLst>
              <a:path w="12198350" h="4522470">
                <a:moveTo>
                  <a:pt x="12198350" y="0"/>
                </a:moveTo>
                <a:lnTo>
                  <a:pt x="0" y="0"/>
                </a:lnTo>
                <a:lnTo>
                  <a:pt x="0" y="4521936"/>
                </a:lnTo>
                <a:lnTo>
                  <a:pt x="12198350" y="4521936"/>
                </a:lnTo>
                <a:lnTo>
                  <a:pt x="12198350" y="0"/>
                </a:lnTo>
                <a:close/>
              </a:path>
            </a:pathLst>
          </a:custGeom>
          <a:solidFill>
            <a:srgbClr val="00115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77962" y="1432052"/>
            <a:ext cx="69818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</a:rPr>
              <a:t>Thanks!</a:t>
            </a:r>
            <a:r>
              <a:rPr sz="5400" spc="-135" dirty="0">
                <a:solidFill>
                  <a:srgbClr val="FFFFFF"/>
                </a:solidFill>
              </a:rPr>
              <a:t> </a:t>
            </a:r>
            <a:r>
              <a:rPr sz="5400" spc="-10" dirty="0">
                <a:solidFill>
                  <a:srgbClr val="FFFFFF"/>
                </a:solidFill>
              </a:rPr>
              <a:t>Questions?</a:t>
            </a:r>
            <a:endParaRPr sz="5400"/>
          </a:p>
        </p:txBody>
      </p:sp>
      <p:sp>
        <p:nvSpPr>
          <p:cNvPr id="5" name="object 5"/>
          <p:cNvSpPr txBox="1"/>
          <p:nvPr/>
        </p:nvSpPr>
        <p:spPr>
          <a:xfrm>
            <a:off x="6346875" y="5427979"/>
            <a:ext cx="4131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eorgia"/>
                <a:cs typeface="Georgia"/>
              </a:rPr>
              <a:t>Material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from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Mirman</a:t>
            </a:r>
            <a:r>
              <a:rPr sz="1800" spc="-50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Tutorial</a:t>
            </a:r>
            <a:r>
              <a:rPr sz="1800" spc="-55" dirty="0">
                <a:latin typeface="Georgia"/>
                <a:cs typeface="Georgia"/>
              </a:rPr>
              <a:t> </a:t>
            </a:r>
            <a:r>
              <a:rPr sz="1800" dirty="0">
                <a:latin typeface="Georgia"/>
                <a:cs typeface="Georgia"/>
              </a:rPr>
              <a:t>and</a:t>
            </a:r>
            <a:r>
              <a:rPr sz="1800" spc="-40" dirty="0">
                <a:latin typeface="Georgia"/>
                <a:cs typeface="Georgia"/>
              </a:rPr>
              <a:t> </a:t>
            </a:r>
            <a:r>
              <a:rPr sz="1800" u="sng" spc="-20" dirty="0">
                <a:solidFill>
                  <a:srgbClr val="0033CC"/>
                </a:solidFill>
                <a:uFill>
                  <a:solidFill>
                    <a:srgbClr val="0033CC"/>
                  </a:solidFill>
                </a:uFill>
                <a:latin typeface="Georgia"/>
                <a:cs typeface="Georgia"/>
                <a:hlinkClick r:id="rId3"/>
              </a:rPr>
              <a:t>here</a:t>
            </a:r>
            <a:endParaRPr sz="1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33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214</TotalTime>
  <Words>1124</Words>
  <Application>Microsoft Office PowerPoint</Application>
  <PresentationFormat>Custom</PresentationFormat>
  <Paragraphs>133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Georgia</vt:lpstr>
      <vt:lpstr>Office Theme</vt:lpstr>
      <vt:lpstr>Statistics for CSAI II 12 – Growth Curve Modeling/Mixed models</vt:lpstr>
      <vt:lpstr>Modules</vt:lpstr>
      <vt:lpstr>Outline</vt:lpstr>
      <vt:lpstr>Mixed Models and Growth Curve Modeling</vt:lpstr>
      <vt:lpstr>When to use Growth Curve Modeling</vt:lpstr>
      <vt:lpstr>Process of building growth curve models</vt:lpstr>
      <vt:lpstr>Exercise 1: Run a series of growth models</vt:lpstr>
      <vt:lpstr>Example using ChickWeight data set</vt:lpstr>
      <vt:lpstr>Comparisons of model fit</vt:lpstr>
      <vt:lpstr>Exercise 2: Compare fit of growth models</vt:lpstr>
      <vt:lpstr>Example using ChickWeight data set (cont.)</vt:lpstr>
      <vt:lpstr>Functional form of growth curve</vt:lpstr>
      <vt:lpstr>PowerPoint Presentation</vt:lpstr>
      <vt:lpstr>PowerPoint Presentation</vt:lpstr>
      <vt:lpstr>PowerPoint Presentation</vt:lpstr>
      <vt:lpstr>Specifying random effects</vt:lpstr>
      <vt:lpstr>PowerPoint Presentation</vt:lpstr>
      <vt:lpstr>Reporting results from growth curve analysis</vt:lpstr>
      <vt:lpstr>Visualizing growth curve models</vt:lpstr>
      <vt:lpstr>Preparing for end of course</vt:lpstr>
      <vt:lpstr>Thanks!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Travis Wiltshire</cp:lastModifiedBy>
  <cp:revision>1</cp:revision>
  <dcterms:created xsi:type="dcterms:W3CDTF">2025-11-17T11:11:44Z</dcterms:created>
  <dcterms:modified xsi:type="dcterms:W3CDTF">2025-11-17T14:46:28Z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2023-11-20T00:00:00Z</vt:filetime>
  </property>
  <property fmtid="{D5CDD505-2E9C-101B-9397-08002B2CF9AE}" pid="3" name="LastSaved">
    <vt:filetime>2025-11-17T00:00:00Z</vt:filetime>
  </property>
  <property fmtid="{D5CDD505-2E9C-101B-9397-08002B2CF9AE}" pid="4" name="Producer">
    <vt:lpwstr>macOS Version 13.5.2 (Build 22G91) Quartz PDFContext</vt:lpwstr>
  </property>
</Properties>
</file>