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8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1960" y="222097"/>
            <a:ext cx="894651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0480"/>
            <a:ext cx="854329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205716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0" y="633982"/>
            <a:ext cx="1133857" cy="101193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24415" y="499872"/>
            <a:ext cx="1085088" cy="147523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4223" y="4401311"/>
            <a:ext cx="560831" cy="9753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66431" y="4401311"/>
            <a:ext cx="621792" cy="9753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46719" y="4401311"/>
            <a:ext cx="646176" cy="9753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27007" y="4401311"/>
            <a:ext cx="548641" cy="9753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449567"/>
            <a:ext cx="12192000" cy="3901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53336"/>
            <a:ext cx="12198350" cy="405130"/>
          </a:xfrm>
          <a:custGeom>
            <a:avLst/>
            <a:gdLst/>
            <a:ahLst/>
            <a:cxnLst/>
            <a:rect l="l" t="t" r="r" b="b"/>
            <a:pathLst>
              <a:path w="12198350" h="405129">
                <a:moveTo>
                  <a:pt x="12198350" y="0"/>
                </a:moveTo>
                <a:lnTo>
                  <a:pt x="0" y="0"/>
                </a:lnTo>
                <a:lnTo>
                  <a:pt x="0" y="404663"/>
                </a:lnTo>
                <a:lnTo>
                  <a:pt x="12198350" y="404663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962" y="497332"/>
            <a:ext cx="1127188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67810" y="2355596"/>
            <a:ext cx="5149215" cy="300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7384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lsevier.com/locate/jml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316" y="4880691"/>
            <a:ext cx="5027777" cy="127579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"/>
            <a:ext cx="12198350" cy="4522470"/>
            <a:chOff x="0" y="1"/>
            <a:chExt cx="12198350" cy="4522470"/>
          </a:xfrm>
        </p:grpSpPr>
        <p:sp>
          <p:nvSpPr>
            <p:cNvPr id="4" name="object 4"/>
            <p:cNvSpPr/>
            <p:nvPr/>
          </p:nvSpPr>
          <p:spPr>
            <a:xfrm>
              <a:off x="0" y="3719335"/>
              <a:ext cx="12198350" cy="802640"/>
            </a:xfrm>
            <a:custGeom>
              <a:avLst/>
              <a:gdLst/>
              <a:ahLst/>
              <a:cxnLst/>
              <a:rect l="l" t="t" r="r" b="b"/>
              <a:pathLst>
                <a:path w="12198350" h="802639">
                  <a:moveTo>
                    <a:pt x="0" y="802599"/>
                  </a:moveTo>
                  <a:lnTo>
                    <a:pt x="12198350" y="802599"/>
                  </a:lnTo>
                  <a:lnTo>
                    <a:pt x="12198350" y="0"/>
                  </a:lnTo>
                  <a:lnTo>
                    <a:pt x="0" y="0"/>
                  </a:lnTo>
                  <a:lnTo>
                    <a:pt x="0" y="802599"/>
                  </a:lnTo>
                  <a:close/>
                </a:path>
              </a:pathLst>
            </a:custGeom>
            <a:solidFill>
              <a:srgbClr val="859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" y="1"/>
              <a:ext cx="12198350" cy="3719829"/>
            </a:xfrm>
            <a:custGeom>
              <a:avLst/>
              <a:gdLst/>
              <a:ahLst/>
              <a:cxnLst/>
              <a:rect l="l" t="t" r="r" b="b"/>
              <a:pathLst>
                <a:path w="12198350" h="3719829">
                  <a:moveTo>
                    <a:pt x="12198350" y="0"/>
                  </a:moveTo>
                  <a:lnTo>
                    <a:pt x="0" y="0"/>
                  </a:lnTo>
                  <a:lnTo>
                    <a:pt x="0" y="3719334"/>
                  </a:lnTo>
                  <a:lnTo>
                    <a:pt x="12198350" y="3719334"/>
                  </a:lnTo>
                  <a:lnTo>
                    <a:pt x="12198350" y="0"/>
                  </a:lnTo>
                  <a:close/>
                </a:path>
              </a:pathLst>
            </a:custGeom>
            <a:solidFill>
              <a:srgbClr val="0011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77962" y="715771"/>
            <a:ext cx="8600440" cy="228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</a:rPr>
              <a:t>Statistics</a:t>
            </a:r>
            <a:r>
              <a:rPr sz="5400" spc="-10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for</a:t>
            </a:r>
            <a:r>
              <a:rPr sz="5400" spc="-8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CSAI</a:t>
            </a:r>
            <a:r>
              <a:rPr sz="5400" spc="-90" dirty="0">
                <a:solidFill>
                  <a:srgbClr val="FFFFFF"/>
                </a:solidFill>
              </a:rPr>
              <a:t> </a:t>
            </a:r>
            <a:r>
              <a:rPr sz="5400" spc="-25" dirty="0">
                <a:solidFill>
                  <a:srgbClr val="FFFFFF"/>
                </a:solidFill>
              </a:rPr>
              <a:t>II</a:t>
            </a:r>
            <a:endParaRPr sz="5400"/>
          </a:p>
          <a:p>
            <a:pPr marL="2226945" marR="5080" indent="-1300480">
              <a:lnSpc>
                <a:spcPct val="100000"/>
              </a:lnSpc>
              <a:spcBef>
                <a:spcPts val="25"/>
              </a:spcBef>
            </a:pPr>
            <a:r>
              <a:rPr sz="5400" dirty="0">
                <a:solidFill>
                  <a:srgbClr val="FFFFFF"/>
                </a:solidFill>
              </a:rPr>
              <a:t>9</a:t>
            </a:r>
            <a:r>
              <a:rPr sz="5400" spc="-8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–</a:t>
            </a:r>
            <a:r>
              <a:rPr sz="5400" spc="-8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Multiple</a:t>
            </a:r>
            <a:r>
              <a:rPr spc="-7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Regression</a:t>
            </a:r>
            <a:r>
              <a:rPr spc="-7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and </a:t>
            </a:r>
            <a:r>
              <a:rPr spc="-10" dirty="0">
                <a:solidFill>
                  <a:srgbClr val="FFFFFF"/>
                </a:solidFill>
              </a:rPr>
              <a:t>Categories</a:t>
            </a:r>
            <a:endParaRPr sz="5400"/>
          </a:p>
        </p:txBody>
      </p:sp>
      <p:sp>
        <p:nvSpPr>
          <p:cNvPr id="7" name="object 7"/>
          <p:cNvSpPr txBox="1"/>
          <p:nvPr/>
        </p:nvSpPr>
        <p:spPr>
          <a:xfrm>
            <a:off x="11707074" y="6552692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7962" y="3903979"/>
            <a:ext cx="268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Travis</a:t>
            </a:r>
            <a:r>
              <a:rPr sz="2400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J.</a:t>
            </a:r>
            <a:r>
              <a:rPr sz="2400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Wiltshire</a:t>
            </a:r>
            <a:r>
              <a:rPr sz="24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Georgia"/>
                <a:cs typeface="Georgia"/>
              </a:rPr>
              <a:t>|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960" y="222097"/>
            <a:ext cx="22720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315" y="1143838"/>
            <a:ext cx="9045575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Introduction</a:t>
            </a:r>
            <a:r>
              <a:rPr sz="2800" spc="-10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Probability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Sampling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Theory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Revisiting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Hypothesis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Testing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&amp;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 to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More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Centering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Checking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endParaRPr sz="2800">
              <a:latin typeface="Georgia"/>
              <a:cs typeface="Georgia"/>
            </a:endParaRPr>
          </a:p>
          <a:p>
            <a:pPr marL="546735" indent="-534035">
              <a:lnSpc>
                <a:spcPct val="100000"/>
              </a:lnSpc>
              <a:buAutoNum type="arabicPeriod"/>
              <a:tabLst>
                <a:tab pos="546735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Interactions</a:t>
            </a:r>
            <a:endParaRPr sz="2800">
              <a:latin typeface="Georgia"/>
              <a:cs typeface="Georgia"/>
            </a:endParaRPr>
          </a:p>
          <a:p>
            <a:pPr marL="546735" indent="-534035">
              <a:lnSpc>
                <a:spcPct val="100000"/>
              </a:lnSpc>
              <a:buFont typeface="Georgia"/>
              <a:buAutoNum type="arabicPeriod"/>
              <a:tabLst>
                <a:tab pos="546735" algn="l"/>
              </a:tabLst>
            </a:pP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i="1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i="1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i="1" spc="-9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spc="-10" dirty="0">
                <a:solidFill>
                  <a:srgbClr val="001158"/>
                </a:solidFill>
                <a:latin typeface="Georgia"/>
                <a:cs typeface="Georgia"/>
              </a:rPr>
              <a:t>Categories</a:t>
            </a:r>
            <a:endParaRPr sz="2800">
              <a:latin typeface="Georgia"/>
              <a:cs typeface="Georgia"/>
            </a:endParaRPr>
          </a:p>
          <a:p>
            <a:pPr marL="563880" indent="-551180">
              <a:lnSpc>
                <a:spcPct val="100000"/>
              </a:lnSpc>
              <a:buAutoNum type="arabicPeriod"/>
              <a:tabLst>
                <a:tab pos="5638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2800">
              <a:latin typeface="Georgia"/>
              <a:cs typeface="Georgia"/>
            </a:endParaRPr>
          </a:p>
          <a:p>
            <a:pPr marL="564515" indent="-551815">
              <a:lnSpc>
                <a:spcPct val="100000"/>
              </a:lnSpc>
              <a:buAutoNum type="arabicPeriod"/>
              <a:tabLst>
                <a:tab pos="5645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Mixed</a:t>
            </a:r>
            <a:r>
              <a:rPr sz="28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endParaRPr sz="2800">
              <a:latin typeface="Georgia"/>
              <a:cs typeface="Georgia"/>
            </a:endParaRPr>
          </a:p>
          <a:p>
            <a:pPr marL="563880" indent="-551180">
              <a:lnSpc>
                <a:spcPct val="100000"/>
              </a:lnSpc>
              <a:buAutoNum type="arabicPeriod"/>
              <a:tabLst>
                <a:tab pos="5638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Growth Curve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Analysis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962" y="290067"/>
            <a:ext cx="1982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3" y="1030732"/>
            <a:ext cx="3546475" cy="296100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9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Dummy</a:t>
            </a:r>
            <a:r>
              <a:rPr sz="2800" spc="-9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Coding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Unweighted</a:t>
            </a:r>
            <a:r>
              <a:rPr sz="28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Weighted</a:t>
            </a:r>
            <a:r>
              <a:rPr sz="2800" spc="-10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Contrast</a:t>
            </a:r>
            <a:r>
              <a:rPr sz="2800" spc="-1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Coding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86435" y="6552692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0275" y="310388"/>
            <a:ext cx="7286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Simple</a:t>
            </a:r>
            <a:r>
              <a:rPr sz="3600" spc="-75" dirty="0"/>
              <a:t> </a:t>
            </a:r>
            <a:r>
              <a:rPr sz="3600" dirty="0"/>
              <a:t>vs.</a:t>
            </a:r>
            <a:r>
              <a:rPr sz="3600" spc="-70" dirty="0"/>
              <a:t> </a:t>
            </a:r>
            <a:r>
              <a:rPr sz="3600" dirty="0"/>
              <a:t>Multiple</a:t>
            </a:r>
            <a:r>
              <a:rPr sz="3600" spc="-75" dirty="0"/>
              <a:t> </a:t>
            </a:r>
            <a:r>
              <a:rPr sz="3600" spc="-10" dirty="0"/>
              <a:t>Regression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0480" y="2355596"/>
            <a:ext cx="3884929" cy="26771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17170" marR="185420" indent="-179705">
              <a:lnSpc>
                <a:spcPct val="90400"/>
              </a:lnSpc>
              <a:spcBef>
                <a:spcPts val="375"/>
              </a:spcBef>
              <a:buFont typeface="Arial"/>
              <a:buChar char="•"/>
              <a:tabLst>
                <a:tab pos="2190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One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dependent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Y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predicted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one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independent</a:t>
            </a:r>
            <a:r>
              <a:rPr sz="24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4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X</a:t>
            </a:r>
            <a:endParaRPr sz="2400">
              <a:latin typeface="Georgia"/>
              <a:cs typeface="Georgia"/>
            </a:endParaRPr>
          </a:p>
          <a:p>
            <a:pPr marL="217804" indent="-179705">
              <a:lnSpc>
                <a:spcPct val="100000"/>
              </a:lnSpc>
              <a:spcBef>
                <a:spcPts val="910"/>
              </a:spcBef>
              <a:buFont typeface="Arial"/>
              <a:buChar char="•"/>
              <a:tabLst>
                <a:tab pos="2178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One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coefficient</a:t>
            </a:r>
            <a:endParaRPr sz="2400">
              <a:latin typeface="Georgia"/>
              <a:cs typeface="Georgia"/>
            </a:endParaRPr>
          </a:p>
          <a:p>
            <a:pPr marL="217170" marR="30480" indent="-179705">
              <a:lnSpc>
                <a:spcPts val="2590"/>
              </a:lnSpc>
              <a:spcBef>
                <a:spcPts val="1265"/>
              </a:spcBef>
              <a:buFont typeface="Arial"/>
              <a:buChar char="•"/>
              <a:tabLst>
                <a:tab pos="218440" algn="l"/>
              </a:tabLst>
            </a:pPr>
            <a:r>
              <a:rPr sz="2400" b="1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400" b="1" baseline="24305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proportion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variation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dependent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Y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predictable</a:t>
            </a:r>
            <a:r>
              <a:rPr sz="24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4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X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17170" marR="30480" indent="-179705" algn="just">
              <a:lnSpc>
                <a:spcPct val="90400"/>
              </a:lnSpc>
              <a:spcBef>
                <a:spcPts val="375"/>
              </a:spcBef>
              <a:buFont typeface="Arial"/>
              <a:buChar char="•"/>
              <a:tabLst>
                <a:tab pos="219075" algn="l"/>
              </a:tabLst>
            </a:pPr>
            <a:r>
              <a:rPr dirty="0"/>
              <a:t>One</a:t>
            </a:r>
            <a:r>
              <a:rPr spc="-40" dirty="0"/>
              <a:t> </a:t>
            </a:r>
            <a:r>
              <a:rPr dirty="0"/>
              <a:t>dependent</a:t>
            </a:r>
            <a:r>
              <a:rPr spc="-50" dirty="0"/>
              <a:t> </a:t>
            </a:r>
            <a:r>
              <a:rPr dirty="0"/>
              <a:t>variable</a:t>
            </a:r>
            <a:r>
              <a:rPr spc="-35" dirty="0"/>
              <a:t> </a:t>
            </a:r>
            <a:r>
              <a:rPr dirty="0"/>
              <a:t>Y</a:t>
            </a:r>
            <a:r>
              <a:rPr spc="-45" dirty="0"/>
              <a:t> </a:t>
            </a:r>
            <a:r>
              <a:rPr spc="-10" dirty="0"/>
              <a:t>predicted 	</a:t>
            </a:r>
            <a:r>
              <a:rPr dirty="0"/>
              <a:t>from</a:t>
            </a:r>
            <a:r>
              <a:rPr spc="-30" dirty="0"/>
              <a:t> </a:t>
            </a:r>
            <a:r>
              <a:rPr b="1" dirty="0">
                <a:latin typeface="Georgia"/>
                <a:cs typeface="Georgia"/>
              </a:rPr>
              <a:t>a</a:t>
            </a:r>
            <a:r>
              <a:rPr b="1" spc="-25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set</a:t>
            </a:r>
            <a:r>
              <a:rPr b="1" spc="-15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of</a:t>
            </a:r>
            <a:r>
              <a:rPr b="1" spc="-30" dirty="0">
                <a:latin typeface="Georgia"/>
                <a:cs typeface="Georgia"/>
              </a:rPr>
              <a:t> </a:t>
            </a:r>
            <a:r>
              <a:rPr dirty="0"/>
              <a:t>independent</a:t>
            </a:r>
            <a:r>
              <a:rPr spc="-25" dirty="0"/>
              <a:t> </a:t>
            </a:r>
            <a:r>
              <a:rPr spc="-10" dirty="0"/>
              <a:t>variables 	</a:t>
            </a:r>
            <a:r>
              <a:rPr dirty="0"/>
              <a:t>(X1,</a:t>
            </a:r>
            <a:r>
              <a:rPr spc="-25" dirty="0"/>
              <a:t> </a:t>
            </a:r>
            <a:r>
              <a:rPr dirty="0"/>
              <a:t>X2</a:t>
            </a:r>
            <a:r>
              <a:rPr spc="-30" dirty="0"/>
              <a:t> </a:t>
            </a:r>
            <a:r>
              <a:rPr spc="-10" dirty="0"/>
              <a:t>….Xk)</a:t>
            </a:r>
          </a:p>
          <a:p>
            <a:pPr marL="217170" marR="274320" indent="-179705">
              <a:lnSpc>
                <a:spcPts val="2620"/>
              </a:lnSpc>
              <a:spcBef>
                <a:spcPts val="1215"/>
              </a:spcBef>
              <a:buFont typeface="Arial"/>
              <a:buChar char="•"/>
              <a:tabLst>
                <a:tab pos="219075" algn="l"/>
              </a:tabLst>
            </a:pPr>
            <a:r>
              <a:rPr dirty="0"/>
              <a:t>One</a:t>
            </a:r>
            <a:r>
              <a:rPr spc="-55" dirty="0"/>
              <a:t> </a:t>
            </a:r>
            <a:r>
              <a:rPr dirty="0"/>
              <a:t>regression</a:t>
            </a:r>
            <a:r>
              <a:rPr spc="-60" dirty="0"/>
              <a:t> </a:t>
            </a:r>
            <a:r>
              <a:rPr dirty="0"/>
              <a:t>coefficient</a:t>
            </a:r>
            <a:r>
              <a:rPr spc="-65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20" dirty="0"/>
              <a:t>each 	</a:t>
            </a:r>
            <a:r>
              <a:rPr dirty="0"/>
              <a:t>independent</a:t>
            </a:r>
            <a:r>
              <a:rPr spc="-85" dirty="0"/>
              <a:t> </a:t>
            </a:r>
            <a:r>
              <a:rPr spc="-10" dirty="0"/>
              <a:t>variable</a:t>
            </a:r>
          </a:p>
          <a:p>
            <a:pPr marL="217170" marR="93980" indent="-179705">
              <a:lnSpc>
                <a:spcPct val="90400"/>
              </a:lnSpc>
              <a:spcBef>
                <a:spcPts val="1140"/>
              </a:spcBef>
              <a:buFont typeface="Arial"/>
              <a:buChar char="•"/>
              <a:tabLst>
                <a:tab pos="218440" algn="l"/>
              </a:tabLst>
            </a:pPr>
            <a:r>
              <a:rPr b="1" dirty="0">
                <a:latin typeface="Georgia"/>
                <a:cs typeface="Georgia"/>
              </a:rPr>
              <a:t>R</a:t>
            </a:r>
            <a:r>
              <a:rPr sz="2400" b="1" baseline="24305" dirty="0">
                <a:latin typeface="Georgia"/>
                <a:cs typeface="Georgia"/>
              </a:rPr>
              <a:t>2</a:t>
            </a:r>
            <a:r>
              <a:rPr sz="2400" dirty="0"/>
              <a:t>:</a:t>
            </a:r>
            <a:r>
              <a:rPr sz="2400" spc="-50" dirty="0"/>
              <a:t> </a:t>
            </a:r>
            <a:r>
              <a:rPr sz="2400" dirty="0"/>
              <a:t>proportion</a:t>
            </a:r>
            <a:r>
              <a:rPr sz="2400" spc="-50" dirty="0"/>
              <a:t> </a:t>
            </a:r>
            <a:r>
              <a:rPr sz="2400" dirty="0"/>
              <a:t>of</a:t>
            </a:r>
            <a:r>
              <a:rPr sz="2400" spc="-55" dirty="0"/>
              <a:t> </a:t>
            </a:r>
            <a:r>
              <a:rPr sz="2400" dirty="0"/>
              <a:t>variation</a:t>
            </a:r>
            <a:r>
              <a:rPr sz="2400" spc="-50" dirty="0"/>
              <a:t> </a:t>
            </a:r>
            <a:r>
              <a:rPr sz="2400" spc="-25" dirty="0"/>
              <a:t>in 	</a:t>
            </a:r>
            <a:r>
              <a:rPr sz="2400" dirty="0"/>
              <a:t>dependent</a:t>
            </a:r>
            <a:r>
              <a:rPr sz="2400" spc="-55" dirty="0"/>
              <a:t> </a:t>
            </a:r>
            <a:r>
              <a:rPr sz="2400" dirty="0"/>
              <a:t>variable</a:t>
            </a:r>
            <a:r>
              <a:rPr sz="2400" spc="-45" dirty="0"/>
              <a:t> </a:t>
            </a:r>
            <a:r>
              <a:rPr sz="2400" dirty="0"/>
              <a:t>Y</a:t>
            </a:r>
            <a:r>
              <a:rPr sz="2400" spc="-50" dirty="0"/>
              <a:t> </a:t>
            </a:r>
            <a:r>
              <a:rPr sz="2400" dirty="0"/>
              <a:t>predictable</a:t>
            </a:r>
            <a:r>
              <a:rPr sz="2400" spc="-45" dirty="0"/>
              <a:t> </a:t>
            </a:r>
            <a:r>
              <a:rPr sz="2400" spc="-25" dirty="0"/>
              <a:t>by 	</a:t>
            </a:r>
            <a:r>
              <a:rPr sz="2400" b="1" u="sng" dirty="0"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set</a:t>
            </a:r>
            <a:r>
              <a:rPr sz="2400" b="1" u="sng" spc="-60" dirty="0"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400" b="1" u="sng" dirty="0"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of</a:t>
            </a:r>
            <a:r>
              <a:rPr sz="2400" b="1" u="sng" spc="-55" dirty="0"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400" u="none" dirty="0"/>
              <a:t>independent</a:t>
            </a:r>
            <a:r>
              <a:rPr sz="2400" u="none" spc="-55" dirty="0"/>
              <a:t> </a:t>
            </a:r>
            <a:r>
              <a:rPr sz="2400" u="none" dirty="0"/>
              <a:t>variables</a:t>
            </a:r>
            <a:r>
              <a:rPr sz="2400" u="none" spc="-55" dirty="0"/>
              <a:t> </a:t>
            </a:r>
            <a:r>
              <a:rPr sz="2400" u="none" spc="-10" dirty="0"/>
              <a:t>(X’s)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363" y="5950203"/>
            <a:ext cx="5372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A</a:t>
            </a:r>
            <a:r>
              <a:rPr sz="2800" u="sng" spc="-3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 </a:t>
            </a:r>
            <a:r>
              <a:rPr sz="2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more</a:t>
            </a:r>
            <a:r>
              <a:rPr sz="2800" u="sng" spc="-3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 </a:t>
            </a:r>
            <a:r>
              <a:rPr sz="2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in</a:t>
            </a:r>
            <a:r>
              <a:rPr sz="2800" u="sng" spc="-3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 </a:t>
            </a:r>
            <a:r>
              <a:rPr sz="2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depth</a:t>
            </a:r>
            <a:r>
              <a:rPr sz="2800" u="sng" spc="-3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 </a:t>
            </a:r>
            <a:r>
              <a:rPr sz="2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comparison</a:t>
            </a:r>
            <a:r>
              <a:rPr sz="2800" u="sng" spc="-3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 </a:t>
            </a:r>
            <a:r>
              <a:rPr sz="2800" u="sng" spc="-2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here</a:t>
            </a:r>
            <a:r>
              <a:rPr sz="2800" u="sng" spc="70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 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88024" y="6552692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8055" y="1191767"/>
            <a:ext cx="3740150" cy="1036319"/>
            <a:chOff x="448055" y="1191767"/>
            <a:chExt cx="3740150" cy="103631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311" y="1246631"/>
              <a:ext cx="3596640" cy="7985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055" y="1191767"/>
              <a:ext cx="3721608" cy="103631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8579" y="1303919"/>
            <a:ext cx="3426460" cy="631190"/>
          </a:xfrm>
          <a:prstGeom prst="rect">
            <a:avLst/>
          </a:prstGeom>
          <a:solidFill>
            <a:srgbClr val="FFFF00"/>
          </a:solidFill>
          <a:ln w="32751">
            <a:solidFill>
              <a:srgbClr val="8592BC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3500" i="1" dirty="0">
                <a:latin typeface="Times New Roman"/>
                <a:cs typeface="Times New Roman"/>
              </a:rPr>
              <a:t>Y</a:t>
            </a:r>
            <a:r>
              <a:rPr sz="3450" i="1" baseline="-19323" dirty="0">
                <a:latin typeface="Times New Roman"/>
                <a:cs typeface="Times New Roman"/>
              </a:rPr>
              <a:t>i</a:t>
            </a:r>
            <a:r>
              <a:rPr sz="3450" i="1" spc="375" baseline="-19323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=</a:t>
            </a:r>
            <a:r>
              <a:rPr sz="3500" i="1" spc="-5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b</a:t>
            </a:r>
            <a:r>
              <a:rPr sz="3450" i="1" baseline="-19323" dirty="0">
                <a:latin typeface="Times New Roman"/>
                <a:cs typeface="Times New Roman"/>
              </a:rPr>
              <a:t>0</a:t>
            </a:r>
            <a:r>
              <a:rPr sz="3450" i="1" spc="375" baseline="-19323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+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b</a:t>
            </a:r>
            <a:r>
              <a:rPr sz="3450" i="1" baseline="-19323" dirty="0">
                <a:latin typeface="Times New Roman"/>
                <a:cs typeface="Times New Roman"/>
              </a:rPr>
              <a:t>1</a:t>
            </a:r>
            <a:r>
              <a:rPr sz="3500" i="1" dirty="0">
                <a:latin typeface="Times New Roman"/>
                <a:cs typeface="Times New Roman"/>
              </a:rPr>
              <a:t>X</a:t>
            </a:r>
            <a:r>
              <a:rPr sz="3450" i="1" baseline="-19323" dirty="0">
                <a:latin typeface="Times New Roman"/>
                <a:cs typeface="Times New Roman"/>
              </a:rPr>
              <a:t>i</a:t>
            </a:r>
            <a:r>
              <a:rPr sz="3450" i="1" spc="382" baseline="-19323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+</a:t>
            </a:r>
            <a:r>
              <a:rPr sz="3500" i="1" spc="-60" dirty="0">
                <a:latin typeface="Times New Roman"/>
                <a:cs typeface="Times New Roman"/>
              </a:rPr>
              <a:t> </a:t>
            </a:r>
            <a:r>
              <a:rPr sz="3500" i="1" spc="-25" dirty="0">
                <a:latin typeface="Times New Roman"/>
                <a:cs typeface="Times New Roman"/>
              </a:rPr>
              <a:t>ε</a:t>
            </a:r>
            <a:r>
              <a:rPr sz="3450" i="1" spc="-37" baseline="-19323" dirty="0">
                <a:latin typeface="Times New Roman"/>
                <a:cs typeface="Times New Roman"/>
              </a:rPr>
              <a:t>i</a:t>
            </a:r>
            <a:endParaRPr sz="3450" baseline="-19323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50079" y="1191767"/>
            <a:ext cx="7580630" cy="1036319"/>
            <a:chOff x="4450079" y="1191767"/>
            <a:chExt cx="7580630" cy="1036319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3335" y="1246631"/>
              <a:ext cx="7437119" cy="7985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0079" y="1191767"/>
              <a:ext cx="7559040" cy="103631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651375" y="1303919"/>
            <a:ext cx="7263130" cy="631190"/>
          </a:xfrm>
          <a:prstGeom prst="rect">
            <a:avLst/>
          </a:prstGeom>
          <a:solidFill>
            <a:srgbClr val="FFFF00"/>
          </a:solidFill>
          <a:ln w="32751">
            <a:solidFill>
              <a:srgbClr val="8592BC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sz="3500" i="1" dirty="0">
                <a:latin typeface="Times New Roman"/>
                <a:cs typeface="Times New Roman"/>
              </a:rPr>
              <a:t>Y</a:t>
            </a:r>
            <a:r>
              <a:rPr sz="3450" i="1" baseline="-19323" dirty="0">
                <a:latin typeface="Times New Roman"/>
                <a:cs typeface="Times New Roman"/>
              </a:rPr>
              <a:t>i</a:t>
            </a:r>
            <a:r>
              <a:rPr sz="3450" i="1" spc="405" baseline="-19323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=</a:t>
            </a:r>
            <a:r>
              <a:rPr sz="3500" i="1" spc="-3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b</a:t>
            </a:r>
            <a:r>
              <a:rPr sz="3450" i="1" baseline="-19323" dirty="0">
                <a:latin typeface="Times New Roman"/>
                <a:cs typeface="Times New Roman"/>
              </a:rPr>
              <a:t>0</a:t>
            </a:r>
            <a:r>
              <a:rPr sz="3450" i="1" spc="412" baseline="-19323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+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b</a:t>
            </a:r>
            <a:r>
              <a:rPr sz="3450" i="1" baseline="-19323" dirty="0">
                <a:latin typeface="Times New Roman"/>
                <a:cs typeface="Times New Roman"/>
              </a:rPr>
              <a:t>1</a:t>
            </a:r>
            <a:r>
              <a:rPr sz="3500" i="1" dirty="0">
                <a:latin typeface="Times New Roman"/>
                <a:cs typeface="Times New Roman"/>
              </a:rPr>
              <a:t>X1</a:t>
            </a:r>
            <a:r>
              <a:rPr sz="3450" i="1" baseline="-19323" dirty="0">
                <a:latin typeface="Times New Roman"/>
                <a:cs typeface="Times New Roman"/>
              </a:rPr>
              <a:t>i</a:t>
            </a:r>
            <a:r>
              <a:rPr sz="3450" i="1" spc="412" baseline="-19323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+</a:t>
            </a:r>
            <a:r>
              <a:rPr sz="3500" i="1" spc="-3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b</a:t>
            </a:r>
            <a:r>
              <a:rPr sz="3450" i="1" baseline="-19323" dirty="0">
                <a:latin typeface="Times New Roman"/>
                <a:cs typeface="Times New Roman"/>
              </a:rPr>
              <a:t>2</a:t>
            </a:r>
            <a:r>
              <a:rPr sz="3500" i="1" dirty="0">
                <a:latin typeface="Times New Roman"/>
                <a:cs typeface="Times New Roman"/>
              </a:rPr>
              <a:t>X2</a:t>
            </a:r>
            <a:r>
              <a:rPr sz="3450" i="1" baseline="-19323" dirty="0">
                <a:latin typeface="Times New Roman"/>
                <a:cs typeface="Times New Roman"/>
              </a:rPr>
              <a:t>i </a:t>
            </a:r>
            <a:r>
              <a:rPr sz="3500" dirty="0">
                <a:latin typeface="Times New Roman"/>
                <a:cs typeface="Times New Roman"/>
              </a:rPr>
              <a:t>+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...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+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b</a:t>
            </a:r>
            <a:r>
              <a:rPr sz="3450" i="1" baseline="-19323" dirty="0">
                <a:latin typeface="Times New Roman"/>
                <a:cs typeface="Times New Roman"/>
              </a:rPr>
              <a:t>k</a:t>
            </a:r>
            <a:r>
              <a:rPr sz="3500" i="1" dirty="0">
                <a:latin typeface="Times New Roman"/>
                <a:cs typeface="Times New Roman"/>
              </a:rPr>
              <a:t>Xk</a:t>
            </a:r>
            <a:r>
              <a:rPr sz="3450" i="1" baseline="-19323" dirty="0">
                <a:latin typeface="Times New Roman"/>
                <a:cs typeface="Times New Roman"/>
              </a:rPr>
              <a:t>i</a:t>
            </a:r>
            <a:r>
              <a:rPr sz="3450" i="1" spc="412" baseline="-19323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+</a:t>
            </a:r>
            <a:r>
              <a:rPr sz="3500" i="1" spc="-35" dirty="0">
                <a:latin typeface="Times New Roman"/>
                <a:cs typeface="Times New Roman"/>
              </a:rPr>
              <a:t> </a:t>
            </a:r>
            <a:r>
              <a:rPr sz="3500" i="1" spc="-25" dirty="0">
                <a:latin typeface="Times New Roman"/>
                <a:cs typeface="Times New Roman"/>
              </a:rPr>
              <a:t>ε</a:t>
            </a:r>
            <a:r>
              <a:rPr sz="3450" i="1" spc="-37" baseline="-19323" dirty="0">
                <a:latin typeface="Times New Roman"/>
                <a:cs typeface="Times New Roman"/>
              </a:rPr>
              <a:t>i</a:t>
            </a:r>
            <a:endParaRPr sz="3450" baseline="-1932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962" y="354075"/>
            <a:ext cx="1123886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When</a:t>
            </a:r>
            <a:r>
              <a:rPr spc="-5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we</a:t>
            </a:r>
            <a:r>
              <a:rPr spc="-60" dirty="0"/>
              <a:t> </a:t>
            </a:r>
            <a:r>
              <a:rPr dirty="0"/>
              <a:t>need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think</a:t>
            </a:r>
            <a:r>
              <a:rPr spc="-65" dirty="0"/>
              <a:t> </a:t>
            </a:r>
            <a:r>
              <a:rPr dirty="0"/>
              <a:t>about</a:t>
            </a:r>
            <a:r>
              <a:rPr spc="-60" dirty="0"/>
              <a:t> </a:t>
            </a:r>
            <a:r>
              <a:rPr spc="-10" dirty="0"/>
              <a:t>categories </a:t>
            </a:r>
            <a:r>
              <a:rPr dirty="0"/>
              <a:t>for</a:t>
            </a:r>
            <a:r>
              <a:rPr spc="-85" dirty="0"/>
              <a:t> </a:t>
            </a:r>
            <a:r>
              <a:rPr dirty="0"/>
              <a:t>regression</a:t>
            </a:r>
            <a:r>
              <a:rPr spc="-75" dirty="0"/>
              <a:t> </a:t>
            </a:r>
            <a:r>
              <a:rPr spc="-10" dirty="0"/>
              <a:t>analysis?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2" y="1765299"/>
            <a:ext cx="6480810" cy="42227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3040" marR="105410" indent="-18097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If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have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nominal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ordinal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predictor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consisting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multiple categories</a:t>
            </a:r>
            <a:endParaRPr sz="2800">
              <a:latin typeface="Georgia"/>
              <a:cs typeface="Georgia"/>
            </a:endParaRPr>
          </a:p>
          <a:p>
            <a:pPr marL="193040" marR="5080" indent="-180975">
              <a:lnSpc>
                <a:spcPts val="3100"/>
              </a:lnSpc>
              <a:spcBef>
                <a:spcPts val="112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If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there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more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groups/categories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our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predictors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920"/>
              </a:spcBef>
            </a:pPr>
            <a:endParaRPr sz="2800">
              <a:latin typeface="Georgia"/>
              <a:cs typeface="Georgia"/>
            </a:endParaRPr>
          </a:p>
          <a:p>
            <a:pPr marL="103505" marR="288290">
              <a:lnSpc>
                <a:spcPct val="101400"/>
              </a:lnSpc>
            </a:pPr>
            <a:r>
              <a:rPr sz="2800" dirty="0">
                <a:solidFill>
                  <a:srgbClr val="001158"/>
                </a:solidFill>
                <a:latin typeface="Cambria Math"/>
                <a:cs typeface="Cambria Math"/>
              </a:rPr>
              <a:t>⇒</a:t>
            </a:r>
            <a:r>
              <a:rPr sz="2800" spc="15" dirty="0">
                <a:solidFill>
                  <a:srgbClr val="001158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modeling,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need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to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convert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these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categories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into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(sets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of)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numerical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F46E32"/>
                </a:solidFill>
                <a:latin typeface="Georgia"/>
                <a:cs typeface="Georgia"/>
              </a:rPr>
              <a:t>code</a:t>
            </a:r>
            <a:r>
              <a:rPr sz="2800" spc="-50" dirty="0">
                <a:solidFill>
                  <a:srgbClr val="F46E32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F46E32"/>
                </a:solidFill>
                <a:latin typeface="Georgia"/>
                <a:cs typeface="Georgia"/>
              </a:rPr>
              <a:t>variables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86435" y="6552692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9775" y="1746474"/>
            <a:ext cx="4419600" cy="4384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460" y="210820"/>
            <a:ext cx="101949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Coding</a:t>
            </a:r>
            <a:r>
              <a:rPr spc="-85" dirty="0"/>
              <a:t> </a:t>
            </a:r>
            <a:r>
              <a:rPr dirty="0"/>
              <a:t>Systems</a:t>
            </a:r>
            <a:r>
              <a:rPr spc="-90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dirty="0"/>
              <a:t>Multiple</a:t>
            </a:r>
            <a:r>
              <a:rPr spc="-90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273" y="1256284"/>
            <a:ext cx="5817870" cy="39109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2405" marR="671195" indent="-18034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All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coding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systems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use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spc="-10" dirty="0">
                <a:solidFill>
                  <a:srgbClr val="001158"/>
                </a:solidFill>
                <a:latin typeface="Georgia"/>
                <a:cs typeface="Georgia"/>
              </a:rPr>
              <a:t>g-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1</a:t>
            </a:r>
            <a:r>
              <a:rPr sz="2800" i="1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code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represent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g</a:t>
            </a:r>
            <a:r>
              <a:rPr sz="2800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groups.</a:t>
            </a:r>
            <a:endParaRPr sz="2800">
              <a:latin typeface="Georgia"/>
              <a:cs typeface="Georgia"/>
            </a:endParaRPr>
          </a:p>
          <a:p>
            <a:pPr marL="192405" marR="5080" indent="-180340">
              <a:lnSpc>
                <a:spcPts val="3000"/>
              </a:lnSpc>
              <a:spcBef>
                <a:spcPts val="1195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code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represents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a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single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distinction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among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groups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All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groups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endParaRPr sz="2800">
              <a:latin typeface="Georgia"/>
              <a:cs typeface="Georgia"/>
            </a:endParaRPr>
          </a:p>
          <a:p>
            <a:pPr marL="372745" marR="616585" lvl="1" indent="-179705">
              <a:lnSpc>
                <a:spcPts val="2500"/>
              </a:lnSpc>
              <a:spcBef>
                <a:spcPts val="1355"/>
              </a:spcBef>
              <a:buFont typeface="Arial"/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Mutually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exclusive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(no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individual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in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more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than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one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group)</a:t>
            </a:r>
            <a:endParaRPr sz="2400">
              <a:latin typeface="Georgia"/>
              <a:cs typeface="Georgia"/>
            </a:endParaRPr>
          </a:p>
          <a:p>
            <a:pPr marL="372745" marR="125730" lvl="1" indent="-179705">
              <a:lnSpc>
                <a:spcPts val="2620"/>
              </a:lnSpc>
              <a:spcBef>
                <a:spcPts val="1195"/>
              </a:spcBef>
              <a:buFont typeface="Arial"/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Exhaustive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(all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individuals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one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of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groups)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91198" y="6552692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6235" y="1958953"/>
            <a:ext cx="5753098" cy="32480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3" y="84708"/>
            <a:ext cx="3279140" cy="723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477D93"/>
                </a:solidFill>
                <a:latin typeface="Palatino Linotype"/>
                <a:cs typeface="Palatino Linotype"/>
              </a:rPr>
              <a:t>Journal</a:t>
            </a:r>
            <a:r>
              <a:rPr sz="1200" spc="-30" dirty="0">
                <a:solidFill>
                  <a:srgbClr val="477D93"/>
                </a:solidFill>
                <a:latin typeface="Palatino Linotype"/>
                <a:cs typeface="Palatino Linotype"/>
              </a:rPr>
              <a:t> </a:t>
            </a:r>
            <a:r>
              <a:rPr sz="1200" spc="-45" dirty="0">
                <a:solidFill>
                  <a:srgbClr val="477D93"/>
                </a:solidFill>
                <a:latin typeface="Palatino Linotype"/>
                <a:cs typeface="Palatino Linotype"/>
              </a:rPr>
              <a:t>of </a:t>
            </a:r>
            <a:r>
              <a:rPr sz="1200" spc="-114" dirty="0">
                <a:solidFill>
                  <a:srgbClr val="477D93"/>
                </a:solidFill>
                <a:latin typeface="Palatino Linotype"/>
                <a:cs typeface="Palatino Linotype"/>
              </a:rPr>
              <a:t>Memory</a:t>
            </a:r>
            <a:r>
              <a:rPr sz="1200" spc="40" dirty="0">
                <a:solidFill>
                  <a:srgbClr val="477D93"/>
                </a:solidFill>
                <a:latin typeface="Palatino Linotype"/>
                <a:cs typeface="Palatino Linotype"/>
              </a:rPr>
              <a:t> </a:t>
            </a:r>
            <a:r>
              <a:rPr sz="1200" spc="-110" dirty="0">
                <a:solidFill>
                  <a:srgbClr val="477D93"/>
                </a:solidFill>
                <a:latin typeface="Palatino Linotype"/>
                <a:cs typeface="Palatino Linotype"/>
              </a:rPr>
              <a:t>and</a:t>
            </a:r>
            <a:r>
              <a:rPr sz="1200" spc="35" dirty="0">
                <a:solidFill>
                  <a:srgbClr val="477D93"/>
                </a:solidFill>
                <a:latin typeface="Palatino Linotype"/>
                <a:cs typeface="Palatino Linotype"/>
              </a:rPr>
              <a:t> </a:t>
            </a:r>
            <a:r>
              <a:rPr sz="1200" spc="-95" dirty="0">
                <a:solidFill>
                  <a:srgbClr val="477D93"/>
                </a:solidFill>
                <a:latin typeface="Palatino Linotype"/>
                <a:cs typeface="Palatino Linotype"/>
              </a:rPr>
              <a:t>Language</a:t>
            </a:r>
            <a:r>
              <a:rPr sz="1200" spc="40" dirty="0">
                <a:solidFill>
                  <a:srgbClr val="477D93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477D93"/>
                </a:solidFill>
                <a:latin typeface="Palatino Linotype"/>
                <a:cs typeface="Palatino Linotype"/>
              </a:rPr>
              <a:t>125</a:t>
            </a:r>
            <a:r>
              <a:rPr sz="1200" spc="40" dirty="0">
                <a:solidFill>
                  <a:srgbClr val="477D93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477D93"/>
                </a:solidFill>
                <a:latin typeface="Palatino Linotype"/>
                <a:cs typeface="Palatino Linotype"/>
              </a:rPr>
              <a:t>(2022)</a:t>
            </a:r>
            <a:r>
              <a:rPr sz="1200" spc="90" dirty="0">
                <a:solidFill>
                  <a:srgbClr val="477D93"/>
                </a:solidFill>
                <a:latin typeface="Palatino Linotype"/>
                <a:cs typeface="Palatino Linotype"/>
              </a:rPr>
              <a:t> </a:t>
            </a:r>
            <a:r>
              <a:rPr sz="1200" spc="-10" dirty="0">
                <a:solidFill>
                  <a:srgbClr val="477D93"/>
                </a:solidFill>
                <a:latin typeface="Palatino Linotype"/>
                <a:cs typeface="Palatino Linotype"/>
              </a:rPr>
              <a:t>104334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200">
              <a:latin typeface="Palatino Linotype"/>
              <a:cs typeface="Palatino Linotype"/>
            </a:endParaRPr>
          </a:p>
          <a:p>
            <a:pPr marL="335280">
              <a:lnSpc>
                <a:spcPct val="100000"/>
              </a:lnSpc>
              <a:spcBef>
                <a:spcPts val="5"/>
              </a:spcBef>
            </a:pPr>
            <a:r>
              <a:rPr sz="1300" b="1" spc="-105" dirty="0">
                <a:solidFill>
                  <a:srgbClr val="272728"/>
                </a:solidFill>
                <a:latin typeface="Palatino Linotype"/>
                <a:cs typeface="Palatino Linotype"/>
              </a:rPr>
              <a:t>Contents</a:t>
            </a:r>
            <a:r>
              <a:rPr sz="1300" b="1" spc="20" dirty="0">
                <a:solidFill>
                  <a:srgbClr val="272728"/>
                </a:solidFill>
                <a:latin typeface="Palatino Linotype"/>
                <a:cs typeface="Palatino Linotype"/>
              </a:rPr>
              <a:t> </a:t>
            </a:r>
            <a:r>
              <a:rPr sz="1300" b="1" spc="-65" dirty="0">
                <a:solidFill>
                  <a:srgbClr val="272728"/>
                </a:solidFill>
                <a:latin typeface="Palatino Linotype"/>
                <a:cs typeface="Palatino Linotype"/>
              </a:rPr>
              <a:t>lists</a:t>
            </a:r>
            <a:r>
              <a:rPr sz="1300" b="1" spc="15" dirty="0">
                <a:solidFill>
                  <a:srgbClr val="272728"/>
                </a:solidFill>
                <a:latin typeface="Palatino Linotype"/>
                <a:cs typeface="Palatino Linotype"/>
              </a:rPr>
              <a:t> </a:t>
            </a:r>
            <a:r>
              <a:rPr sz="1300" b="1" spc="-85" dirty="0">
                <a:solidFill>
                  <a:srgbClr val="272728"/>
                </a:solidFill>
                <a:latin typeface="Palatino Linotype"/>
                <a:cs typeface="Palatino Linotype"/>
              </a:rPr>
              <a:t>available</a:t>
            </a:r>
            <a:r>
              <a:rPr sz="1300" b="1" spc="20" dirty="0">
                <a:solidFill>
                  <a:srgbClr val="272728"/>
                </a:solidFill>
                <a:latin typeface="Palatino Linotype"/>
                <a:cs typeface="Palatino Linotype"/>
              </a:rPr>
              <a:t> </a:t>
            </a:r>
            <a:r>
              <a:rPr sz="1300" b="1" dirty="0">
                <a:solidFill>
                  <a:srgbClr val="272728"/>
                </a:solidFill>
                <a:latin typeface="Palatino Linotype"/>
                <a:cs typeface="Palatino Linotype"/>
              </a:rPr>
              <a:t>at</a:t>
            </a:r>
            <a:r>
              <a:rPr sz="1300" b="1" spc="-20" dirty="0">
                <a:solidFill>
                  <a:srgbClr val="272728"/>
                </a:solidFill>
                <a:latin typeface="Palatino Linotype"/>
                <a:cs typeface="Palatino Linotype"/>
              </a:rPr>
              <a:t> </a:t>
            </a:r>
            <a:r>
              <a:rPr sz="1300" b="1" spc="-10" dirty="0">
                <a:solidFill>
                  <a:srgbClr val="4F94B8"/>
                </a:solidFill>
                <a:latin typeface="Palatino Linotype"/>
                <a:cs typeface="Palatino Linotype"/>
              </a:rPr>
              <a:t>ScienceDirect</a:t>
            </a:r>
            <a:endParaRPr sz="13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65523" y="997203"/>
            <a:ext cx="40170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60" dirty="0">
                <a:solidFill>
                  <a:srgbClr val="0A0A0B"/>
                </a:solidFill>
                <a:latin typeface="Times New Roman"/>
                <a:cs typeface="Times New Roman"/>
              </a:rPr>
              <a:t>Journal</a:t>
            </a:r>
            <a:r>
              <a:rPr sz="2200" spc="275" dirty="0">
                <a:solidFill>
                  <a:srgbClr val="0A0A0B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A0A0B"/>
                </a:solidFill>
                <a:latin typeface="Times New Roman"/>
                <a:cs typeface="Times New Roman"/>
              </a:rPr>
              <a:t>of</a:t>
            </a:r>
            <a:r>
              <a:rPr sz="2200" spc="65" dirty="0">
                <a:solidFill>
                  <a:srgbClr val="0A0A0B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A0A0B"/>
                </a:solidFill>
                <a:latin typeface="Times New Roman"/>
                <a:cs typeface="Times New Roman"/>
              </a:rPr>
              <a:t>Memory</a:t>
            </a:r>
            <a:r>
              <a:rPr sz="2200" spc="235" dirty="0">
                <a:solidFill>
                  <a:srgbClr val="0A0A0B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0A0A0B"/>
                </a:solidFill>
                <a:latin typeface="Times New Roman"/>
                <a:cs typeface="Times New Roman"/>
              </a:rPr>
              <a:t>and</a:t>
            </a:r>
            <a:r>
              <a:rPr sz="2200" spc="305" dirty="0">
                <a:solidFill>
                  <a:srgbClr val="0A0A0B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A0A0B"/>
                </a:solidFill>
                <a:latin typeface="Times New Roman"/>
                <a:cs typeface="Times New Roman"/>
              </a:rPr>
              <a:t>Language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5916" y="1605026"/>
            <a:ext cx="112331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70" dirty="0">
                <a:solidFill>
                  <a:srgbClr val="C39356"/>
                </a:solidFill>
                <a:latin typeface="Times New Roman"/>
                <a:cs typeface="Times New Roman"/>
              </a:rPr>
              <a:t>ELSEVIER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23079" y="1660652"/>
            <a:ext cx="3485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8181A"/>
                </a:solidFill>
                <a:latin typeface="Arial"/>
                <a:cs typeface="Arial"/>
              </a:rPr>
              <a:t>journal</a:t>
            </a:r>
            <a:r>
              <a:rPr sz="1200" spc="140" dirty="0">
                <a:solidFill>
                  <a:srgbClr val="18181A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18181A"/>
                </a:solidFill>
                <a:latin typeface="Arial"/>
                <a:cs typeface="Arial"/>
              </a:rPr>
              <a:t>homepage:</a:t>
            </a:r>
            <a:r>
              <a:rPr sz="1200" spc="90" dirty="0">
                <a:solidFill>
                  <a:srgbClr val="18181A"/>
                </a:solidFill>
                <a:latin typeface="Arial"/>
                <a:cs typeface="Arial"/>
              </a:rPr>
              <a:t>  </a:t>
            </a:r>
            <a:r>
              <a:rPr sz="1200" spc="-10" dirty="0">
                <a:solidFill>
                  <a:srgbClr val="4491B8"/>
                </a:solidFill>
                <a:latin typeface="Arial"/>
                <a:cs typeface="Arial"/>
                <a:hlinkClick r:id="rId2"/>
              </a:rPr>
              <a:t>www.elsevier.com/locate/jml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96931" y="2588514"/>
            <a:ext cx="392430" cy="20256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43180" marR="5080" indent="-31115">
              <a:lnSpc>
                <a:spcPct val="78300"/>
              </a:lnSpc>
              <a:spcBef>
                <a:spcPts val="270"/>
              </a:spcBef>
            </a:pPr>
            <a:r>
              <a:rPr sz="650" b="1" spc="-10" dirty="0">
                <a:solidFill>
                  <a:srgbClr val="626061"/>
                </a:solidFill>
                <a:latin typeface="Arial"/>
                <a:cs typeface="Arial"/>
              </a:rPr>
              <a:t>Check </a:t>
            </a:r>
            <a:r>
              <a:rPr sz="650" b="1" spc="-35" dirty="0">
                <a:solidFill>
                  <a:srgbClr val="626061"/>
                </a:solidFill>
                <a:latin typeface="Arial"/>
                <a:cs typeface="Arial"/>
              </a:rPr>
              <a:t>for</a:t>
            </a:r>
            <a:r>
              <a:rPr sz="650" b="1" spc="500" dirty="0">
                <a:solidFill>
                  <a:srgbClr val="626061"/>
                </a:solidFill>
                <a:latin typeface="Arial"/>
                <a:cs typeface="Arial"/>
              </a:rPr>
              <a:t> </a:t>
            </a:r>
            <a:r>
              <a:rPr sz="650" b="1" spc="-10" dirty="0">
                <a:solidFill>
                  <a:srgbClr val="626061"/>
                </a:solidFill>
                <a:latin typeface="Arial"/>
                <a:cs typeface="Arial"/>
              </a:rPr>
              <a:t>updates</a:t>
            </a:r>
            <a:endParaRPr sz="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5247" y="2531871"/>
            <a:ext cx="6103620" cy="1109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141415"/>
                </a:solidFill>
                <a:latin typeface="Times New Roman"/>
                <a:cs typeface="Times New Roman"/>
              </a:rPr>
              <a:t>Contrast</a:t>
            </a:r>
            <a:r>
              <a:rPr sz="2200" spc="100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41415"/>
                </a:solidFill>
                <a:latin typeface="Times New Roman"/>
                <a:cs typeface="Times New Roman"/>
              </a:rPr>
              <a:t>coding</a:t>
            </a:r>
            <a:r>
              <a:rPr sz="2200" spc="85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41415"/>
                </a:solidFill>
                <a:latin typeface="Times New Roman"/>
                <a:cs typeface="Times New Roman"/>
              </a:rPr>
              <a:t>choices</a:t>
            </a:r>
            <a:r>
              <a:rPr sz="2200" spc="155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41415"/>
                </a:solidFill>
                <a:latin typeface="Times New Roman"/>
                <a:cs typeface="Times New Roman"/>
              </a:rPr>
              <a:t>in</a:t>
            </a:r>
            <a:r>
              <a:rPr sz="2200" spc="135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41415"/>
                </a:solidFill>
                <a:latin typeface="Times New Roman"/>
                <a:cs typeface="Times New Roman"/>
              </a:rPr>
              <a:t>a</a:t>
            </a:r>
            <a:r>
              <a:rPr sz="2200" spc="80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41415"/>
                </a:solidFill>
                <a:latin typeface="Times New Roman"/>
                <a:cs typeface="Times New Roman"/>
              </a:rPr>
              <a:t>decade</a:t>
            </a:r>
            <a:r>
              <a:rPr sz="2200" spc="130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41415"/>
                </a:solidFill>
                <a:latin typeface="Times New Roman"/>
                <a:cs typeface="Times New Roman"/>
              </a:rPr>
              <a:t>of</a:t>
            </a:r>
            <a:r>
              <a:rPr sz="2200" spc="-10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41415"/>
                </a:solidFill>
                <a:latin typeface="Times New Roman"/>
                <a:cs typeface="Times New Roman"/>
              </a:rPr>
              <a:t>mixed</a:t>
            </a:r>
            <a:r>
              <a:rPr sz="2200" spc="114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141415"/>
                </a:solidFill>
                <a:latin typeface="Times New Roman"/>
                <a:cs typeface="Times New Roman"/>
              </a:rPr>
              <a:t>models</a:t>
            </a:r>
            <a:endParaRPr sz="22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565"/>
              </a:spcBef>
            </a:pPr>
            <a:r>
              <a:rPr sz="1700" dirty="0">
                <a:solidFill>
                  <a:srgbClr val="141415"/>
                </a:solidFill>
                <a:latin typeface="Times New Roman"/>
                <a:cs typeface="Times New Roman"/>
              </a:rPr>
              <a:t>Laurel</a:t>
            </a:r>
            <a:r>
              <a:rPr sz="1700" spc="50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141415"/>
                </a:solidFill>
                <a:latin typeface="Times New Roman"/>
                <a:cs typeface="Times New Roman"/>
              </a:rPr>
              <a:t>Brehm*,</a:t>
            </a:r>
            <a:r>
              <a:rPr sz="1700" spc="100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141415"/>
                </a:solidFill>
                <a:latin typeface="Times New Roman"/>
                <a:cs typeface="Times New Roman"/>
              </a:rPr>
              <a:t>Phillip</a:t>
            </a:r>
            <a:r>
              <a:rPr sz="1700" spc="40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141415"/>
                </a:solidFill>
                <a:latin typeface="Times New Roman"/>
                <a:cs typeface="Times New Roman"/>
              </a:rPr>
              <a:t>M.</a:t>
            </a:r>
            <a:r>
              <a:rPr sz="1700" spc="45" dirty="0">
                <a:solidFill>
                  <a:srgbClr val="14141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141415"/>
                </a:solidFill>
                <a:latin typeface="Times New Roman"/>
                <a:cs typeface="Times New Roman"/>
              </a:rPr>
              <a:t>Alday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850" b="1" spc="50" dirty="0">
                <a:solidFill>
                  <a:srgbClr val="2E2E2E"/>
                </a:solidFill>
                <a:latin typeface="Tahoma"/>
                <a:cs typeface="Tahoma"/>
              </a:rPr>
              <a:t>MPIfor</a:t>
            </a:r>
            <a:r>
              <a:rPr sz="850" b="1" spc="-114" dirty="0">
                <a:solidFill>
                  <a:srgbClr val="2E2E2E"/>
                </a:solidFill>
                <a:latin typeface="Tahoma"/>
                <a:cs typeface="Tahoma"/>
              </a:rPr>
              <a:t> </a:t>
            </a:r>
            <a:r>
              <a:rPr sz="850" b="1" spc="-10" dirty="0">
                <a:solidFill>
                  <a:srgbClr val="2E2E2E"/>
                </a:solidFill>
                <a:latin typeface="Tahoma"/>
                <a:cs typeface="Tahoma"/>
              </a:rPr>
              <a:t>Psycholinguistics,Netherlands</a:t>
            </a:r>
            <a:endParaRPr sz="8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5247" y="4097020"/>
            <a:ext cx="8699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170" dirty="0">
                <a:solidFill>
                  <a:srgbClr val="282828"/>
                </a:solidFill>
                <a:latin typeface="Cambria"/>
                <a:cs typeface="Cambria"/>
              </a:rPr>
              <a:t>A</a:t>
            </a:r>
            <a:r>
              <a:rPr sz="1000" b="1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000" b="1" spc="175" dirty="0">
                <a:solidFill>
                  <a:srgbClr val="282828"/>
                </a:solidFill>
                <a:latin typeface="Cambria"/>
                <a:cs typeface="Cambria"/>
              </a:rPr>
              <a:t>R</a:t>
            </a:r>
            <a:r>
              <a:rPr sz="1000" b="1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000" b="1" spc="170" dirty="0">
                <a:solidFill>
                  <a:srgbClr val="282828"/>
                </a:solidFill>
                <a:latin typeface="Cambria"/>
                <a:cs typeface="Cambria"/>
              </a:rPr>
              <a:t>T</a:t>
            </a:r>
            <a:r>
              <a:rPr sz="1000" b="1" spc="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000" b="1" spc="105" dirty="0">
                <a:solidFill>
                  <a:srgbClr val="282828"/>
                </a:solidFill>
                <a:latin typeface="Cambria"/>
                <a:cs typeface="Cambria"/>
              </a:rPr>
              <a:t>I</a:t>
            </a:r>
            <a:r>
              <a:rPr sz="1000" b="1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000" b="1" spc="155" dirty="0">
                <a:solidFill>
                  <a:srgbClr val="282828"/>
                </a:solidFill>
                <a:latin typeface="Cambria"/>
                <a:cs typeface="Cambria"/>
              </a:rPr>
              <a:t>C</a:t>
            </a:r>
            <a:r>
              <a:rPr sz="1000" b="1" spc="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000" b="1" spc="150" dirty="0">
                <a:solidFill>
                  <a:srgbClr val="282828"/>
                </a:solidFill>
                <a:latin typeface="Cambria"/>
                <a:cs typeface="Cambria"/>
              </a:rPr>
              <a:t>L</a:t>
            </a:r>
            <a:r>
              <a:rPr sz="1000" b="1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000" b="1" spc="80" dirty="0">
                <a:solidFill>
                  <a:srgbClr val="282828"/>
                </a:solidFill>
                <a:latin typeface="Cambria"/>
                <a:cs typeface="Cambria"/>
              </a:rPr>
              <a:t>E 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6869" y="4097020"/>
            <a:ext cx="5060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105" dirty="0">
                <a:solidFill>
                  <a:srgbClr val="282828"/>
                </a:solidFill>
                <a:latin typeface="Cambria"/>
                <a:cs typeface="Cambria"/>
              </a:rPr>
              <a:t>I</a:t>
            </a:r>
            <a:r>
              <a:rPr sz="1000" b="1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000" b="1" spc="180" dirty="0">
                <a:solidFill>
                  <a:srgbClr val="282828"/>
                </a:solidFill>
                <a:latin typeface="Cambria"/>
                <a:cs typeface="Cambria"/>
              </a:rPr>
              <a:t>N</a:t>
            </a:r>
            <a:r>
              <a:rPr sz="1000" b="1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000" b="1" spc="150" dirty="0">
                <a:solidFill>
                  <a:srgbClr val="282828"/>
                </a:solidFill>
                <a:latin typeface="Cambria"/>
                <a:cs typeface="Cambria"/>
              </a:rPr>
              <a:t>F</a:t>
            </a:r>
            <a:r>
              <a:rPr sz="1000" b="1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000" b="1" spc="110" dirty="0">
                <a:solidFill>
                  <a:srgbClr val="282828"/>
                </a:solidFill>
                <a:latin typeface="Cambria"/>
                <a:cs typeface="Cambria"/>
              </a:rPr>
              <a:t>O 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3724" y="4461319"/>
            <a:ext cx="654050" cy="654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marR="13335" indent="-5080">
              <a:lnSpc>
                <a:spcPct val="107600"/>
              </a:lnSpc>
              <a:spcBef>
                <a:spcPts val="95"/>
              </a:spcBef>
            </a:pPr>
            <a:r>
              <a:rPr sz="850" b="1" spc="-10" dirty="0">
                <a:solidFill>
                  <a:srgbClr val="363636"/>
                </a:solidFill>
                <a:latin typeface="Tahoma"/>
                <a:cs typeface="Tahoma"/>
              </a:rPr>
              <a:t>Keywords: </a:t>
            </a:r>
            <a:r>
              <a:rPr sz="1000" b="1" spc="-25" dirty="0">
                <a:solidFill>
                  <a:srgbClr val="333333"/>
                </a:solidFill>
                <a:latin typeface="Cambria"/>
                <a:cs typeface="Cambria"/>
              </a:rPr>
              <a:t>Contrasts</a:t>
            </a:r>
            <a:r>
              <a:rPr sz="1000" b="1" spc="5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000" b="1" spc="-105" dirty="0">
                <a:solidFill>
                  <a:srgbClr val="333333"/>
                </a:solidFill>
                <a:latin typeface="Cambria"/>
                <a:cs typeface="Cambria"/>
              </a:rPr>
              <a:t>Meta-science</a:t>
            </a:r>
            <a:r>
              <a:rPr sz="1000" b="1" spc="5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000" b="1" spc="-45" dirty="0">
                <a:solidFill>
                  <a:srgbClr val="343434"/>
                </a:solidFill>
                <a:latin typeface="Cambria"/>
                <a:cs typeface="Cambria"/>
              </a:rPr>
              <a:t>Mixed</a:t>
            </a:r>
            <a:r>
              <a:rPr sz="1000" b="1" spc="130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1000" b="1" spc="-120" dirty="0">
                <a:solidFill>
                  <a:srgbClr val="343434"/>
                </a:solidFill>
                <a:latin typeface="Cambria"/>
                <a:cs typeface="Cambria"/>
              </a:rPr>
              <a:t>effect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8479" y="4938141"/>
            <a:ext cx="3752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0" dirty="0">
                <a:solidFill>
                  <a:srgbClr val="343434"/>
                </a:solidFill>
                <a:latin typeface="Cambria"/>
                <a:cs typeface="Cambria"/>
              </a:rPr>
              <a:t>models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8296" y="5102859"/>
            <a:ext cx="900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70" dirty="0">
                <a:solidFill>
                  <a:srgbClr val="343434"/>
                </a:solidFill>
                <a:latin typeface="Cambria"/>
                <a:cs typeface="Cambria"/>
              </a:rPr>
              <a:t>Replication</a:t>
            </a:r>
            <a:r>
              <a:rPr sz="1000" b="1" spc="350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1000" b="1" spc="-110" dirty="0">
                <a:solidFill>
                  <a:srgbClr val="343434"/>
                </a:solidFill>
                <a:latin typeface="Cambria"/>
                <a:cs typeface="Cambria"/>
              </a:rPr>
              <a:t>crisis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24146" y="4098417"/>
            <a:ext cx="10534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170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1000" b="1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000" b="1" spc="170" dirty="0">
                <a:solidFill>
                  <a:srgbClr val="252525"/>
                </a:solidFill>
                <a:latin typeface="Cambria"/>
                <a:cs typeface="Cambria"/>
              </a:rPr>
              <a:t>B</a:t>
            </a:r>
            <a:r>
              <a:rPr sz="1000" b="1" spc="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000" b="1" spc="140" dirty="0">
                <a:solidFill>
                  <a:srgbClr val="252525"/>
                </a:solidFill>
                <a:latin typeface="Cambria"/>
                <a:cs typeface="Cambria"/>
              </a:rPr>
              <a:t>S</a:t>
            </a:r>
            <a:r>
              <a:rPr sz="1000" b="1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000" b="1" spc="170" dirty="0">
                <a:solidFill>
                  <a:srgbClr val="252525"/>
                </a:solidFill>
                <a:latin typeface="Cambria"/>
                <a:cs typeface="Cambria"/>
              </a:rPr>
              <a:t>T</a:t>
            </a:r>
            <a:r>
              <a:rPr sz="1000" b="1" spc="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000" b="1" spc="175" dirty="0">
                <a:solidFill>
                  <a:srgbClr val="252525"/>
                </a:solidFill>
                <a:latin typeface="Cambria"/>
                <a:cs typeface="Cambria"/>
              </a:rPr>
              <a:t>R</a:t>
            </a:r>
            <a:r>
              <a:rPr sz="1000" b="1" spc="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000" b="1" spc="170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1000" b="1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000" b="1" spc="155" dirty="0">
                <a:solidFill>
                  <a:srgbClr val="252525"/>
                </a:solidFill>
                <a:latin typeface="Cambria"/>
                <a:cs typeface="Cambria"/>
              </a:rPr>
              <a:t>C</a:t>
            </a:r>
            <a:r>
              <a:rPr sz="1000" b="1" spc="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000" b="1" spc="95" dirty="0">
                <a:solidFill>
                  <a:srgbClr val="252525"/>
                </a:solidFill>
                <a:latin typeface="Cambria"/>
                <a:cs typeface="Cambria"/>
              </a:rPr>
              <a:t>T 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7195" y="4446523"/>
            <a:ext cx="6770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1285" algn="l"/>
                <a:tab pos="3262629" algn="l"/>
                <a:tab pos="4105910" algn="l"/>
                <a:tab pos="5149850" algn="l"/>
                <a:tab pos="6405245" algn="l"/>
              </a:tabLst>
            </a:pPr>
            <a:r>
              <a:rPr sz="1200" spc="-90" dirty="0">
                <a:solidFill>
                  <a:srgbClr val="2C2C2E"/>
                </a:solidFill>
                <a:latin typeface="Palatino Linotype"/>
                <a:cs typeface="Palatino Linotype"/>
              </a:rPr>
              <a:t>Contrast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sng" spc="-30" dirty="0">
                <a:solidFill>
                  <a:srgbClr val="2C2C2E"/>
                </a:solidFill>
                <a:uFill>
                  <a:solidFill>
                    <a:srgbClr val="C7C4D3"/>
                  </a:solidFill>
                </a:uFill>
                <a:latin typeface="Palatino Linotype"/>
                <a:cs typeface="Palatino Linotype"/>
              </a:rPr>
              <a:t>codin</a:t>
            </a:r>
            <a:r>
              <a:rPr sz="1200" u="sng" spc="345" dirty="0">
                <a:solidFill>
                  <a:srgbClr val="2C2C2E"/>
                </a:solidFill>
                <a:uFill>
                  <a:solidFill>
                    <a:srgbClr val="C7C4D3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spc="-20" dirty="0">
                <a:solidFill>
                  <a:srgbClr val="2C2C2E"/>
                </a:solidFill>
                <a:uFill>
                  <a:solidFill>
                    <a:srgbClr val="C7C4D3"/>
                  </a:solidFill>
                </a:uFill>
                <a:latin typeface="Palatino Linotype"/>
                <a:cs typeface="Palatino Linotype"/>
              </a:rPr>
              <a:t>in</a:t>
            </a:r>
            <a:r>
              <a:rPr sz="1200" u="none" spc="-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spc="-25" dirty="0">
                <a:solidFill>
                  <a:srgbClr val="2C2C2E"/>
                </a:solidFill>
                <a:latin typeface="Palatino Linotype"/>
                <a:cs typeface="Palatino Linotype"/>
              </a:rPr>
              <a:t>re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	</a:t>
            </a:r>
            <a:r>
              <a:rPr sz="1200" u="none" spc="-80" dirty="0">
                <a:solidFill>
                  <a:srgbClr val="2C2C2E"/>
                </a:solidFill>
                <a:latin typeface="Palatino Linotype"/>
                <a:cs typeface="Palatino Linotype"/>
              </a:rPr>
              <a:t>ession</a:t>
            </a:r>
            <a:r>
              <a:rPr sz="1200" u="none" spc="-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spc="-30" dirty="0">
                <a:solidFill>
                  <a:srgbClr val="2C2C2E"/>
                </a:solidFill>
                <a:latin typeface="Palatino Linotype"/>
                <a:cs typeface="Palatino Linotype"/>
              </a:rPr>
              <a:t>mooe</a:t>
            </a:r>
            <a:r>
              <a:rPr sz="1200" u="none" spc="3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,</a:t>
            </a:r>
            <a:r>
              <a:rPr sz="1200" u="none" spc="-6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in</a:t>
            </a:r>
            <a:r>
              <a:rPr sz="1200" u="none" spc="37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u</a:t>
            </a:r>
            <a:r>
              <a:rPr sz="1200" u="none" spc="18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sng" dirty="0">
                <a:solidFill>
                  <a:srgbClr val="2C2C2E"/>
                </a:solidFill>
                <a:uFill>
                  <a:solidFill>
                    <a:srgbClr val="C7C4D3"/>
                  </a:solidFill>
                </a:uFill>
                <a:latin typeface="Palatino Linotype"/>
                <a:cs typeface="Palatino Linotype"/>
              </a:rPr>
              <a:t>in</a:t>
            </a:r>
            <a:r>
              <a:rPr sz="1200" u="sng" spc="395" dirty="0">
                <a:solidFill>
                  <a:srgbClr val="2C2C2E"/>
                </a:solidFill>
                <a:uFill>
                  <a:solidFill>
                    <a:srgbClr val="C7C4D3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spc="-25" dirty="0">
                <a:solidFill>
                  <a:srgbClr val="2C2C2E"/>
                </a:solidFill>
                <a:uFill>
                  <a:solidFill>
                    <a:srgbClr val="C7C4D3"/>
                  </a:solidFill>
                </a:uFill>
                <a:latin typeface="Palatino Linotype"/>
                <a:cs typeface="Palatino Linotype"/>
              </a:rPr>
              <a:t>mix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	</a:t>
            </a:r>
            <a:r>
              <a:rPr sz="1200" u="none" spc="-145" dirty="0">
                <a:solidFill>
                  <a:srgbClr val="2C2C2E"/>
                </a:solidFill>
                <a:latin typeface="Palatino Linotype"/>
                <a:cs typeface="Palatino Linotype"/>
              </a:rPr>
              <a:t>-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e</a:t>
            </a:r>
            <a:r>
              <a:rPr sz="1200" u="none" spc="44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spc="-50" dirty="0">
                <a:solidFill>
                  <a:srgbClr val="2C2C2E"/>
                </a:solidFill>
                <a:latin typeface="Palatino Linotype"/>
                <a:cs typeface="Palatino Linotype"/>
              </a:rPr>
              <a:t>ect</a:t>
            </a:r>
            <a:r>
              <a:rPr sz="1200" u="none" spc="-3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spc="-25" dirty="0">
                <a:solidFill>
                  <a:srgbClr val="2C2C2E"/>
                </a:solidFill>
                <a:latin typeface="Palatino Linotype"/>
                <a:cs typeface="Palatino Linotype"/>
              </a:rPr>
              <a:t>mo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	,</a:t>
            </a:r>
            <a:r>
              <a:rPr sz="1200" u="none" spc="-7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c</a:t>
            </a:r>
            <a:r>
              <a:rPr sz="1200" u="none" spc="16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sng" dirty="0">
                <a:solidFill>
                  <a:srgbClr val="2C2C2E"/>
                </a:solidFill>
                <a:uFill>
                  <a:solidFill>
                    <a:srgbClr val="C7C4D3"/>
                  </a:solidFill>
                </a:uFill>
                <a:latin typeface="Palatino Linotype"/>
                <a:cs typeface="Palatino Linotype"/>
              </a:rPr>
              <a:t>an</a:t>
            </a:r>
            <a:r>
              <a:rPr sz="1200" u="sng" spc="175" dirty="0">
                <a:solidFill>
                  <a:srgbClr val="2C2C2E"/>
                </a:solidFill>
                <a:uFill>
                  <a:solidFill>
                    <a:srgbClr val="C7C4D3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spc="-45" dirty="0">
                <a:solidFill>
                  <a:srgbClr val="2C2C2E"/>
                </a:solidFill>
                <a:uFill>
                  <a:solidFill>
                    <a:srgbClr val="C7C4D3"/>
                  </a:solidFill>
                </a:uFill>
                <a:latin typeface="Palatino Linotype"/>
                <a:cs typeface="Palatino Linotype"/>
              </a:rPr>
              <a:t>es</a:t>
            </a:r>
            <a:r>
              <a:rPr sz="1200" u="none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w</a:t>
            </a:r>
            <a:r>
              <a:rPr sz="1200" u="none" spc="18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spc="-25" dirty="0">
                <a:solidFill>
                  <a:srgbClr val="2C2C2E"/>
                </a:solidFill>
                <a:latin typeface="Palatino Linotype"/>
                <a:cs typeface="Palatino Linotype"/>
              </a:rPr>
              <a:t>at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	</a:t>
            </a:r>
            <a:r>
              <a:rPr sz="1200" u="none" spc="-70" dirty="0">
                <a:solidFill>
                  <a:srgbClr val="2C2C2E"/>
                </a:solidFill>
                <a:latin typeface="Palatino Linotype"/>
                <a:cs typeface="Palatino Linotype"/>
              </a:rPr>
              <a:t>e</a:t>
            </a:r>
            <a:r>
              <a:rPr sz="1200" u="none" spc="-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spc="-90" dirty="0">
                <a:solidFill>
                  <a:srgbClr val="2C2C2E"/>
                </a:solidFill>
                <a:latin typeface="Palatino Linotype"/>
                <a:cs typeface="Palatino Linotype"/>
              </a:rPr>
              <a:t>terms</a:t>
            </a:r>
            <a:r>
              <a:rPr sz="1200" u="none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spc="-50" dirty="0">
                <a:solidFill>
                  <a:srgbClr val="2C2C2E"/>
                </a:solidFill>
                <a:latin typeface="Palatino Linotype"/>
                <a:cs typeface="Palatino Linotype"/>
              </a:rPr>
              <a:t>in</a:t>
            </a:r>
            <a:r>
              <a:rPr sz="1200" u="none" spc="-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spc="-70" dirty="0">
                <a:solidFill>
                  <a:srgbClr val="2C2C2E"/>
                </a:solidFill>
                <a:latin typeface="Palatino Linotype"/>
                <a:cs typeface="Palatino Linotype"/>
              </a:rPr>
              <a:t>the</a:t>
            </a:r>
            <a:r>
              <a:rPr sz="1200" u="none" spc="-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u="none" spc="-25" dirty="0">
                <a:solidFill>
                  <a:srgbClr val="2C2C2E"/>
                </a:solidFill>
                <a:latin typeface="Palatino Linotype"/>
                <a:cs typeface="Palatino Linotype"/>
              </a:rPr>
              <a:t>mo</a:t>
            </a:r>
            <a:r>
              <a:rPr sz="1200" u="none" dirty="0">
                <a:solidFill>
                  <a:srgbClr val="2C2C2E"/>
                </a:solidFill>
                <a:latin typeface="Palatino Linotype"/>
                <a:cs typeface="Palatino Linotype"/>
              </a:rPr>
              <a:t>	</a:t>
            </a:r>
            <a:r>
              <a:rPr sz="1200" u="none" spc="-90" dirty="0">
                <a:solidFill>
                  <a:srgbClr val="2C2C2E"/>
                </a:solidFill>
                <a:latin typeface="Palatino Linotype"/>
                <a:cs typeface="Palatino Linotype"/>
              </a:rPr>
              <a:t>mean.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7195" y="4627879"/>
            <a:ext cx="6784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In</a:t>
            </a:r>
            <a:r>
              <a:rPr sz="1200" spc="1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0" dirty="0">
                <a:solidFill>
                  <a:srgbClr val="2C2C2E"/>
                </a:solidFill>
                <a:latin typeface="Palatino Linotype"/>
                <a:cs typeface="Palatino Linotype"/>
              </a:rPr>
              <a:t>particular,</a:t>
            </a:r>
            <a:r>
              <a:rPr sz="1200" spc="15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it</a:t>
            </a:r>
            <a:r>
              <a:rPr sz="1200" spc="10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5" dirty="0">
                <a:solidFill>
                  <a:srgbClr val="2C2C2E"/>
                </a:solidFill>
                <a:latin typeface="Palatino Linotype"/>
                <a:cs typeface="Palatino Linotype"/>
              </a:rPr>
              <a:t>determines</a:t>
            </a:r>
            <a:r>
              <a:rPr sz="1200" spc="9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5" dirty="0">
                <a:solidFill>
                  <a:srgbClr val="2C2C2E"/>
                </a:solidFill>
                <a:latin typeface="Palatino Linotype"/>
                <a:cs typeface="Palatino Linotype"/>
              </a:rPr>
              <a:t>whether</a:t>
            </a:r>
            <a:r>
              <a:rPr sz="1200" spc="9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or</a:t>
            </a:r>
            <a:r>
              <a:rPr sz="1200" spc="10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not</a:t>
            </a:r>
            <a:r>
              <a:rPr sz="1200" spc="8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0" dirty="0">
                <a:solidFill>
                  <a:srgbClr val="2C2C2E"/>
                </a:solidFill>
                <a:latin typeface="Palatino Linotype"/>
                <a:cs typeface="Palatino Linotype"/>
              </a:rPr>
              <a:t>model</a:t>
            </a:r>
            <a:r>
              <a:rPr sz="1200" spc="10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0" dirty="0">
                <a:solidFill>
                  <a:srgbClr val="2C2C2E"/>
                </a:solidFill>
                <a:latin typeface="Palatino Linotype"/>
                <a:cs typeface="Palatino Linotype"/>
              </a:rPr>
              <a:t>terms</a:t>
            </a:r>
            <a:r>
              <a:rPr sz="1200" spc="1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should</a:t>
            </a:r>
            <a:r>
              <a:rPr sz="1200" spc="9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be</a:t>
            </a:r>
            <a:r>
              <a:rPr sz="1200" spc="10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0" dirty="0">
                <a:solidFill>
                  <a:srgbClr val="2C2C2E"/>
                </a:solidFill>
                <a:latin typeface="Palatino Linotype"/>
                <a:cs typeface="Palatino Linotype"/>
              </a:rPr>
              <a:t>interpreted</a:t>
            </a:r>
            <a:r>
              <a:rPr sz="1200" spc="10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as</a:t>
            </a:r>
            <a:r>
              <a:rPr sz="1200" spc="12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0" dirty="0">
                <a:solidFill>
                  <a:srgbClr val="2C2C2E"/>
                </a:solidFill>
                <a:latin typeface="Palatino Linotype"/>
                <a:cs typeface="Palatino Linotype"/>
              </a:rPr>
              <a:t>main</a:t>
            </a:r>
            <a:r>
              <a:rPr sz="1200" spc="1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45" dirty="0">
                <a:solidFill>
                  <a:srgbClr val="2C2C2E"/>
                </a:solidFill>
                <a:latin typeface="Palatino Linotype"/>
                <a:cs typeface="Palatino Linotype"/>
              </a:rPr>
              <a:t>effects.</a:t>
            </a:r>
            <a:r>
              <a:rPr sz="1200" spc="14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40" dirty="0">
                <a:solidFill>
                  <a:srgbClr val="2C2C2E"/>
                </a:solidFill>
                <a:latin typeface="Palatino Linotype"/>
                <a:cs typeface="Palatino Linotype"/>
              </a:rPr>
              <a:t>This</a:t>
            </a:r>
            <a:r>
              <a:rPr sz="1200" spc="13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paper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25671" y="4807584"/>
            <a:ext cx="6800850" cy="1304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99900"/>
              </a:lnSpc>
              <a:spcBef>
                <a:spcPts val="100"/>
              </a:spcBef>
            </a:pPr>
            <a:r>
              <a:rPr sz="1200" spc="-70" dirty="0">
                <a:solidFill>
                  <a:srgbClr val="2C2C2E"/>
                </a:solidFill>
                <a:latin typeface="Palatino Linotype"/>
                <a:cs typeface="Palatino Linotype"/>
              </a:rPr>
              <a:t>highlights</a:t>
            </a:r>
            <a:r>
              <a:rPr sz="1200" spc="-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35" dirty="0">
                <a:solidFill>
                  <a:srgbClr val="2C2C2E"/>
                </a:solidFill>
                <a:latin typeface="Palatino Linotype"/>
                <a:cs typeface="Palatino Linotype"/>
              </a:rPr>
              <a:t>how</a:t>
            </a:r>
            <a:r>
              <a:rPr sz="1200" spc="6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95" dirty="0">
                <a:solidFill>
                  <a:srgbClr val="2C2C2E"/>
                </a:solidFill>
                <a:latin typeface="Palatino Linotype"/>
                <a:cs typeface="Palatino Linotype"/>
              </a:rPr>
              <a:t>opaque</a:t>
            </a:r>
            <a:r>
              <a:rPr sz="1200" spc="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descriptions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0" dirty="0">
                <a:solidFill>
                  <a:srgbClr val="2C2C2E"/>
                </a:solidFill>
                <a:latin typeface="Palatino Linotype"/>
                <a:cs typeface="Palatino Linotype"/>
              </a:rPr>
              <a:t>of</a:t>
            </a:r>
            <a:r>
              <a:rPr sz="1200" spc="-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5" dirty="0">
                <a:solidFill>
                  <a:srgbClr val="2C2C2E"/>
                </a:solidFill>
                <a:latin typeface="Palatino Linotype"/>
                <a:cs typeface="Palatino Linotype"/>
              </a:rPr>
              <a:t>contrast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0" dirty="0">
                <a:solidFill>
                  <a:srgbClr val="2C2C2E"/>
                </a:solidFill>
                <a:latin typeface="Palatino Linotype"/>
                <a:cs typeface="Palatino Linotype"/>
              </a:rPr>
              <a:t>coding</a:t>
            </a:r>
            <a:r>
              <a:rPr sz="1200" spc="2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0" dirty="0">
                <a:solidFill>
                  <a:srgbClr val="2C2C2E"/>
                </a:solidFill>
                <a:latin typeface="Palatino Linotype"/>
                <a:cs typeface="Palatino Linotype"/>
              </a:rPr>
              <a:t>have</a:t>
            </a:r>
            <a:r>
              <a:rPr sz="1200" spc="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0" dirty="0">
                <a:solidFill>
                  <a:srgbClr val="2C2C2E"/>
                </a:solidFill>
                <a:latin typeface="Palatino Linotype"/>
                <a:cs typeface="Palatino Linotype"/>
              </a:rPr>
              <a:t>affected</a:t>
            </a:r>
            <a:r>
              <a:rPr sz="1200" spc="-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0" dirty="0">
                <a:solidFill>
                  <a:srgbClr val="2C2C2E"/>
                </a:solidFill>
                <a:latin typeface="Palatino Linotype"/>
                <a:cs typeface="Palatino Linotype"/>
              </a:rPr>
              <a:t>the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5" dirty="0">
                <a:solidFill>
                  <a:srgbClr val="2C2C2E"/>
                </a:solidFill>
                <a:latin typeface="Palatino Linotype"/>
                <a:cs typeface="Palatino Linotype"/>
              </a:rPr>
              <a:t>field</a:t>
            </a:r>
            <a:r>
              <a:rPr sz="1200" spc="5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5" dirty="0">
                <a:solidFill>
                  <a:srgbClr val="2C2C2E"/>
                </a:solidFill>
                <a:latin typeface="Palatino Linotype"/>
                <a:cs typeface="Palatino Linotype"/>
              </a:rPr>
              <a:t>of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0" dirty="0">
                <a:solidFill>
                  <a:srgbClr val="2C2C2E"/>
                </a:solidFill>
                <a:latin typeface="Palatino Linotype"/>
                <a:cs typeface="Palatino Linotype"/>
              </a:rPr>
              <a:t>psycholinguistics.</a:t>
            </a:r>
            <a:r>
              <a:rPr sz="1200" spc="9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215" dirty="0">
                <a:solidFill>
                  <a:srgbClr val="2C2C2E"/>
                </a:solidFill>
                <a:latin typeface="Palatino Linotype"/>
                <a:cs typeface="Palatino Linotype"/>
              </a:rPr>
              <a:t>We</a:t>
            </a:r>
            <a:r>
              <a:rPr sz="1200" spc="14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begin</a:t>
            </a:r>
            <a:r>
              <a:rPr sz="1200" spc="4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20" dirty="0">
                <a:solidFill>
                  <a:srgbClr val="2C2C2E"/>
                </a:solidFill>
                <a:latin typeface="Palatino Linotype"/>
                <a:cs typeface="Palatino Linotype"/>
              </a:rPr>
              <a:t>with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a</a:t>
            </a:r>
            <a:r>
              <a:rPr sz="1200" spc="-4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reproducible</a:t>
            </a:r>
            <a:r>
              <a:rPr sz="1200" spc="4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0" dirty="0">
                <a:solidFill>
                  <a:srgbClr val="2C2C2E"/>
                </a:solidFill>
                <a:latin typeface="Palatino Linotype"/>
                <a:cs typeface="Palatino Linotype"/>
              </a:rPr>
              <a:t>example</a:t>
            </a:r>
            <a:r>
              <a:rPr sz="1200" spc="2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in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R</a:t>
            </a:r>
            <a:r>
              <a:rPr sz="1200" spc="-6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0" dirty="0">
                <a:solidFill>
                  <a:srgbClr val="2C2C2E"/>
                </a:solidFill>
                <a:latin typeface="Palatino Linotype"/>
                <a:cs typeface="Palatino Linotype"/>
              </a:rPr>
              <a:t>using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0" dirty="0">
                <a:solidFill>
                  <a:srgbClr val="2C2C2E"/>
                </a:solidFill>
                <a:latin typeface="Palatino Linotype"/>
                <a:cs typeface="Palatino Linotype"/>
              </a:rPr>
              <a:t>simulated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5" dirty="0">
                <a:solidFill>
                  <a:srgbClr val="2C2C2E"/>
                </a:solidFill>
                <a:latin typeface="Palatino Linotype"/>
                <a:cs typeface="Palatino Linotype"/>
              </a:rPr>
              <a:t>data</a:t>
            </a:r>
            <a:r>
              <a:rPr sz="1200" spc="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to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5" dirty="0">
                <a:solidFill>
                  <a:srgbClr val="2C2C2E"/>
                </a:solidFill>
                <a:latin typeface="Palatino Linotype"/>
                <a:cs typeface="Palatino Linotype"/>
              </a:rPr>
              <a:t>demonstrate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10" dirty="0">
                <a:solidFill>
                  <a:srgbClr val="2C2C2E"/>
                </a:solidFill>
                <a:latin typeface="Palatino Linotype"/>
                <a:cs typeface="Palatino Linotype"/>
              </a:rPr>
              <a:t>how</a:t>
            </a:r>
            <a:r>
              <a:rPr sz="1200" spc="3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45" dirty="0">
                <a:solidFill>
                  <a:srgbClr val="2C2C2E"/>
                </a:solidFill>
                <a:latin typeface="Palatino Linotype"/>
                <a:cs typeface="Palatino Linotype"/>
              </a:rPr>
              <a:t>incorrect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0" dirty="0">
                <a:solidFill>
                  <a:srgbClr val="2C2C2E"/>
                </a:solidFill>
                <a:latin typeface="Palatino Linotype"/>
                <a:cs typeface="Palatino Linotype"/>
              </a:rPr>
              <a:t>conclusions</a:t>
            </a:r>
            <a:r>
              <a:rPr sz="1200" spc="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40" dirty="0">
                <a:solidFill>
                  <a:srgbClr val="2C2C2E"/>
                </a:solidFill>
                <a:latin typeface="Palatino Linotype"/>
                <a:cs typeface="Palatino Linotype"/>
              </a:rPr>
              <a:t>can</a:t>
            </a:r>
            <a:r>
              <a:rPr sz="1200" spc="-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be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95" dirty="0">
                <a:solidFill>
                  <a:srgbClr val="2C2C2E"/>
                </a:solidFill>
                <a:latin typeface="Palatino Linotype"/>
                <a:cs typeface="Palatino Linotype"/>
              </a:rPr>
              <a:t>made</a:t>
            </a:r>
            <a:r>
              <a:rPr sz="1200" spc="3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20" dirty="0">
                <a:solidFill>
                  <a:srgbClr val="2C2C2E"/>
                </a:solidFill>
                <a:latin typeface="Palatino Linotype"/>
                <a:cs typeface="Palatino Linotype"/>
              </a:rPr>
              <a:t>from </a:t>
            </a:r>
            <a:r>
              <a:rPr sz="1200" spc="-100" dirty="0">
                <a:solidFill>
                  <a:srgbClr val="2C2C2E"/>
                </a:solidFill>
                <a:latin typeface="Palatino Linotype"/>
                <a:cs typeface="Palatino Linotype"/>
              </a:rPr>
              <a:t>mixed</a:t>
            </a:r>
            <a:r>
              <a:rPr sz="1200" spc="2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0" dirty="0">
                <a:solidFill>
                  <a:srgbClr val="2C2C2E"/>
                </a:solidFill>
                <a:latin typeface="Palatino Linotype"/>
                <a:cs typeface="Palatino Linotype"/>
              </a:rPr>
              <a:t>models;</a:t>
            </a:r>
            <a:r>
              <a:rPr sz="1200" spc="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5" dirty="0">
                <a:solidFill>
                  <a:srgbClr val="2C2C2E"/>
                </a:solidFill>
                <a:latin typeface="Palatino Linotype"/>
                <a:cs typeface="Palatino Linotype"/>
              </a:rPr>
              <a:t>this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0" dirty="0">
                <a:solidFill>
                  <a:srgbClr val="2C2C2E"/>
                </a:solidFill>
                <a:latin typeface="Palatino Linotype"/>
                <a:cs typeface="Palatino Linotype"/>
              </a:rPr>
              <a:t>also</a:t>
            </a:r>
            <a:r>
              <a:rPr sz="1200" spc="-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serves</a:t>
            </a:r>
            <a:r>
              <a:rPr sz="1200" spc="3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5" dirty="0">
                <a:solidFill>
                  <a:srgbClr val="2C2C2E"/>
                </a:solidFill>
                <a:latin typeface="Palatino Linotype"/>
                <a:cs typeface="Palatino Linotype"/>
              </a:rPr>
              <a:t>as</a:t>
            </a:r>
            <a:r>
              <a:rPr sz="1200" spc="3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a</a:t>
            </a:r>
            <a:r>
              <a:rPr sz="1200" spc="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0" dirty="0">
                <a:solidFill>
                  <a:srgbClr val="2C2C2E"/>
                </a:solidFill>
                <a:latin typeface="Palatino Linotype"/>
                <a:cs typeface="Palatino Linotype"/>
              </a:rPr>
              <a:t>primer</a:t>
            </a:r>
            <a:r>
              <a:rPr sz="1200" spc="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5" dirty="0">
                <a:solidFill>
                  <a:srgbClr val="2C2C2E"/>
                </a:solidFill>
                <a:latin typeface="Palatino Linotype"/>
                <a:cs typeface="Palatino Linotype"/>
              </a:rPr>
              <a:t>on</a:t>
            </a:r>
            <a:r>
              <a:rPr sz="1200" spc="3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5" dirty="0">
                <a:solidFill>
                  <a:srgbClr val="2C2C2E"/>
                </a:solidFill>
                <a:latin typeface="Palatino Linotype"/>
                <a:cs typeface="Palatino Linotype"/>
              </a:rPr>
              <a:t>contrast</a:t>
            </a:r>
            <a:r>
              <a:rPr sz="1200" spc="-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90" dirty="0">
                <a:solidFill>
                  <a:srgbClr val="2C2C2E"/>
                </a:solidFill>
                <a:latin typeface="Palatino Linotype"/>
                <a:cs typeface="Palatino Linotype"/>
              </a:rPr>
              <a:t>coding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0" dirty="0">
                <a:solidFill>
                  <a:srgbClr val="2C2C2E"/>
                </a:solidFill>
                <a:latin typeface="Palatino Linotype"/>
                <a:cs typeface="Palatino Linotype"/>
              </a:rPr>
              <a:t>for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45" dirty="0">
                <a:solidFill>
                  <a:srgbClr val="2C2C2E"/>
                </a:solidFill>
                <a:latin typeface="Palatino Linotype"/>
                <a:cs typeface="Palatino Linotype"/>
              </a:rPr>
              <a:t>statistical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0" dirty="0">
                <a:solidFill>
                  <a:srgbClr val="2C2C2E"/>
                </a:solidFill>
                <a:latin typeface="Palatino Linotype"/>
                <a:cs typeface="Palatino Linotype"/>
              </a:rPr>
              <a:t>novices.</a:t>
            </a:r>
            <a:r>
              <a:rPr sz="1200" spc="8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70" dirty="0">
                <a:solidFill>
                  <a:srgbClr val="2C2C2E"/>
                </a:solidFill>
                <a:latin typeface="Palatino Linotype"/>
                <a:cs typeface="Palatino Linotype"/>
              </a:rPr>
              <a:t>We</a:t>
            </a:r>
            <a:r>
              <a:rPr sz="1200" spc="9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then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present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95" dirty="0">
                <a:solidFill>
                  <a:srgbClr val="2C2C2E"/>
                </a:solidFill>
                <a:latin typeface="Palatino Linotype"/>
                <a:cs typeface="Palatino Linotype"/>
              </a:rPr>
              <a:t>an</a:t>
            </a:r>
            <a:r>
              <a:rPr sz="1200" spc="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analysis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of</a:t>
            </a:r>
            <a:r>
              <a:rPr sz="1200" spc="-2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3384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5" dirty="0">
                <a:solidFill>
                  <a:srgbClr val="2C2C2E"/>
                </a:solidFill>
                <a:latin typeface="Palatino Linotype"/>
                <a:cs typeface="Palatino Linotype"/>
              </a:rPr>
              <a:t>papers</a:t>
            </a:r>
            <a:r>
              <a:rPr sz="1200" spc="3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40" dirty="0">
                <a:solidFill>
                  <a:srgbClr val="2C2C2E"/>
                </a:solidFill>
                <a:latin typeface="Palatino Linotype"/>
                <a:cs typeface="Palatino Linotype"/>
              </a:rPr>
              <a:t>from</a:t>
            </a:r>
            <a:r>
              <a:rPr sz="1200" spc="4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the</a:t>
            </a:r>
            <a:r>
              <a:rPr sz="1200" spc="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20" dirty="0">
                <a:solidFill>
                  <a:srgbClr val="2C2C2E"/>
                </a:solidFill>
                <a:latin typeface="Palatino Linotype"/>
                <a:cs typeface="Palatino Linotype"/>
              </a:rPr>
              <a:t>field</a:t>
            </a:r>
            <a:r>
              <a:rPr sz="1200" spc="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of</a:t>
            </a:r>
            <a:r>
              <a:rPr sz="1200" spc="-5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5" dirty="0">
                <a:solidFill>
                  <a:srgbClr val="2C2C2E"/>
                </a:solidFill>
                <a:latin typeface="Palatino Linotype"/>
                <a:cs typeface="Palatino Linotype"/>
              </a:rPr>
              <a:t>psycholinguistics</a:t>
            </a:r>
            <a:r>
              <a:rPr sz="1200" spc="3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that</a:t>
            </a:r>
            <a:r>
              <a:rPr sz="1200" spc="-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we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0" dirty="0">
                <a:solidFill>
                  <a:srgbClr val="2C2C2E"/>
                </a:solidFill>
                <a:latin typeface="Palatino Linotype"/>
                <a:cs typeface="Palatino Linotype"/>
              </a:rPr>
              <a:t>coded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5" dirty="0">
                <a:solidFill>
                  <a:srgbClr val="2C2C2E"/>
                </a:solidFill>
                <a:latin typeface="Palatino Linotype"/>
                <a:cs typeface="Palatino Linotype"/>
              </a:rPr>
              <a:t>based</a:t>
            </a:r>
            <a:r>
              <a:rPr sz="1200" spc="3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0" dirty="0">
                <a:solidFill>
                  <a:srgbClr val="2C2C2E"/>
                </a:solidFill>
                <a:latin typeface="Palatino Linotype"/>
                <a:cs typeface="Palatino Linotype"/>
              </a:rPr>
              <a:t>upon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0" dirty="0">
                <a:solidFill>
                  <a:srgbClr val="2C2C2E"/>
                </a:solidFill>
                <a:latin typeface="Palatino Linotype"/>
                <a:cs typeface="Palatino Linotype"/>
              </a:rPr>
              <a:t>whether</a:t>
            </a:r>
            <a:r>
              <a:rPr sz="1200" spc="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a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20" dirty="0">
                <a:solidFill>
                  <a:srgbClr val="2C2C2E"/>
                </a:solidFill>
                <a:latin typeface="Palatino Linotype"/>
                <a:cs typeface="Palatino Linotype"/>
              </a:rPr>
              <a:t>clear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0" dirty="0">
                <a:solidFill>
                  <a:srgbClr val="2C2C2E"/>
                </a:solidFill>
                <a:latin typeface="Palatino Linotype"/>
                <a:cs typeface="Palatino Linotype"/>
              </a:rPr>
              <a:t>description</a:t>
            </a:r>
            <a:r>
              <a:rPr sz="1200" spc="2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25" dirty="0">
                <a:solidFill>
                  <a:srgbClr val="2C2C2E"/>
                </a:solidFill>
                <a:latin typeface="Palatino Linotype"/>
                <a:cs typeface="Palatino Linotype"/>
              </a:rPr>
              <a:t>of </a:t>
            </a:r>
            <a:r>
              <a:rPr sz="1200" spc="-55" dirty="0">
                <a:solidFill>
                  <a:srgbClr val="2C2C2E"/>
                </a:solidFill>
                <a:latin typeface="Palatino Linotype"/>
                <a:cs typeface="Palatino Linotype"/>
              </a:rPr>
              <a:t>contrast</a:t>
            </a:r>
            <a:r>
              <a:rPr sz="1200" spc="-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5" dirty="0">
                <a:solidFill>
                  <a:srgbClr val="2C2C2E"/>
                </a:solidFill>
                <a:latin typeface="Palatino Linotype"/>
                <a:cs typeface="Palatino Linotype"/>
              </a:rPr>
              <a:t>coding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10" dirty="0">
                <a:solidFill>
                  <a:srgbClr val="2C2C2E"/>
                </a:solidFill>
                <a:latin typeface="Palatino Linotype"/>
                <a:cs typeface="Palatino Linotype"/>
              </a:rPr>
              <a:t>was</a:t>
            </a:r>
            <a:r>
              <a:rPr sz="1200" spc="3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0" dirty="0">
                <a:solidFill>
                  <a:srgbClr val="2C2C2E"/>
                </a:solidFill>
                <a:latin typeface="Palatino Linotype"/>
                <a:cs typeface="Palatino Linotype"/>
              </a:rPr>
              <a:t>present.</a:t>
            </a:r>
            <a:r>
              <a:rPr sz="1200" spc="-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5" dirty="0">
                <a:solidFill>
                  <a:srgbClr val="2C2C2E"/>
                </a:solidFill>
                <a:latin typeface="Palatino Linotype"/>
                <a:cs typeface="Palatino Linotype"/>
              </a:rPr>
              <a:t>This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0" dirty="0">
                <a:solidFill>
                  <a:srgbClr val="2C2C2E"/>
                </a:solidFill>
                <a:latin typeface="Palatino Linotype"/>
                <a:cs typeface="Palatino Linotype"/>
              </a:rPr>
              <a:t>analysis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demonstrates</a:t>
            </a:r>
            <a:r>
              <a:rPr sz="1200" spc="5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5" dirty="0">
                <a:solidFill>
                  <a:srgbClr val="2C2C2E"/>
                </a:solidFill>
                <a:latin typeface="Palatino Linotype"/>
                <a:cs typeface="Palatino Linotype"/>
              </a:rPr>
              <a:t>that</a:t>
            </a:r>
            <a:r>
              <a:rPr sz="1200" spc="-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45" dirty="0">
                <a:solidFill>
                  <a:srgbClr val="2C2C2E"/>
                </a:solidFill>
                <a:latin typeface="Palatino Linotype"/>
                <a:cs typeface="Palatino Linotype"/>
              </a:rPr>
              <a:t>the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0" dirty="0">
                <a:solidFill>
                  <a:srgbClr val="2C2C2E"/>
                </a:solidFill>
                <a:latin typeface="Palatino Linotype"/>
                <a:cs typeface="Palatino Linotype"/>
              </a:rPr>
              <a:t>majority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30" dirty="0">
                <a:solidFill>
                  <a:srgbClr val="2C2C2E"/>
                </a:solidFill>
                <a:latin typeface="Palatino Linotype"/>
                <a:cs typeface="Palatino Linotype"/>
              </a:rPr>
              <a:t>of</a:t>
            </a:r>
            <a:r>
              <a:rPr sz="1200" spc="-45" dirty="0">
                <a:solidFill>
                  <a:srgbClr val="2C2C2E"/>
                </a:solidFill>
                <a:latin typeface="Palatino Linotype"/>
                <a:cs typeface="Palatino Linotype"/>
              </a:rPr>
              <a:t> the</a:t>
            </a:r>
            <a:r>
              <a:rPr sz="1200" spc="-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psycholinguistic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0" dirty="0">
                <a:solidFill>
                  <a:srgbClr val="2C2C2E"/>
                </a:solidFill>
                <a:latin typeface="Palatino Linotype"/>
                <a:cs typeface="Palatino Linotype"/>
              </a:rPr>
              <a:t>literature</a:t>
            </a:r>
            <a:r>
              <a:rPr sz="1200" spc="2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20" dirty="0">
                <a:solidFill>
                  <a:srgbClr val="2C2C2E"/>
                </a:solidFill>
                <a:latin typeface="Palatino Linotype"/>
                <a:cs typeface="Palatino Linotype"/>
              </a:rPr>
              <a:t>does 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not</a:t>
            </a:r>
            <a:r>
              <a:rPr sz="1200" spc="-4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5" dirty="0">
                <a:solidFill>
                  <a:srgbClr val="2C2C2E"/>
                </a:solidFill>
                <a:latin typeface="Palatino Linotype"/>
                <a:cs typeface="Palatino Linotype"/>
              </a:rPr>
              <a:t>transparently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0" dirty="0">
                <a:solidFill>
                  <a:srgbClr val="2C2C2E"/>
                </a:solidFill>
                <a:latin typeface="Palatino Linotype"/>
                <a:cs typeface="Palatino Linotype"/>
              </a:rPr>
              <a:t>describe</a:t>
            </a:r>
            <a:r>
              <a:rPr sz="1200" spc="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45" dirty="0">
                <a:solidFill>
                  <a:srgbClr val="2C2C2E"/>
                </a:solidFill>
                <a:latin typeface="Palatino Linotype"/>
                <a:cs typeface="Palatino Linotype"/>
              </a:rPr>
              <a:t>contrast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coding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45" dirty="0">
                <a:solidFill>
                  <a:srgbClr val="2C2C2E"/>
                </a:solidFill>
                <a:latin typeface="Palatino Linotype"/>
                <a:cs typeface="Palatino Linotype"/>
              </a:rPr>
              <a:t>choices,</a:t>
            </a:r>
            <a:r>
              <a:rPr sz="1200" spc="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5" dirty="0">
                <a:solidFill>
                  <a:srgbClr val="2C2C2E"/>
                </a:solidFill>
                <a:latin typeface="Palatino Linotype"/>
                <a:cs typeface="Palatino Linotype"/>
              </a:rPr>
              <a:t>posing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an</a:t>
            </a:r>
            <a:r>
              <a:rPr sz="1200" spc="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important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55" dirty="0">
                <a:solidFill>
                  <a:srgbClr val="2C2C2E"/>
                </a:solidFill>
                <a:latin typeface="Palatino Linotype"/>
                <a:cs typeface="Palatino Linotype"/>
              </a:rPr>
              <a:t>challenge</a:t>
            </a:r>
            <a:r>
              <a:rPr sz="1200" spc="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to</a:t>
            </a:r>
            <a:r>
              <a:rPr sz="1200" spc="-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60" dirty="0">
                <a:solidFill>
                  <a:srgbClr val="2C2C2E"/>
                </a:solidFill>
                <a:latin typeface="Palatino Linotype"/>
                <a:cs typeface="Palatino Linotype"/>
              </a:rPr>
              <a:t>reproducibility</a:t>
            </a:r>
            <a:r>
              <a:rPr sz="1200" spc="2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85" dirty="0">
                <a:solidFill>
                  <a:srgbClr val="2C2C2E"/>
                </a:solidFill>
                <a:latin typeface="Palatino Linotype"/>
                <a:cs typeface="Palatino Linotype"/>
              </a:rPr>
              <a:t>and</a:t>
            </a:r>
            <a:r>
              <a:rPr sz="1200" spc="1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repli- </a:t>
            </a:r>
            <a:r>
              <a:rPr sz="1200" spc="-45" dirty="0">
                <a:solidFill>
                  <a:srgbClr val="2C2C2E"/>
                </a:solidFill>
                <a:latin typeface="Palatino Linotype"/>
                <a:cs typeface="Palatino Linotype"/>
              </a:rPr>
              <a:t>cability</a:t>
            </a:r>
            <a:r>
              <a:rPr sz="1200" spc="-15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in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75" dirty="0">
                <a:solidFill>
                  <a:srgbClr val="2C2C2E"/>
                </a:solidFill>
                <a:latin typeface="Palatino Linotype"/>
                <a:cs typeface="Palatino Linotype"/>
              </a:rPr>
              <a:t>our</a:t>
            </a:r>
            <a:r>
              <a:rPr sz="1200" dirty="0">
                <a:solidFill>
                  <a:srgbClr val="2C2C2E"/>
                </a:solidFill>
                <a:latin typeface="Palatino Linotype"/>
                <a:cs typeface="Palatino Linotype"/>
              </a:rPr>
              <a:t> </a:t>
            </a:r>
            <a:r>
              <a:rPr sz="1200" spc="-10" dirty="0">
                <a:solidFill>
                  <a:srgbClr val="2C2C2E"/>
                </a:solidFill>
                <a:latin typeface="Palatino Linotype"/>
                <a:cs typeface="Palatino Linotype"/>
              </a:rPr>
              <a:t>field.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100"/>
              </a:spcBef>
            </a:pPr>
            <a:r>
              <a:rPr dirty="0"/>
              <a:t>Dummy</a:t>
            </a:r>
            <a:r>
              <a:rPr spc="-95" dirty="0"/>
              <a:t> </a:t>
            </a:r>
            <a:r>
              <a:rPr spc="-10" dirty="0"/>
              <a:t>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95960" y="6552692"/>
            <a:ext cx="102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endParaRPr sz="12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3343" y="388317"/>
            <a:ext cx="7374928" cy="59113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3875" y="1291844"/>
            <a:ext cx="4790440" cy="456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indent="-179705">
              <a:lnSpc>
                <a:spcPts val="2435"/>
              </a:lnSpc>
              <a:spcBef>
                <a:spcPts val="100"/>
              </a:spcBef>
              <a:buFont typeface="Arial"/>
              <a:buChar char="•"/>
              <a:tabLst>
                <a:tab pos="192405" algn="l"/>
              </a:tabLst>
            </a:pPr>
            <a:r>
              <a:rPr sz="2400" i="1" dirty="0">
                <a:solidFill>
                  <a:srgbClr val="001158"/>
                </a:solidFill>
                <a:latin typeface="Georgia"/>
                <a:cs typeface="Georgia"/>
              </a:rPr>
              <a:t>Reference</a:t>
            </a:r>
            <a:r>
              <a:rPr sz="24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400" i="1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assigned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value</a:t>
            </a:r>
            <a:endParaRPr sz="2400">
              <a:latin typeface="Georgia"/>
              <a:cs typeface="Georgia"/>
            </a:endParaRPr>
          </a:p>
          <a:p>
            <a:pPr marL="193675">
              <a:lnSpc>
                <a:spcPts val="2435"/>
              </a:lnSpc>
            </a:pPr>
            <a:r>
              <a:rPr sz="2400" dirty="0">
                <a:solidFill>
                  <a:srgbClr val="001158"/>
                </a:solidFill>
                <a:latin typeface="Times New Roman"/>
                <a:cs typeface="Times New Roman"/>
              </a:rPr>
              <a:t>0</a:t>
            </a:r>
            <a:r>
              <a:rPr sz="2400" spc="-55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every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code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endParaRPr sz="2400">
              <a:latin typeface="Georgia"/>
              <a:cs typeface="Georgia"/>
            </a:endParaRPr>
          </a:p>
          <a:p>
            <a:pPr marL="191770" marR="336550" indent="-179705">
              <a:lnSpc>
                <a:spcPct val="73300"/>
              </a:lnSpc>
              <a:spcBef>
                <a:spcPts val="1080"/>
              </a:spcBef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Considerations</a:t>
            </a:r>
            <a:r>
              <a:rPr sz="24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selecting</a:t>
            </a:r>
            <a:r>
              <a:rPr sz="24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the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reference</a:t>
            </a:r>
            <a:r>
              <a:rPr sz="2400" spc="-1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group:</a:t>
            </a:r>
            <a:endParaRPr sz="2400">
              <a:latin typeface="Georgia"/>
              <a:cs typeface="Georgia"/>
            </a:endParaRPr>
          </a:p>
          <a:p>
            <a:pPr marL="372745" marR="629920" lvl="1" indent="-179705">
              <a:lnSpc>
                <a:spcPct val="70000"/>
              </a:lnSpc>
              <a:spcBef>
                <a:spcPts val="1145"/>
              </a:spcBef>
              <a:buFont typeface="Arial"/>
              <a:buChar char="-"/>
              <a:tabLst>
                <a:tab pos="37401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useful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comparison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(e.g.,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control 	group)</a:t>
            </a:r>
            <a:endParaRPr sz="2000">
              <a:latin typeface="Georgia"/>
              <a:cs typeface="Georgia"/>
            </a:endParaRPr>
          </a:p>
          <a:p>
            <a:pPr marL="372745" marR="275590" lvl="1" indent="-179705">
              <a:lnSpc>
                <a:spcPct val="71000"/>
              </a:lnSpc>
              <a:spcBef>
                <a:spcPts val="1200"/>
              </a:spcBef>
              <a:buFont typeface="Arial"/>
              <a:buChar char="-"/>
              <a:tabLst>
                <a:tab pos="37401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Size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should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not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too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small 	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compared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size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other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groups</a:t>
            </a:r>
            <a:endParaRPr sz="2000">
              <a:latin typeface="Georgia"/>
              <a:cs typeface="Georgia"/>
            </a:endParaRPr>
          </a:p>
          <a:p>
            <a:pPr marL="192405" indent="-179705">
              <a:lnSpc>
                <a:spcPts val="2450"/>
              </a:lnSpc>
              <a:spcBef>
                <a:spcPts val="295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intercept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reference</a:t>
            </a:r>
            <a:endParaRPr sz="2400">
              <a:latin typeface="Georgia"/>
              <a:cs typeface="Georgia"/>
            </a:endParaRPr>
          </a:p>
          <a:p>
            <a:pPr marL="193675" marR="5080">
              <a:lnSpc>
                <a:spcPct val="69200"/>
              </a:lnSpc>
              <a:spcBef>
                <a:spcPts val="455"/>
              </a:spcBef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reference group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ts val="2495"/>
              </a:lnSpc>
              <a:spcBef>
                <a:spcPts val="310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4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(unstandardized)</a:t>
            </a:r>
            <a:r>
              <a:rPr sz="24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endParaRPr sz="2400">
              <a:latin typeface="Georgia"/>
              <a:cs typeface="Georgia"/>
            </a:endParaRPr>
          </a:p>
          <a:p>
            <a:pPr marL="193675">
              <a:lnSpc>
                <a:spcPts val="2050"/>
              </a:lnSpc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coefficient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comparison</a:t>
            </a:r>
            <a:r>
              <a:rPr sz="2400" b="1" i="1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spc="-25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endParaRPr sz="2400">
              <a:latin typeface="Georgia"/>
              <a:cs typeface="Georgia"/>
            </a:endParaRPr>
          </a:p>
          <a:p>
            <a:pPr marL="193675" marR="22225">
              <a:lnSpc>
                <a:spcPct val="69200"/>
              </a:lnSpc>
              <a:spcBef>
                <a:spcPts val="445"/>
              </a:spcBef>
            </a:pP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b="1" i="1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400" b="1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b="1" i="1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b="1" i="1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400" b="1" i="1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b="1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spc="-25" dirty="0">
                <a:solidFill>
                  <a:srgbClr val="001158"/>
                </a:solidFill>
                <a:latin typeface="Georgia"/>
                <a:cs typeface="Georgia"/>
              </a:rPr>
              <a:t>the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400" b="1" i="1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b="1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b="1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reference</a:t>
            </a:r>
            <a:r>
              <a:rPr sz="2400" b="1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spc="-10" dirty="0">
                <a:solidFill>
                  <a:srgbClr val="001158"/>
                </a:solidFill>
                <a:latin typeface="Georgia"/>
                <a:cs typeface="Georgia"/>
              </a:rPr>
              <a:t>group.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Regression</a:t>
            </a:r>
            <a:r>
              <a:rPr spc="-110" dirty="0"/>
              <a:t> </a:t>
            </a:r>
            <a:r>
              <a:rPr dirty="0"/>
              <a:t>modelling</a:t>
            </a:r>
            <a:r>
              <a:rPr spc="-100" dirty="0"/>
              <a:t> </a:t>
            </a:r>
            <a:r>
              <a:rPr dirty="0"/>
              <a:t>with</a:t>
            </a:r>
            <a:r>
              <a:rPr spc="-100" dirty="0"/>
              <a:t> </a:t>
            </a:r>
            <a:r>
              <a:rPr dirty="0"/>
              <a:t>dummy</a:t>
            </a:r>
            <a:r>
              <a:rPr spc="-105" dirty="0"/>
              <a:t> </a:t>
            </a:r>
            <a:r>
              <a:rPr spc="-10" dirty="0"/>
              <a:t>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2" y="1416812"/>
            <a:ext cx="11067415" cy="421957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92405" indent="-179705">
              <a:lnSpc>
                <a:spcPct val="100000"/>
              </a:lnSpc>
              <a:spcBef>
                <a:spcPts val="1035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Install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load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‘wec’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package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Load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‘BMI’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within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package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(and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check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variables)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910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Check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dummy.code()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psych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package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915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Create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set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dummy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coded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education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BMI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Get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some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descriptive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statistics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set</a:t>
            </a:r>
            <a:endParaRPr sz="2400">
              <a:latin typeface="Georgia"/>
              <a:cs typeface="Georgia"/>
            </a:endParaRPr>
          </a:p>
          <a:p>
            <a:pPr marL="191770" marR="373380" indent="-179705">
              <a:lnSpc>
                <a:spcPts val="2590"/>
              </a:lnSpc>
              <a:spcBef>
                <a:spcPts val="1240"/>
              </a:spcBef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Create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linear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your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dummy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codes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predictors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BMI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(be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sure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to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choose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referent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group)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Check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interpret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summary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910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analysis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dependent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predictor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variables.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Unweighted</a:t>
            </a:r>
            <a:r>
              <a:rPr spc="-150" dirty="0"/>
              <a:t> </a:t>
            </a:r>
            <a:r>
              <a:rPr dirty="0"/>
              <a:t>Effects</a:t>
            </a:r>
            <a:r>
              <a:rPr spc="-145" dirty="0"/>
              <a:t> </a:t>
            </a:r>
            <a:r>
              <a:rPr spc="-10" dirty="0"/>
              <a:t>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8775" y="1499108"/>
            <a:ext cx="5347970" cy="312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indent="-179705">
              <a:lnSpc>
                <a:spcPts val="2435"/>
              </a:lnSpc>
              <a:spcBef>
                <a:spcPts val="100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Used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compare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how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endParaRPr sz="2400">
              <a:latin typeface="Georgia"/>
              <a:cs typeface="Georgia"/>
            </a:endParaRPr>
          </a:p>
          <a:p>
            <a:pPr marL="206375" marR="429895">
              <a:lnSpc>
                <a:spcPct val="70000"/>
              </a:lnSpc>
              <a:spcBef>
                <a:spcPts val="420"/>
              </a:spcBef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differs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spc="-10" dirty="0">
                <a:solidFill>
                  <a:srgbClr val="001158"/>
                </a:solidFill>
                <a:latin typeface="Georgia"/>
                <a:cs typeface="Georgia"/>
              </a:rPr>
              <a:t>grand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400" b="1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(mean</a:t>
            </a:r>
            <a:r>
              <a:rPr sz="2400" b="1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b="1" i="1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400" b="1" i="1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i="1" spc="-10" dirty="0">
                <a:solidFill>
                  <a:srgbClr val="001158"/>
                </a:solidFill>
                <a:latin typeface="Georgia"/>
                <a:cs typeface="Georgia"/>
              </a:rPr>
              <a:t>means)</a:t>
            </a:r>
            <a:endParaRPr sz="2400">
              <a:latin typeface="Georgia"/>
              <a:cs typeface="Georgia"/>
            </a:endParaRPr>
          </a:p>
          <a:p>
            <a:pPr marL="204470" marR="380365" indent="-179705">
              <a:lnSpc>
                <a:spcPct val="69200"/>
              </a:lnSpc>
              <a:spcBef>
                <a:spcPts val="1295"/>
              </a:spcBef>
              <a:buFont typeface="Arial"/>
              <a:buChar char="•"/>
              <a:tabLst>
                <a:tab pos="2063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Unweighted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=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counts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equally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(independent</a:t>
            </a:r>
            <a:r>
              <a:rPr sz="24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size)</a:t>
            </a:r>
            <a:endParaRPr sz="2400">
              <a:latin typeface="Georgia"/>
              <a:cs typeface="Georgia"/>
            </a:endParaRPr>
          </a:p>
          <a:p>
            <a:pPr marL="205104" indent="-17970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Base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gets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all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-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1</a:t>
            </a:r>
            <a:endParaRPr sz="2400">
              <a:latin typeface="Georgia"/>
              <a:cs typeface="Georgia"/>
            </a:endParaRPr>
          </a:p>
          <a:p>
            <a:pPr marL="386080" lvl="1" indent="-179705">
              <a:lnSpc>
                <a:spcPct val="100000"/>
              </a:lnSpc>
              <a:spcBef>
                <a:spcPts val="520"/>
              </a:spcBef>
              <a:buFont typeface="Arial"/>
              <a:buChar char="-"/>
              <a:tabLst>
                <a:tab pos="386080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001158"/>
                </a:solidFill>
                <a:latin typeface="Georgia"/>
                <a:cs typeface="Georgia"/>
              </a:rPr>
              <a:t>least</a:t>
            </a:r>
            <a:r>
              <a:rPr sz="2000" b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interest</a:t>
            </a:r>
            <a:endParaRPr sz="2000">
              <a:latin typeface="Georgia"/>
              <a:cs typeface="Georgia"/>
            </a:endParaRPr>
          </a:p>
          <a:p>
            <a:pPr marL="205104" indent="-17970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Interpretation</a:t>
            </a:r>
            <a:r>
              <a:rPr sz="24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coefficients</a:t>
            </a:r>
            <a:r>
              <a:rPr sz="24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endParaRPr sz="2400">
              <a:latin typeface="Georgia"/>
              <a:cs typeface="Georgia"/>
            </a:endParaRPr>
          </a:p>
          <a:p>
            <a:pPr marL="386080" lvl="1" indent="-179705">
              <a:lnSpc>
                <a:spcPct val="100000"/>
              </a:lnSpc>
              <a:spcBef>
                <a:spcPts val="520"/>
              </a:spcBef>
              <a:buFont typeface="Arial"/>
              <a:buChar char="-"/>
              <a:tabLst>
                <a:tab pos="386080" algn="l"/>
              </a:tabLst>
            </a:pP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B</a:t>
            </a:r>
            <a:r>
              <a:rPr sz="1950" baseline="-17094" dirty="0">
                <a:solidFill>
                  <a:srgbClr val="001158"/>
                </a:solidFill>
                <a:latin typeface="Times New Roman"/>
                <a:cs typeface="Times New Roman"/>
              </a:rPr>
              <a:t>0</a:t>
            </a:r>
            <a:r>
              <a:rPr sz="1950" spc="7" baseline="-17094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unweighted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groups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7113" y="4649723"/>
            <a:ext cx="49663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r>
              <a:rPr sz="2000" spc="170" dirty="0">
                <a:solidFill>
                  <a:srgbClr val="00115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B</a:t>
            </a:r>
            <a:r>
              <a:rPr sz="1950" baseline="-17094" dirty="0">
                <a:solidFill>
                  <a:srgbClr val="001158"/>
                </a:solidFill>
                <a:latin typeface="Times New Roman"/>
                <a:cs typeface="Times New Roman"/>
              </a:rPr>
              <a:t>i</a:t>
            </a:r>
            <a:r>
              <a:rPr sz="1950" spc="15" baseline="-17094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deviation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176" y="4799076"/>
            <a:ext cx="4891405" cy="11963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605"/>
              </a:spcBef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unweighted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groups</a:t>
            </a:r>
            <a:endParaRPr sz="20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r>
              <a:rPr sz="2000" spc="170" dirty="0">
                <a:solidFill>
                  <a:srgbClr val="00115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base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defined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as:</a:t>
            </a:r>
            <a:endParaRPr sz="2000">
              <a:latin typeface="Georgia"/>
              <a:cs typeface="Georgia"/>
            </a:endParaRPr>
          </a:p>
          <a:p>
            <a:pPr marL="218440">
              <a:lnSpc>
                <a:spcPct val="100000"/>
              </a:lnSpc>
              <a:spcBef>
                <a:spcPts val="1010"/>
              </a:spcBef>
            </a:pP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M</a:t>
            </a:r>
            <a:r>
              <a:rPr sz="2000" spc="-15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=</a:t>
            </a:r>
            <a:r>
              <a:rPr sz="2000" spc="-15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–</a:t>
            </a:r>
            <a:r>
              <a:rPr sz="2000" spc="-10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B1</a:t>
            </a:r>
            <a:r>
              <a:rPr sz="2000" spc="-10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–</a:t>
            </a:r>
            <a:r>
              <a:rPr sz="2000" spc="-10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B2</a:t>
            </a:r>
            <a:r>
              <a:rPr sz="2000" spc="-10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–</a:t>
            </a:r>
            <a:r>
              <a:rPr sz="2000" spc="-10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B3…B</a:t>
            </a:r>
            <a:r>
              <a:rPr sz="1950" baseline="-17094" dirty="0">
                <a:solidFill>
                  <a:srgbClr val="001158"/>
                </a:solidFill>
                <a:latin typeface="Times New Roman"/>
                <a:cs typeface="Times New Roman"/>
              </a:rPr>
              <a:t>i</a:t>
            </a:r>
            <a:r>
              <a:rPr sz="1950" spc="262" baseline="-17094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158"/>
                </a:solidFill>
                <a:latin typeface="Times New Roman"/>
                <a:cs typeface="Times New Roman"/>
              </a:rPr>
              <a:t>+</a:t>
            </a:r>
            <a:r>
              <a:rPr sz="2000" spc="-15" dirty="0">
                <a:solidFill>
                  <a:srgbClr val="00115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01158"/>
                </a:solidFill>
                <a:latin typeface="Times New Roman"/>
                <a:cs typeface="Times New Roman"/>
              </a:rPr>
              <a:t>B0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86435" y="6552692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endParaRPr sz="120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398" y="1442567"/>
            <a:ext cx="6099172" cy="50056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</a:t>
            </a:r>
            <a:r>
              <a:rPr spc="-6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model</a:t>
            </a:r>
            <a:r>
              <a:rPr spc="-7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unweighted</a:t>
            </a:r>
            <a:r>
              <a:rPr spc="-60" dirty="0"/>
              <a:t> </a:t>
            </a:r>
            <a:r>
              <a:rPr dirty="0"/>
              <a:t>effects</a:t>
            </a:r>
            <a:r>
              <a:rPr spc="-65" dirty="0"/>
              <a:t> </a:t>
            </a:r>
            <a:r>
              <a:rPr spc="-10" dirty="0"/>
              <a:t>codes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2" y="1536700"/>
            <a:ext cx="11349990" cy="43262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2405" marR="5080" indent="-18034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Try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contr.sum()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generate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coding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matrices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for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3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4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groups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linear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with:</a:t>
            </a:r>
            <a:endParaRPr sz="2800">
              <a:latin typeface="Georgia"/>
              <a:cs typeface="Georgia"/>
            </a:endParaRPr>
          </a:p>
          <a:p>
            <a:pPr marL="374015" lvl="1" indent="-180975">
              <a:lnSpc>
                <a:spcPct val="100000"/>
              </a:lnSpc>
              <a:spcBef>
                <a:spcPts val="950"/>
              </a:spcBef>
              <a:buFont typeface="Arial"/>
              <a:buChar char="-"/>
              <a:tabLst>
                <a:tab pos="37401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BMI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outcome,</a:t>
            </a:r>
            <a:endParaRPr sz="2600">
              <a:latin typeface="Georgia"/>
              <a:cs typeface="Georgia"/>
            </a:endParaRPr>
          </a:p>
          <a:p>
            <a:pPr marL="374015" lvl="1" indent="-180975">
              <a:lnSpc>
                <a:spcPct val="100000"/>
              </a:lnSpc>
              <a:spcBef>
                <a:spcPts val="860"/>
              </a:spcBef>
              <a:buFont typeface="Arial"/>
              <a:buChar char="-"/>
              <a:tabLst>
                <a:tab pos="37401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Education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predictor</a:t>
            </a:r>
            <a:endParaRPr sz="2600">
              <a:latin typeface="Georgia"/>
              <a:cs typeface="Georgia"/>
            </a:endParaRPr>
          </a:p>
          <a:p>
            <a:pPr marL="374015" marR="146050" lvl="1" indent="-180975">
              <a:lnSpc>
                <a:spcPts val="2810"/>
              </a:lnSpc>
              <a:spcBef>
                <a:spcPts val="1240"/>
              </a:spcBef>
              <a:buFont typeface="Arial"/>
              <a:buChar char="-"/>
              <a:tabLst>
                <a:tab pos="37401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Figure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how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contrasts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argument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lm()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by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creating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list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that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includes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contr.sum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education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endParaRPr sz="26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Generate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interpret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summary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Get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base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Weighted</a:t>
            </a:r>
            <a:r>
              <a:rPr spc="-100" dirty="0"/>
              <a:t> </a:t>
            </a:r>
            <a:r>
              <a:rPr dirty="0"/>
              <a:t>Effects</a:t>
            </a:r>
            <a:r>
              <a:rPr spc="-100" dirty="0"/>
              <a:t> </a:t>
            </a:r>
            <a:r>
              <a:rPr spc="-10" dirty="0"/>
              <a:t>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475" y="1498091"/>
            <a:ext cx="6384290" cy="436181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93675" marR="548640" indent="-180975">
              <a:lnSpc>
                <a:spcPct val="80300"/>
              </a:lnSpc>
              <a:spcBef>
                <a:spcPts val="715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Used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compare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how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for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differs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spc="-10" dirty="0">
                <a:solidFill>
                  <a:srgbClr val="001158"/>
                </a:solidFill>
                <a:latin typeface="Georgia"/>
                <a:cs typeface="Georgia"/>
              </a:rPr>
              <a:t>weighted </a:t>
            </a:r>
            <a:r>
              <a:rPr sz="2600" b="1" i="1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600" b="1" i="1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001158"/>
                </a:solidFill>
                <a:latin typeface="Georgia"/>
                <a:cs typeface="Georgia"/>
              </a:rPr>
              <a:t>(mean</a:t>
            </a:r>
            <a:r>
              <a:rPr sz="2600" b="1" i="1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b="1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600" b="1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spc="-10" dirty="0">
                <a:solidFill>
                  <a:srgbClr val="001158"/>
                </a:solidFill>
                <a:latin typeface="Georgia"/>
                <a:cs typeface="Georgia"/>
              </a:rPr>
              <a:t>means </a:t>
            </a:r>
            <a:r>
              <a:rPr sz="2600" b="1" i="1" dirty="0">
                <a:solidFill>
                  <a:srgbClr val="001158"/>
                </a:solidFill>
                <a:latin typeface="Georgia"/>
                <a:cs typeface="Georgia"/>
              </a:rPr>
              <a:t>weighted</a:t>
            </a:r>
            <a:r>
              <a:rPr sz="2600" b="1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001158"/>
                </a:solidFill>
                <a:latin typeface="Georgia"/>
                <a:cs typeface="Georgia"/>
              </a:rPr>
              <a:t>by</a:t>
            </a:r>
            <a:r>
              <a:rPr sz="2600" b="1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600" b="1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spc="-10" dirty="0">
                <a:solidFill>
                  <a:srgbClr val="001158"/>
                </a:solidFill>
                <a:latin typeface="Georgia"/>
                <a:cs typeface="Georgia"/>
              </a:rPr>
              <a:t>size)</a:t>
            </a:r>
            <a:endParaRPr sz="2600">
              <a:latin typeface="Georgia"/>
              <a:cs typeface="Georgia"/>
            </a:endParaRPr>
          </a:p>
          <a:p>
            <a:pPr marL="193675" marR="154305" indent="-180975">
              <a:lnSpc>
                <a:spcPct val="80000"/>
              </a:lnSpc>
              <a:spcBef>
                <a:spcPts val="1200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Useful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when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proportion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cases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from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‘represents’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population</a:t>
            </a:r>
            <a:endParaRPr sz="2600">
              <a:latin typeface="Georgia"/>
              <a:cs typeface="Georgia"/>
            </a:endParaRPr>
          </a:p>
          <a:p>
            <a:pPr marL="374650" lvl="1" indent="-180975">
              <a:lnSpc>
                <a:spcPct val="100000"/>
              </a:lnSpc>
              <a:spcBef>
                <a:spcPts val="685"/>
              </a:spcBef>
              <a:buFont typeface="Arial"/>
              <a:buChar char="-"/>
              <a:tabLst>
                <a:tab pos="374650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(e.g.,</a:t>
            </a:r>
            <a:r>
              <a:rPr sz="22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ethnic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makeup,</a:t>
            </a:r>
            <a:r>
              <a:rPr sz="22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cognitive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ability,</a:t>
            </a:r>
            <a:r>
              <a:rPr sz="22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25" dirty="0">
                <a:solidFill>
                  <a:srgbClr val="001158"/>
                </a:solidFill>
                <a:latin typeface="Georgia"/>
                <a:cs typeface="Georgia"/>
              </a:rPr>
              <a:t>…)</a:t>
            </a:r>
            <a:endParaRPr sz="22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when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sample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size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groups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differs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lot</a:t>
            </a:r>
            <a:endParaRPr sz="26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Base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(group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least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interest)</a:t>
            </a:r>
            <a:endParaRPr sz="2600">
              <a:latin typeface="Georgia"/>
              <a:cs typeface="Georgia"/>
            </a:endParaRPr>
          </a:p>
          <a:p>
            <a:pPr marL="374650" lvl="1" indent="-180975">
              <a:lnSpc>
                <a:spcPct val="100000"/>
              </a:lnSpc>
              <a:spcBef>
                <a:spcPts val="660"/>
              </a:spcBef>
              <a:buFont typeface="Arial"/>
              <a:buChar char="-"/>
              <a:tabLst>
                <a:tab pos="374650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Minus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ratio</a:t>
            </a:r>
            <a:r>
              <a:rPr sz="22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2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i</a:t>
            </a:r>
            <a:r>
              <a:rPr sz="22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base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2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20" dirty="0">
                <a:solidFill>
                  <a:srgbClr val="001158"/>
                </a:solidFill>
                <a:latin typeface="Georgia"/>
                <a:cs typeface="Georgia"/>
              </a:rPr>
              <a:t>size</a:t>
            </a:r>
            <a:endParaRPr sz="2200">
              <a:latin typeface="Georgia"/>
              <a:cs typeface="Georgia"/>
            </a:endParaRPr>
          </a:p>
          <a:p>
            <a:pPr marL="374650" lvl="1" indent="-180975">
              <a:lnSpc>
                <a:spcPct val="100000"/>
              </a:lnSpc>
              <a:spcBef>
                <a:spcPts val="675"/>
              </a:spcBef>
              <a:buFont typeface="Arial"/>
              <a:buChar char="-"/>
              <a:tabLst>
                <a:tab pos="374650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Same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unweighted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(-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1)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if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2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sizes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equal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1396" y="295671"/>
            <a:ext cx="4201445" cy="61015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41985" y="6552692"/>
            <a:ext cx="155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11</a:t>
            </a:r>
            <a:endParaRPr sz="1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</a:t>
            </a:r>
            <a:r>
              <a:rPr spc="-5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model</a:t>
            </a:r>
            <a:r>
              <a:rPr spc="-6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weighted</a:t>
            </a:r>
            <a:r>
              <a:rPr spc="-55" dirty="0"/>
              <a:t> </a:t>
            </a:r>
            <a:r>
              <a:rPr dirty="0"/>
              <a:t>effects</a:t>
            </a:r>
            <a:r>
              <a:rPr spc="-55" dirty="0"/>
              <a:t> </a:t>
            </a:r>
            <a:r>
              <a:rPr spc="-10" dirty="0"/>
              <a:t>codes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07" y="1536700"/>
            <a:ext cx="11016615" cy="28263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3675" marR="5080" indent="-18097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Make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weighted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contrast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matrix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contr.wec()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from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wec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package</a:t>
            </a:r>
            <a:endParaRPr sz="2800">
              <a:latin typeface="Georgia"/>
              <a:cs typeface="Georgia"/>
            </a:endParaRPr>
          </a:p>
          <a:p>
            <a:pPr marL="192405" marR="335280" indent="-180340">
              <a:lnSpc>
                <a:spcPts val="3000"/>
              </a:lnSpc>
              <a:spcBef>
                <a:spcPts val="1195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Make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two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new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represent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contrasts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either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omitting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the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‘lowest’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highest’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education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Now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two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including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those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new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Generate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summaries,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interpret,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compare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6513" y="968514"/>
            <a:ext cx="6140060" cy="51576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Contrast</a:t>
            </a:r>
            <a:r>
              <a:rPr spc="-125" dirty="0"/>
              <a:t> </a:t>
            </a:r>
            <a:r>
              <a:rPr spc="-10" dirty="0"/>
              <a:t>Coding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475" y="1300988"/>
            <a:ext cx="5407660" cy="470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indent="-179705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When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there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expected</a:t>
            </a:r>
            <a:endParaRPr sz="2400">
              <a:latin typeface="Georgia"/>
              <a:cs typeface="Georgia"/>
            </a:endParaRPr>
          </a:p>
          <a:p>
            <a:pPr marL="193675" marR="1105535">
              <a:lnSpc>
                <a:spcPct val="69200"/>
              </a:lnSpc>
              <a:spcBef>
                <a:spcPts val="455"/>
              </a:spcBef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differences</a:t>
            </a:r>
            <a:r>
              <a:rPr sz="24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between</a:t>
            </a:r>
            <a:r>
              <a:rPr sz="24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groups</a:t>
            </a:r>
            <a:r>
              <a:rPr sz="2400" spc="-9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spc="-25" dirty="0">
                <a:solidFill>
                  <a:srgbClr val="001158"/>
                </a:solidFill>
                <a:latin typeface="Georgia"/>
                <a:cs typeface="Georgia"/>
              </a:rPr>
              <a:t>or </a:t>
            </a:r>
            <a:r>
              <a:rPr sz="2400" b="1" dirty="0">
                <a:solidFill>
                  <a:srgbClr val="001158"/>
                </a:solidFill>
                <a:latin typeface="Georgia"/>
                <a:cs typeface="Georgia"/>
              </a:rPr>
              <a:t>combinations</a:t>
            </a:r>
            <a:r>
              <a:rPr sz="2400" b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b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001158"/>
                </a:solidFill>
                <a:latin typeface="Georgia"/>
                <a:cs typeface="Georgia"/>
              </a:rPr>
              <a:t>groups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Good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testing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specific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hypotheses</a:t>
            </a:r>
            <a:endParaRPr sz="24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425"/>
              </a:spcBef>
              <a:buFont typeface="Arial"/>
              <a:buChar char="-"/>
              <a:tabLst>
                <a:tab pos="373380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E.g.,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+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b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will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less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than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50" dirty="0">
                <a:solidFill>
                  <a:srgbClr val="001158"/>
                </a:solidFill>
                <a:latin typeface="Georgia"/>
                <a:cs typeface="Georgia"/>
              </a:rPr>
              <a:t>c</a:t>
            </a:r>
            <a:endParaRPr sz="2000">
              <a:latin typeface="Georgia"/>
              <a:cs typeface="Georgia"/>
            </a:endParaRPr>
          </a:p>
          <a:p>
            <a:pPr marL="191770" marR="377190" indent="-179705">
              <a:lnSpc>
                <a:spcPct val="69200"/>
              </a:lnSpc>
              <a:spcBef>
                <a:spcPts val="1305"/>
              </a:spcBef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increase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power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statistical 	analysis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92405" algn="l"/>
              </a:tabLst>
            </a:pPr>
            <a:r>
              <a:rPr sz="2400" b="1" spc="-10" dirty="0">
                <a:solidFill>
                  <a:srgbClr val="001158"/>
                </a:solidFill>
                <a:latin typeface="Georgia"/>
                <a:cs typeface="Georgia"/>
              </a:rPr>
              <a:t>Rules</a:t>
            </a:r>
            <a:endParaRPr sz="2400">
              <a:latin typeface="Georgia"/>
              <a:cs typeface="Georgia"/>
            </a:endParaRPr>
          </a:p>
          <a:p>
            <a:pPr marL="372745" marR="460375" lvl="1" indent="-179705">
              <a:lnSpc>
                <a:spcPct val="67000"/>
              </a:lnSpc>
              <a:spcBef>
                <a:spcPts val="1315"/>
              </a:spcBef>
              <a:buFont typeface="Arial"/>
              <a:buChar char="-"/>
              <a:tabLst>
                <a:tab pos="37401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1.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code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variable,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sum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weights 	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across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all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groups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must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equal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50" dirty="0">
                <a:solidFill>
                  <a:srgbClr val="001158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372745" marR="252095" lvl="1" indent="-179705">
              <a:lnSpc>
                <a:spcPct val="71000"/>
              </a:lnSpc>
              <a:spcBef>
                <a:spcPts val="1200"/>
              </a:spcBef>
              <a:buFont typeface="Arial"/>
              <a:buChar char="-"/>
              <a:tabLst>
                <a:tab pos="37401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2.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Sum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products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pair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code 	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must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equal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50" dirty="0">
                <a:solidFill>
                  <a:srgbClr val="001158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372745" lvl="1" indent="-179705">
              <a:lnSpc>
                <a:spcPts val="2050"/>
              </a:lnSpc>
              <a:spcBef>
                <a:spcPts val="480"/>
              </a:spcBef>
              <a:buFont typeface="Arial"/>
              <a:buChar char="-"/>
              <a:tabLst>
                <a:tab pos="37274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3.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Difference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between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positive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set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weights</a:t>
            </a:r>
            <a:endParaRPr sz="2000">
              <a:latin typeface="Georgia"/>
              <a:cs typeface="Georgia"/>
            </a:endParaRPr>
          </a:p>
          <a:p>
            <a:pPr marL="374015" marR="5080">
              <a:lnSpc>
                <a:spcPct val="67000"/>
              </a:lnSpc>
              <a:spcBef>
                <a:spcPts val="440"/>
              </a:spcBef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negative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set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should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equal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1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code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(for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ease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interpretation)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22935" y="6552692"/>
            <a:ext cx="1746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13</a:t>
            </a:r>
            <a:endParaRPr sz="1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</a:t>
            </a:r>
            <a:r>
              <a:rPr spc="-6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model</a:t>
            </a:r>
            <a:r>
              <a:rPr spc="-6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contrast</a:t>
            </a:r>
            <a:r>
              <a:rPr spc="-65" dirty="0"/>
              <a:t> </a:t>
            </a:r>
            <a:r>
              <a:rPr spc="-10" dirty="0"/>
              <a:t>codes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2" y="1536700"/>
            <a:ext cx="11219180" cy="18999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2405" marR="5080" indent="-18034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Create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matrix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allows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compare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lowest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education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the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middle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highest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matrix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(hint: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see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Table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8.5.1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D)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including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this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matrix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contrasts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arguments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Generate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interpret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summary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962" y="290067"/>
            <a:ext cx="55067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spc="-105" dirty="0"/>
              <a:t> </a:t>
            </a:r>
            <a:r>
              <a:rPr dirty="0"/>
              <a:t>coding</a:t>
            </a:r>
            <a:r>
              <a:rPr spc="-8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26112" y="6552692"/>
            <a:ext cx="170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15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962" y="1430019"/>
            <a:ext cx="10100945" cy="303911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There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many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more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types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coding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systems</a:t>
            </a:r>
            <a:endParaRPr sz="2800">
              <a:latin typeface="Georgia"/>
              <a:cs typeface="Georgia"/>
            </a:endParaRPr>
          </a:p>
          <a:p>
            <a:pPr marL="193040" marR="5080" indent="-180975">
              <a:lnSpc>
                <a:spcPts val="3000"/>
              </a:lnSpc>
              <a:spcBef>
                <a:spcPts val="1240"/>
              </a:spcBef>
              <a:buClr>
                <a:srgbClr val="001158"/>
              </a:buClr>
              <a:buFont typeface="Arial"/>
              <a:buChar char="•"/>
              <a:tabLst>
                <a:tab pos="193040" algn="l"/>
              </a:tabLst>
            </a:pPr>
            <a:r>
              <a:rPr sz="28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https://stats.idre.ucla.edu/r/library/r-</a:t>
            </a:r>
            <a:r>
              <a:rPr sz="2800" u="sng" spc="-2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library-contrast-</a:t>
            </a:r>
            <a:r>
              <a:rPr sz="28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coding-</a:t>
            </a:r>
            <a:r>
              <a:rPr sz="2800" u="none" spc="-10" dirty="0">
                <a:solidFill>
                  <a:srgbClr val="0033CC"/>
                </a:solidFill>
                <a:latin typeface="Georgia"/>
                <a:cs typeface="Georgia"/>
              </a:rPr>
              <a:t> </a:t>
            </a:r>
            <a:r>
              <a:rPr sz="28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systems-</a:t>
            </a:r>
            <a:r>
              <a:rPr sz="2800" u="sng" spc="-2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for-categorical-</a:t>
            </a:r>
            <a:r>
              <a:rPr sz="28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variables/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910"/>
              </a:spcBef>
              <a:buClr>
                <a:srgbClr val="001158"/>
              </a:buClr>
              <a:buFont typeface="Arial"/>
              <a:buChar char="•"/>
            </a:pP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Next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week:</a:t>
            </a:r>
            <a:endParaRPr sz="2800">
              <a:latin typeface="Georgia"/>
              <a:cs typeface="Georgia"/>
            </a:endParaRPr>
          </a:p>
          <a:p>
            <a:pPr marL="193040">
              <a:lnSpc>
                <a:spcPct val="100000"/>
              </a:lnSpc>
              <a:spcBef>
                <a:spcPts val="950"/>
              </a:spcBef>
            </a:pPr>
            <a:r>
              <a:rPr sz="240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r>
              <a:rPr sz="2400" spc="-100" dirty="0">
                <a:solidFill>
                  <a:srgbClr val="00115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Polynomial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Preparing</a:t>
            </a:r>
            <a:r>
              <a:rPr spc="-90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Module</a:t>
            </a:r>
            <a:r>
              <a:rPr spc="-90" dirty="0"/>
              <a:t> </a:t>
            </a:r>
            <a:r>
              <a:rPr dirty="0"/>
              <a:t>10:</a:t>
            </a:r>
            <a:r>
              <a:rPr spc="-85" dirty="0"/>
              <a:t> </a:t>
            </a:r>
            <a:r>
              <a:rPr spc="-10" dirty="0"/>
              <a:t>Multiple </a:t>
            </a:r>
            <a:r>
              <a:rPr dirty="0"/>
              <a:t>Regression</a:t>
            </a:r>
            <a:r>
              <a:rPr spc="-4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spc="-10" dirty="0"/>
              <a:t>Polynomials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299" y="1843252"/>
            <a:ext cx="646176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02360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Read: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	Polynomial</a:t>
            </a:r>
            <a:r>
              <a:rPr sz="2800" spc="-1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1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Model:</a:t>
            </a:r>
            <a:r>
              <a:rPr sz="2800" spc="-1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An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Example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(PDF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former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webpage)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312" y="4849737"/>
            <a:ext cx="5027784" cy="12758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" y="1"/>
            <a:ext cx="12198350" cy="4522470"/>
          </a:xfrm>
          <a:custGeom>
            <a:avLst/>
            <a:gdLst/>
            <a:ahLst/>
            <a:cxnLst/>
            <a:rect l="l" t="t" r="r" b="b"/>
            <a:pathLst>
              <a:path w="12198350" h="4522470">
                <a:moveTo>
                  <a:pt x="12198350" y="0"/>
                </a:moveTo>
                <a:lnTo>
                  <a:pt x="0" y="0"/>
                </a:lnTo>
                <a:lnTo>
                  <a:pt x="0" y="4521939"/>
                </a:lnTo>
                <a:lnTo>
                  <a:pt x="12198350" y="4521939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77962" y="1020571"/>
            <a:ext cx="9708515" cy="1674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75"/>
              </a:spcBef>
            </a:pPr>
            <a:r>
              <a:rPr sz="5400" dirty="0">
                <a:solidFill>
                  <a:srgbClr val="FFFFFF"/>
                </a:solidFill>
              </a:rPr>
              <a:t>Thanks!</a:t>
            </a:r>
            <a:r>
              <a:rPr sz="5400" spc="-6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See</a:t>
            </a:r>
            <a:r>
              <a:rPr sz="5400" spc="-7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you</a:t>
            </a:r>
            <a:r>
              <a:rPr sz="5400" spc="-7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next</a:t>
            </a:r>
            <a:r>
              <a:rPr sz="5400" spc="-65" dirty="0">
                <a:solidFill>
                  <a:srgbClr val="FFFFFF"/>
                </a:solidFill>
              </a:rPr>
              <a:t> </a:t>
            </a:r>
            <a:r>
              <a:rPr sz="5400" spc="-10" dirty="0">
                <a:solidFill>
                  <a:srgbClr val="FFFFFF"/>
                </a:solidFill>
              </a:rPr>
              <a:t>week! Questions?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11621349" y="6552692"/>
            <a:ext cx="176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16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6875" y="5427979"/>
            <a:ext cx="3201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Material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from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Cohen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et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al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CH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91B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1279</Words>
  <Application>Microsoft Office PowerPoint</Application>
  <PresentationFormat>Custom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Cambria</vt:lpstr>
      <vt:lpstr>Cambria Math</vt:lpstr>
      <vt:lpstr>Georgia</vt:lpstr>
      <vt:lpstr>Palatino Linotype</vt:lpstr>
      <vt:lpstr>Tahoma</vt:lpstr>
      <vt:lpstr>Times New Roman</vt:lpstr>
      <vt:lpstr>Office Theme</vt:lpstr>
      <vt:lpstr>Statistics for CSAI II 9 – Multiple Regression and Categories</vt:lpstr>
      <vt:lpstr>Modules</vt:lpstr>
      <vt:lpstr>Outline</vt:lpstr>
      <vt:lpstr>Simple vs. Multiple Regression</vt:lpstr>
      <vt:lpstr>When do we need to think about categories for regression analysis?</vt:lpstr>
      <vt:lpstr>Coding Systems in Multiple Regression</vt:lpstr>
      <vt:lpstr>PowerPoint Presentation</vt:lpstr>
      <vt:lpstr>Dummy Coding</vt:lpstr>
      <vt:lpstr>Regression modelling with dummy coding</vt:lpstr>
      <vt:lpstr>Unweighted Effects Coding</vt:lpstr>
      <vt:lpstr>Run a model with unweighted effects codes</vt:lpstr>
      <vt:lpstr>Weighted Effects Coding</vt:lpstr>
      <vt:lpstr>Run a model with weighted effects codes</vt:lpstr>
      <vt:lpstr>Contrast Coding</vt:lpstr>
      <vt:lpstr>Run a model with contrast codes</vt:lpstr>
      <vt:lpstr>More coding systems</vt:lpstr>
      <vt:lpstr>Preparing for Module 10: Multiple Regression with Polynomials</vt:lpstr>
      <vt:lpstr>Thanks! See you next week!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Travis Wiltshire</cp:lastModifiedBy>
  <cp:revision>1</cp:revision>
  <dcterms:created xsi:type="dcterms:W3CDTF">2025-10-28T08:03:22Z</dcterms:created>
  <dcterms:modified xsi:type="dcterms:W3CDTF">2025-10-28T08:05:11Z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2023-10-30T00:00:00Z</vt:filetime>
  </property>
  <property fmtid="{D5CDD505-2E9C-101B-9397-08002B2CF9AE}" pid="3" name="LastSaved">
    <vt:filetime>2025-10-28T00:00:00Z</vt:filetime>
  </property>
  <property fmtid="{D5CDD505-2E9C-101B-9397-08002B2CF9AE}" pid="4" name="Producer">
    <vt:lpwstr>macOS Version 13.5.2 (Build 22G91) Quartz PDFContext</vt:lpwstr>
  </property>
</Properties>
</file>