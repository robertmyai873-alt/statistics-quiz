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68" r:id="rId3"/>
    <p:sldId id="257" r:id="rId4"/>
    <p:sldId id="258" r:id="rId5"/>
    <p:sldId id="259" r:id="rId6"/>
    <p:sldId id="260" r:id="rId7"/>
    <p:sldId id="261" r:id="rId8"/>
    <p:sldId id="469" r:id="rId9"/>
    <p:sldId id="465" r:id="rId10"/>
    <p:sldId id="467" r:id="rId11"/>
  </p:sldIdLst>
  <p:sldSz cx="12198350" cy="6858000"/>
  <p:notesSz cx="6858000" cy="9144000"/>
  <p:embeddedFontLst>
    <p:embeddedFont>
      <p:font typeface="Georgia" panose="02040502050405020303" pitchFamily="18" charset="0"/>
      <p:regular r:id="rId14"/>
      <p:bold r:id="rId15"/>
      <p:italic r:id="rId16"/>
      <p:boldItalic r:id="rId17"/>
    </p:embeddedFont>
    <p:embeddedFont>
      <p:font typeface="Minion" panose="020B0604020202020204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FF"/>
    <a:srgbClr val="E6E6E6"/>
    <a:srgbClr val="859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77143" autoAdjust="0"/>
  </p:normalViewPr>
  <p:slideViewPr>
    <p:cSldViewPr>
      <p:cViewPr varScale="1">
        <p:scale>
          <a:sx n="50" d="100"/>
          <a:sy n="50" d="100"/>
        </p:scale>
        <p:origin x="1076" y="44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-352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68446-54CF-4267-A5BD-FA01909E96A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345F5-224F-42F7-8104-3FF77BEE4C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0830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98784-F1F2-4D71-B346-94F94D5EBAA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ECD43-08E5-4945-BC4F-4857758E97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351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453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 does the output represent (formula)?</a:t>
            </a:r>
          </a:p>
          <a:p>
            <a:r>
              <a:rPr lang="en-US" dirty="0"/>
              <a:t>- how many levels of the categorical variable are there?</a:t>
            </a:r>
          </a:p>
          <a:p>
            <a:r>
              <a:rPr lang="en-US" dirty="0"/>
              <a:t>- what does the intercept represent?</a:t>
            </a:r>
          </a:p>
          <a:p>
            <a:r>
              <a:rPr lang="en-US" dirty="0"/>
              <a:t>- is being middle class conductive to depression?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900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Does adding gender make sense? Why? Why not?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7952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what’s the correlation?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3192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 are we testing?</a:t>
            </a:r>
          </a:p>
          <a:p>
            <a:r>
              <a:rPr lang="en-US" dirty="0"/>
              <a:t>- what kind of model is this?</a:t>
            </a:r>
          </a:p>
          <a:p>
            <a:r>
              <a:rPr lang="en-US" dirty="0"/>
              <a:t>- what does the intercept mean?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24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can you explain the random effects section?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8650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131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"/>
            <a:ext cx="12198349" cy="4521941"/>
          </a:xfrm>
          <a:solidFill>
            <a:srgbClr val="8592BC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"/>
            <a:ext cx="12198350" cy="37193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0663" y="1052736"/>
            <a:ext cx="10225136" cy="1656184"/>
          </a:xfrm>
        </p:spPr>
        <p:txBody>
          <a:bodyPr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presentation</a:t>
            </a:r>
          </a:p>
        </p:txBody>
      </p:sp>
      <p:sp>
        <p:nvSpPr>
          <p:cNvPr id="20" name="Tijdelijke aanduiding voor tekst 19"/>
          <p:cNvSpPr>
            <a:spLocks noGrp="1"/>
          </p:cNvSpPr>
          <p:nvPr>
            <p:ph type="body" sz="quarter" idx="14" hasCustomPrompt="1"/>
          </p:nvPr>
        </p:nvSpPr>
        <p:spPr>
          <a:xfrm>
            <a:off x="1490663" y="3934610"/>
            <a:ext cx="6918325" cy="39370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Subtitle presentation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467327" y="3934684"/>
            <a:ext cx="4326359" cy="39412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928F9493-D671-4F27-99EF-9D103FC79999}" type="datetime1">
              <a:rPr lang="nl-NL" noProof="0" smtClean="0"/>
              <a:t>25-11-2025</a:t>
            </a:fld>
            <a:endParaRPr lang="en-GB" noProof="0" dirty="0"/>
          </a:p>
        </p:txBody>
      </p:sp>
      <p:sp>
        <p:nvSpPr>
          <p:cNvPr id="19" name="Rechthoek 18"/>
          <p:cNvSpPr/>
          <p:nvPr userDrawn="1"/>
        </p:nvSpPr>
        <p:spPr bwMode="auto">
          <a:xfrm>
            <a:off x="0" y="6453336"/>
            <a:ext cx="1219835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3" y="-1"/>
            <a:ext cx="12198354" cy="6858004"/>
            <a:chOff x="-3" y="-1"/>
            <a:chExt cx="12198354" cy="6858004"/>
          </a:xfrm>
        </p:grpSpPr>
        <p:sp>
          <p:nvSpPr>
            <p:cNvPr id="12" name="Rechthoek 11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-3205847" y="3205844"/>
              <a:ext cx="6858003" cy="446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8" name="Rechthoek 19"/>
          <p:cNvSpPr/>
          <p:nvPr userDrawn="1"/>
        </p:nvSpPr>
        <p:spPr bwMode="auto">
          <a:xfrm>
            <a:off x="6099174" y="6453336"/>
            <a:ext cx="6099175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sp>
        <p:nvSpPr>
          <p:cNvPr id="22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579DA-F6CC-46DA-8DF4-B76DFEA4D2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3" y="4880692"/>
            <a:ext cx="5027785" cy="127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7975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3" y="1252836"/>
            <a:ext cx="6846640" cy="4795836"/>
          </a:xfrm>
          <a:noFill/>
        </p:spPr>
        <p:txBody>
          <a:bodyPr vert="horz" wrap="none" lIns="0" tIns="0" rIns="0" bIns="0"/>
          <a:lstStyle>
            <a:lvl1pPr marL="361950" indent="-361950">
              <a:spcBef>
                <a:spcPts val="800"/>
              </a:spcBef>
              <a:spcAft>
                <a:spcPts val="800"/>
              </a:spcAft>
              <a:buClr>
                <a:schemeClr val="bg2"/>
              </a:buClr>
              <a:buFont typeface="+mj-lt"/>
              <a:buAutoNum type="arabicPeriod"/>
              <a:defRPr sz="2400">
                <a:solidFill>
                  <a:schemeClr val="bg2"/>
                </a:solidFill>
              </a:defRPr>
            </a:lvl1pPr>
            <a:lvl2pPr marL="542925" indent="-180975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 marL="361950" indent="-361950">
              <a:spcBef>
                <a:spcPts val="800"/>
              </a:spcBef>
              <a:spcAft>
                <a:spcPts val="800"/>
              </a:spcAft>
              <a:buClr>
                <a:schemeClr val="bg2"/>
              </a:buClr>
              <a:buFont typeface="+mj-lt"/>
              <a:buAutoNum type="arabicPeriod"/>
              <a:tabLst/>
              <a:defRPr sz="2400">
                <a:solidFill>
                  <a:schemeClr val="bg2"/>
                </a:solidFill>
              </a:defRPr>
            </a:lvl6pPr>
            <a:lvl7pPr marL="542925" indent="-180975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 dirty="0"/>
              <a:t>Numbering</a:t>
            </a:r>
          </a:p>
          <a:p>
            <a:pPr lvl="1"/>
            <a:r>
              <a:rPr lang="en-GB" noProof="0" dirty="0"/>
              <a:t>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yellow</a:t>
            </a:r>
          </a:p>
          <a:p>
            <a:pPr lvl="5"/>
            <a:r>
              <a:rPr lang="en-GB" noProof="0" dirty="0"/>
              <a:t>Numbering</a:t>
            </a:r>
          </a:p>
          <a:p>
            <a:pPr lvl="6"/>
            <a:r>
              <a:rPr lang="en-GB" noProof="0" dirty="0"/>
              <a:t>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sp>
        <p:nvSpPr>
          <p:cNvPr id="7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7453634" y="1252538"/>
            <a:ext cx="4339905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grpSp>
        <p:nvGrpSpPr>
          <p:cNvPr id="8" name="Grid" hidden="1"/>
          <p:cNvGrpSpPr/>
          <p:nvPr userDrawn="1"/>
        </p:nvGrpSpPr>
        <p:grpSpPr>
          <a:xfrm>
            <a:off x="0" y="0"/>
            <a:ext cx="12198353" cy="6858004"/>
            <a:chOff x="-2" y="-1"/>
            <a:chExt cx="12198353" cy="6858004"/>
          </a:xfrm>
        </p:grpSpPr>
        <p:sp>
          <p:nvSpPr>
            <p:cNvPr id="9" name="Rechthoek 8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392346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426134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horz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400"/>
            </a:lvl7pPr>
            <a:lvl8pPr>
              <a:defRPr sz="2000"/>
            </a:lvl8pPr>
            <a:lvl9pPr>
              <a:defRPr sz="2800"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596851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75%/2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7926761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500358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8533755" y="1252538"/>
            <a:ext cx="3259784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0302820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50%/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775" y="1252538"/>
            <a:ext cx="5592763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2767422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5%/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3534273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611099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141267" y="1252538"/>
            <a:ext cx="7652271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2317621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04663" y="1252538"/>
            <a:ext cx="11388876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258224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218777" cy="6858004"/>
            <a:chOff x="-2" y="-1"/>
            <a:chExt cx="12218777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 rot="10800000">
              <a:off x="5360772" y="3549589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776" y="1252538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9098614" y="1252538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8" name="Tijdelijke aanduiding voor afbeelding 13"/>
          <p:cNvSpPr>
            <a:spLocks noGrp="1"/>
          </p:cNvSpPr>
          <p:nvPr>
            <p:ph type="pic" sz="quarter" idx="15" hasCustomPrompt="1"/>
          </p:nvPr>
        </p:nvSpPr>
        <p:spPr>
          <a:xfrm>
            <a:off x="6200776" y="3751623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9" name="Tijdelijke aanduiding voor afbeelding 13"/>
          <p:cNvSpPr>
            <a:spLocks noGrp="1"/>
          </p:cNvSpPr>
          <p:nvPr>
            <p:ph type="pic" sz="quarter" idx="16" hasCustomPrompt="1"/>
          </p:nvPr>
        </p:nvSpPr>
        <p:spPr>
          <a:xfrm>
            <a:off x="9098614" y="3751623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20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3173449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341" y="1252538"/>
            <a:ext cx="269507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9098179" y="1252538"/>
            <a:ext cx="269507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6982251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4" name="Tijdelijke aanduiding voor grafiek 3"/>
          <p:cNvSpPr>
            <a:spLocks noGrp="1"/>
          </p:cNvSpPr>
          <p:nvPr>
            <p:ph type="chart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 graph</a:t>
            </a:r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2950967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3" name="Tijdelijke aanduiding voor media 12"/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 video</a:t>
            </a:r>
          </a:p>
        </p:txBody>
      </p:sp>
      <p:sp>
        <p:nvSpPr>
          <p:cNvPr id="14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3170741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"/>
            <a:ext cx="12198350" cy="4521939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0663" y="1052736"/>
            <a:ext cx="10225136" cy="1656184"/>
          </a:xfrm>
        </p:spPr>
        <p:txBody>
          <a:bodyPr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closure</a:t>
            </a: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3" y="-1"/>
            <a:ext cx="12198354" cy="6858004"/>
            <a:chOff x="-3" y="-1"/>
            <a:chExt cx="12198354" cy="6858004"/>
          </a:xfrm>
        </p:grpSpPr>
        <p:sp>
          <p:nvSpPr>
            <p:cNvPr id="12" name="Rechthoek 11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-3205847" y="3205844"/>
              <a:ext cx="6858003" cy="446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9" name="Rechthoek 18"/>
          <p:cNvSpPr/>
          <p:nvPr userDrawn="1"/>
        </p:nvSpPr>
        <p:spPr bwMode="auto">
          <a:xfrm>
            <a:off x="0" y="6453336"/>
            <a:ext cx="1219835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sp>
        <p:nvSpPr>
          <p:cNvPr id="18" name="Rechthoek 19"/>
          <p:cNvSpPr/>
          <p:nvPr userDrawn="1"/>
        </p:nvSpPr>
        <p:spPr bwMode="auto">
          <a:xfrm>
            <a:off x="6099174" y="6453336"/>
            <a:ext cx="6099175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sp>
        <p:nvSpPr>
          <p:cNvPr id="20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E7AE8D-232F-4001-92C4-3A2681123E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3" y="4849738"/>
            <a:ext cx="5027785" cy="127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1136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BFBD-7148-4DA3-8AC9-D5D7C51A748E}" type="datetimeFigureOut">
              <a:rPr lang="en-US" smtClean="0"/>
              <a:pPr/>
              <a:t>11/25/2025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DEDA-A816-4679-9881-A8D9ADF2A89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61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800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7" name="Rechthoek 6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8" name="Rechthoek 7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20" name="Rechthoek 19"/>
          <p:cNvSpPr/>
          <p:nvPr userDrawn="1"/>
        </p:nvSpPr>
        <p:spPr bwMode="auto">
          <a:xfrm>
            <a:off x="0" y="6453336"/>
            <a:ext cx="1219835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2784" y="6473105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80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58" r:id="rId3"/>
    <p:sldLayoutId id="2147483665" r:id="rId4"/>
    <p:sldLayoutId id="2147483661" r:id="rId5"/>
    <p:sldLayoutId id="2147483664" r:id="rId6"/>
    <p:sldLayoutId id="2147483666" r:id="rId7"/>
    <p:sldLayoutId id="2147483662" r:id="rId8"/>
    <p:sldLayoutId id="2147483663" r:id="rId9"/>
    <p:sldLayoutId id="2147483667" r:id="rId10"/>
    <p:sldLayoutId id="2147483668" r:id="rId11"/>
    <p:sldLayoutId id="2147483670" r:id="rId12"/>
    <p:sldLayoutId id="214748367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i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-"/>
        <a:defRPr sz="1600" kern="1200">
          <a:solidFill>
            <a:schemeClr val="bg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bg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80975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361950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-"/>
        <a:defRPr sz="1600" kern="1200">
          <a:solidFill>
            <a:schemeClr val="bg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bg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bookdown.org/roback/bookdown-BeyondMLR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ekst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298575" y="221881"/>
            <a:ext cx="10225136" cy="3275574"/>
          </a:xfrm>
        </p:spPr>
        <p:txBody>
          <a:bodyPr/>
          <a:lstStyle/>
          <a:p>
            <a:r>
              <a:rPr lang="en-US" dirty="0"/>
              <a:t>Statistics for CSAI II</a:t>
            </a:r>
            <a:br>
              <a:rPr lang="en-US" dirty="0"/>
            </a:br>
            <a:r>
              <a:rPr lang="en-US" dirty="0"/>
              <a:t>	13 – </a:t>
            </a:r>
            <a:r>
              <a:rPr lang="en-US" sz="4000" dirty="0"/>
              <a:t>Wrapping up, Q&amp;A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EE7099E-8998-4851-915A-4F4831808297}" type="slidenum">
              <a:rPr lang="nl-NL" smtClean="0"/>
              <a:pPr/>
              <a:t>1</a:t>
            </a:fld>
            <a:endParaRPr lang="nl-NL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D3DED4AB-6ED6-55F4-C85B-2385FAF7FA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90663" y="3934610"/>
            <a:ext cx="8799512" cy="393700"/>
          </a:xfrm>
        </p:spPr>
        <p:txBody>
          <a:bodyPr>
            <a:normAutofit/>
          </a:bodyPr>
          <a:lstStyle/>
          <a:p>
            <a:r>
              <a:rPr lang="nl-NL" dirty="0"/>
              <a:t>Travis J. Wiltshire &amp; Sasha Kenjeeva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2977814846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82EC-4B6E-22BD-971C-AF211156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evaluate the course!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CCF98-9326-D2CE-624C-F23F9AC5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DEDA-A816-4679-9881-A8D9ADF2A89F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A698D1-6F66-08ED-4BEF-03946F59E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4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674B404-E630-3642-43E5-3008861F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828" y="1117759"/>
            <a:ext cx="6874695" cy="462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7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AF1019E-1DC7-8027-5B02-C5E5F763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824" y="1055688"/>
            <a:ext cx="6476703" cy="47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2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grid with black dots&#10;&#10;Description automatically generated">
            <a:extLst>
              <a:ext uri="{FF2B5EF4-FFF2-40B4-BE49-F238E27FC236}">
                <a16:creationId xmlns:a16="http://schemas.microsoft.com/office/drawing/2014/main" id="{18596D47-16C3-B6EB-DD3C-1447AC83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21" y="628333"/>
            <a:ext cx="7389309" cy="560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8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7B05A-E791-7884-462C-7D9F04E84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881" y="542522"/>
            <a:ext cx="6906589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4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2E9353-34BF-64E6-EDFA-BE683CE5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49" y="461549"/>
            <a:ext cx="6820852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1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C107-DC0C-18BB-BF9C-AD0019E1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Q &amp; 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53BE4-A59D-1F45-EC73-34EA824AB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8861A-BC40-F4C9-DA50-08EFA982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DEDA-A816-4679-9881-A8D9ADF2A89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3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Wrap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662" y="1252836"/>
            <a:ext cx="4322913" cy="4795836"/>
          </a:xfrm>
        </p:spPr>
        <p:txBody>
          <a:bodyPr/>
          <a:lstStyle/>
          <a:p>
            <a:r>
              <a:rPr lang="en-US" dirty="0"/>
              <a:t>Statistical decision making isn’t easy</a:t>
            </a:r>
          </a:p>
          <a:p>
            <a:r>
              <a:rPr lang="en-US" dirty="0"/>
              <a:t>Model based approaches can be better than mean comparisons</a:t>
            </a:r>
          </a:p>
          <a:p>
            <a:r>
              <a:rPr lang="en-US" dirty="0"/>
              <a:t>Beware of misusing p-values or following the null ritual</a:t>
            </a:r>
          </a:p>
          <a:p>
            <a:r>
              <a:rPr lang="en-US" dirty="0"/>
              <a:t>Your best guide is to be driven by theory and prior empirical work for developing your research questions/experiments, and then you choose the best statistical tool to answer that (avoid using a tool to guide your RQs).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DEDA-A816-4679-9881-A8D9ADF2A89F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75" y="1031558"/>
            <a:ext cx="7301602" cy="502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9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D3C4-062E-7DE7-457A-D2D0E06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337741"/>
            <a:ext cx="11389024" cy="432048"/>
          </a:xfrm>
        </p:spPr>
        <p:txBody>
          <a:bodyPr/>
          <a:lstStyle/>
          <a:p>
            <a:r>
              <a:rPr lang="en-US" dirty="0"/>
              <a:t>Want to build on your statistics knowledge?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CAB2-408A-8B1F-A968-33A42712E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62" y="1252836"/>
            <a:ext cx="6761313" cy="4795836"/>
          </a:xfrm>
        </p:spPr>
        <p:txBody>
          <a:bodyPr/>
          <a:lstStyle/>
          <a:p>
            <a:r>
              <a:rPr lang="nl-NL" sz="3200" dirty="0" err="1"/>
              <a:t>Roback</a:t>
            </a:r>
            <a:r>
              <a:rPr lang="nl-NL" sz="3200" dirty="0"/>
              <a:t>, P., &amp; </a:t>
            </a:r>
            <a:r>
              <a:rPr lang="nl-NL" sz="3200" dirty="0" err="1"/>
              <a:t>Legler</a:t>
            </a:r>
            <a:r>
              <a:rPr lang="nl-NL" sz="3200" dirty="0"/>
              <a:t>, J. (2021). Beyond multiple </a:t>
            </a:r>
            <a:r>
              <a:rPr lang="nl-NL" sz="3200" dirty="0" err="1"/>
              <a:t>linear</a:t>
            </a:r>
            <a:r>
              <a:rPr lang="nl-NL" sz="3200" dirty="0"/>
              <a:t> </a:t>
            </a:r>
            <a:r>
              <a:rPr lang="nl-NL" sz="3200" dirty="0" err="1"/>
              <a:t>regression</a:t>
            </a:r>
            <a:r>
              <a:rPr lang="nl-NL" sz="3200" dirty="0"/>
              <a:t>: </a:t>
            </a:r>
            <a:r>
              <a:rPr lang="nl-NL" sz="3200" dirty="0" err="1"/>
              <a:t>applied</a:t>
            </a:r>
            <a:r>
              <a:rPr lang="nl-NL" sz="3200" dirty="0"/>
              <a:t> </a:t>
            </a:r>
            <a:r>
              <a:rPr lang="nl-NL" sz="3200" dirty="0" err="1"/>
              <a:t>generalized</a:t>
            </a:r>
            <a:r>
              <a:rPr lang="nl-NL" sz="3200" dirty="0"/>
              <a:t> </a:t>
            </a:r>
            <a:r>
              <a:rPr lang="nl-NL" sz="3200" dirty="0" err="1"/>
              <a:t>linear</a:t>
            </a:r>
            <a:r>
              <a:rPr lang="nl-NL" sz="3200" dirty="0"/>
              <a:t> </a:t>
            </a:r>
            <a:r>
              <a:rPr lang="nl-NL" sz="3200" dirty="0" err="1"/>
              <a:t>models</a:t>
            </a:r>
            <a:r>
              <a:rPr lang="nl-NL" sz="3200" dirty="0"/>
              <a:t> and </a:t>
            </a:r>
            <a:r>
              <a:rPr lang="nl-NL" sz="3200" dirty="0" err="1"/>
              <a:t>multilevel</a:t>
            </a:r>
            <a:r>
              <a:rPr lang="nl-NL" sz="3200" dirty="0"/>
              <a:t> </a:t>
            </a:r>
            <a:r>
              <a:rPr lang="nl-NL" sz="3200" dirty="0" err="1"/>
              <a:t>models</a:t>
            </a:r>
            <a:r>
              <a:rPr lang="nl-NL" sz="3200" dirty="0"/>
              <a:t> in R. </a:t>
            </a:r>
            <a:r>
              <a:rPr lang="nl-NL" sz="3200" dirty="0" err="1"/>
              <a:t>Chapman</a:t>
            </a:r>
            <a:r>
              <a:rPr lang="nl-NL" sz="3200" dirty="0"/>
              <a:t> and Hall/CRC.</a:t>
            </a:r>
          </a:p>
          <a:p>
            <a:r>
              <a:rPr lang="nl-NL" sz="3200" dirty="0">
                <a:hlinkClick r:id="rId2"/>
              </a:rPr>
              <a:t>https://bookdown.org/roback/bookdown-BeyondMLR/</a:t>
            </a:r>
            <a:endParaRPr lang="nl-NL" sz="3200" dirty="0"/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677B8-E3A5-F424-43F1-80B6B4C8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DEDA-A816-4679-9881-A8D9ADF2A89F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026" name="Picture 2" descr="Beyond Multiple Linear Regression (ebook), Paul Roback | 9780429527333 |  Boeken | bol.com">
            <a:extLst>
              <a:ext uri="{FF2B5EF4-FFF2-40B4-BE49-F238E27FC236}">
                <a16:creationId xmlns:a16="http://schemas.microsoft.com/office/drawing/2014/main" id="{2B241DD1-18AC-A153-7A5D-5CD3480E2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175" y="1600200"/>
            <a:ext cx="3088430" cy="479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0168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bce83e47c546ff6ac1b4b362eaa37f0f7a52c"/>
</p:tagLst>
</file>

<file path=ppt/theme/theme1.xml><?xml version="1.0" encoding="utf-8"?>
<a:theme xmlns:a="http://schemas.openxmlformats.org/drawingml/2006/main" name="Corporate template-set Universiteit Leiden">
  <a:themeElements>
    <a:clrScheme name="Universiteit Leiden">
      <a:dk1>
        <a:srgbClr val="000000"/>
      </a:dk1>
      <a:lt1>
        <a:srgbClr val="FFFFFF"/>
      </a:lt1>
      <a:dk2>
        <a:srgbClr val="8592BC"/>
      </a:dk2>
      <a:lt2>
        <a:srgbClr val="001158"/>
      </a:lt2>
      <a:accent1>
        <a:srgbClr val="9EBA2E"/>
      </a:accent1>
      <a:accent2>
        <a:srgbClr val="5CB1EB"/>
      </a:accent2>
      <a:accent3>
        <a:srgbClr val="34A3A9"/>
      </a:accent3>
      <a:accent4>
        <a:srgbClr val="F46E32"/>
      </a:accent4>
      <a:accent5>
        <a:srgbClr val="2C712D"/>
      </a:accent5>
      <a:accent6>
        <a:srgbClr val="B02079"/>
      </a:accent6>
      <a:hlink>
        <a:srgbClr val="0033CC"/>
      </a:hlink>
      <a:folHlink>
        <a:srgbClr val="7030A0"/>
      </a:folHlink>
    </a:clrScheme>
    <a:fontScheme name="Universiteit Leiden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108000" rIns="108000" bIns="108000" rtlCol="0">
        <a:noAutofit/>
      </a:bodyPr>
      <a:lstStyle>
        <a:defPPr>
          <a:defRPr noProof="0" dirty="0" err="1" smtClean="0">
            <a:solidFill>
              <a:schemeClr val="bg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16-9-windows-en-met-slidenr</Template>
  <TotalTime>23978</TotalTime>
  <Words>245</Words>
  <Application>Microsoft Office PowerPoint</Application>
  <PresentationFormat>Custom</PresentationFormat>
  <Paragraphs>34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Georgia</vt:lpstr>
      <vt:lpstr>Minion</vt:lpstr>
      <vt:lpstr>Arial</vt:lpstr>
      <vt:lpstr>Corporate template-set Universiteit Leiden</vt:lpstr>
      <vt:lpstr>Statistics for CSAI II  13 – Wrapping up, Q&amp;A</vt:lpstr>
      <vt:lpstr>Please evaluate the course!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 Q &amp; A </vt:lpstr>
      <vt:lpstr>Statistics Wrap Up</vt:lpstr>
      <vt:lpstr>Want to build on your statistics knowledge?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presentation</dc:title>
  <dc:creator>Travis Wiltshire</dc:creator>
  <cp:lastModifiedBy>Travis Wiltshire</cp:lastModifiedBy>
  <cp:revision>381</cp:revision>
  <dcterms:created xsi:type="dcterms:W3CDTF">2018-08-22T14:03:45Z</dcterms:created>
  <dcterms:modified xsi:type="dcterms:W3CDTF">2025-11-25T08:02:30Z</dcterms:modified>
</cp:coreProperties>
</file>