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84" y="3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960" y="222097"/>
            <a:ext cx="103485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 u="sng">
                <a:solidFill>
                  <a:srgbClr val="0033C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 u="sng">
                <a:solidFill>
                  <a:srgbClr val="0033C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83484" y="2221484"/>
            <a:ext cx="4225925" cy="366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56506" y="1450509"/>
            <a:ext cx="4786630" cy="3707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6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3"/>
                </a:lnTo>
                <a:lnTo>
                  <a:pt x="12198350" y="404663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1571" y="1546796"/>
            <a:ext cx="4869356" cy="33214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6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3"/>
                </a:lnTo>
                <a:lnTo>
                  <a:pt x="12198350" y="404663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962" y="497332"/>
            <a:ext cx="1142077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0075" y="1431035"/>
            <a:ext cx="10760075" cy="4396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 u="sng">
                <a:solidFill>
                  <a:srgbClr val="0033C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5949" y="6565342"/>
            <a:ext cx="240665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bookdown.org/steve_midway/DAR/random-effects.html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exanderdemos.org/Mixed7.html#1_random_items_(s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omaymas.github.io/InfluenceAnalysi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front.escholarship.org/dist/prd/content/qt7xz2z06w/qt7xz2z06w.pdf" TargetMode="External"/><Relationship Id="rId2" Type="http://schemas.openxmlformats.org/officeDocument/2006/relationships/hyperlink" Target="https://www.ncbi.nlm.nih.gov/pmc/articles/PMC5585189/pdf/fphys-08-0063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0022440509000545?via%3Dihub" TargetMode="External"/><Relationship Id="rId4" Type="http://schemas.openxmlformats.org/officeDocument/2006/relationships/hyperlink" Target="https://www.sciencedirect.com/science/article/pii/S0749596X07001398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psychologist.com/r-guide-longitudinal-lme-lmer" TargetMode="External"/><Relationship Id="rId7" Type="http://schemas.openxmlformats.org/officeDocument/2006/relationships/hyperlink" Target="https://youtu.be/XepXtl9YKwc" TargetMode="External"/><Relationship Id="rId2" Type="http://schemas.openxmlformats.org/officeDocument/2006/relationships/hyperlink" Target="https://seantrott.github.io/mixed_models_R/#Why_use_mixed_mo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avidakenny.net/papers/k%26h/MLM_R.pdf" TargetMode="External"/><Relationship Id="rId5" Type="http://schemas.openxmlformats.org/officeDocument/2006/relationships/hyperlink" Target="https://freshbiostats.wordpress.com/2013/07/28/mixed-models-in-r-" TargetMode="External"/><Relationship Id="rId4" Type="http://schemas.openxmlformats.org/officeDocument/2006/relationships/hyperlink" Target="http://www.floppybunny.org/robin/web/virtualclassroom/stats/statisti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80691"/>
            <a:ext cx="5027777" cy="12757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"/>
            <a:ext cx="12198350" cy="4522470"/>
            <a:chOff x="0" y="1"/>
            <a:chExt cx="12198350" cy="4522470"/>
          </a:xfrm>
        </p:grpSpPr>
        <p:sp>
          <p:nvSpPr>
            <p:cNvPr id="4" name="object 4"/>
            <p:cNvSpPr/>
            <p:nvPr/>
          </p:nvSpPr>
          <p:spPr>
            <a:xfrm>
              <a:off x="0" y="3719335"/>
              <a:ext cx="12198350" cy="802640"/>
            </a:xfrm>
            <a:custGeom>
              <a:avLst/>
              <a:gdLst/>
              <a:ahLst/>
              <a:cxnLst/>
              <a:rect l="l" t="t" r="r" b="b"/>
              <a:pathLst>
                <a:path w="12198350" h="802639">
                  <a:moveTo>
                    <a:pt x="0" y="802599"/>
                  </a:moveTo>
                  <a:lnTo>
                    <a:pt x="12198350" y="802599"/>
                  </a:lnTo>
                  <a:lnTo>
                    <a:pt x="12198350" y="0"/>
                  </a:lnTo>
                  <a:lnTo>
                    <a:pt x="0" y="0"/>
                  </a:lnTo>
                  <a:lnTo>
                    <a:pt x="0" y="802599"/>
                  </a:lnTo>
                  <a:close/>
                </a:path>
              </a:pathLst>
            </a:custGeom>
            <a:solidFill>
              <a:srgbClr val="859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" y="1"/>
              <a:ext cx="12198350" cy="3719829"/>
            </a:xfrm>
            <a:custGeom>
              <a:avLst/>
              <a:gdLst/>
              <a:ahLst/>
              <a:cxnLst/>
              <a:rect l="l" t="t" r="r" b="b"/>
              <a:pathLst>
                <a:path w="12198350" h="3719829">
                  <a:moveTo>
                    <a:pt x="12198350" y="0"/>
                  </a:moveTo>
                  <a:lnTo>
                    <a:pt x="0" y="0"/>
                  </a:lnTo>
                  <a:lnTo>
                    <a:pt x="0" y="3719334"/>
                  </a:lnTo>
                  <a:lnTo>
                    <a:pt x="12198350" y="3719334"/>
                  </a:lnTo>
                  <a:lnTo>
                    <a:pt x="12198350" y="0"/>
                  </a:lnTo>
                  <a:close/>
                </a:path>
              </a:pathLst>
            </a:custGeom>
            <a:solidFill>
              <a:srgbClr val="0011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85875" y="84835"/>
            <a:ext cx="72116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Statistics</a:t>
            </a:r>
            <a:r>
              <a:rPr sz="5400" spc="-10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for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CSAI</a:t>
            </a:r>
            <a:r>
              <a:rPr sz="5400" spc="-90" dirty="0">
                <a:solidFill>
                  <a:srgbClr val="FFFFFF"/>
                </a:solidFill>
              </a:rPr>
              <a:t> </a:t>
            </a:r>
            <a:r>
              <a:rPr sz="5400" spc="-25" dirty="0">
                <a:solidFill>
                  <a:srgbClr val="FFFFFF"/>
                </a:solidFill>
              </a:rPr>
              <a:t>II</a:t>
            </a:r>
            <a:endParaRPr sz="5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2200020" y="910844"/>
            <a:ext cx="8314055" cy="267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54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400" b="1" dirty="0">
                <a:solidFill>
                  <a:srgbClr val="FFFFFF"/>
                </a:solidFill>
                <a:latin typeface="Georgia"/>
                <a:cs typeface="Georgia"/>
              </a:rPr>
              <a:t>–</a:t>
            </a:r>
            <a:r>
              <a:rPr sz="54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Mixed</a:t>
            </a:r>
            <a:r>
              <a:rPr sz="4000" b="1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models,</a:t>
            </a:r>
            <a:r>
              <a:rPr sz="4000" b="1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Georgia"/>
                <a:cs typeface="Georgia"/>
              </a:rPr>
              <a:t>Multilevel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models,</a:t>
            </a:r>
            <a:r>
              <a:rPr sz="40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40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Georgia"/>
                <a:cs typeface="Georgia"/>
              </a:rPr>
              <a:t>coefficient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4000" b="1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models,</a:t>
            </a:r>
            <a:r>
              <a:rPr sz="4000" b="1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Georgia"/>
                <a:cs typeface="Georgia"/>
              </a:rPr>
              <a:t>hierarchical </a:t>
            </a:r>
            <a:r>
              <a:rPr sz="4000" b="1" dirty="0">
                <a:solidFill>
                  <a:srgbClr val="FFFFFF"/>
                </a:solidFill>
                <a:latin typeface="Georgia"/>
                <a:cs typeface="Georgia"/>
              </a:rPr>
              <a:t>linear</a:t>
            </a:r>
            <a:r>
              <a:rPr sz="4000" b="1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Georgia"/>
                <a:cs typeface="Georgia"/>
              </a:rPr>
              <a:t>modeling…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7962" y="3903979"/>
            <a:ext cx="2688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Travis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J.</a:t>
            </a:r>
            <a:r>
              <a:rPr sz="2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Wiltshire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 |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0" y="222097"/>
            <a:ext cx="2272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308" y="1138504"/>
            <a:ext cx="900493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401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Introduction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Probability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Sampling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Theory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Revisiting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Hypothesis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Testing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Centering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Interactions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Categories</a:t>
            </a:r>
            <a:endParaRPr sz="2800">
              <a:latin typeface="Georgia"/>
              <a:cs typeface="Georgia"/>
            </a:endParaRPr>
          </a:p>
          <a:p>
            <a:pPr marL="564515" indent="-551815">
              <a:lnSpc>
                <a:spcPct val="100000"/>
              </a:lnSpc>
              <a:buAutoNum type="arabicPeriod"/>
              <a:tabLst>
                <a:tab pos="5645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564515" indent="-551815">
              <a:lnSpc>
                <a:spcPct val="100000"/>
              </a:lnSpc>
              <a:buFont typeface="Georgia"/>
              <a:buAutoNum type="arabicPeriod"/>
              <a:tabLst>
                <a:tab pos="564515" algn="l"/>
              </a:tabLst>
            </a:pP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800" i="1" spc="-1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542925" indent="-53022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4292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Growth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1982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962" y="1030630"/>
            <a:ext cx="3421379" cy="236347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What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it?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401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8675" y="310388"/>
            <a:ext cx="8952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Multiple</a:t>
            </a:r>
            <a:r>
              <a:rPr sz="3600" spc="-105" dirty="0"/>
              <a:t> </a:t>
            </a:r>
            <a:r>
              <a:rPr sz="3600" dirty="0"/>
              <a:t>and</a:t>
            </a:r>
            <a:r>
              <a:rPr sz="3600" spc="-105" dirty="0"/>
              <a:t> </a:t>
            </a:r>
            <a:r>
              <a:rPr sz="3600" dirty="0"/>
              <a:t>Mixed</a:t>
            </a:r>
            <a:r>
              <a:rPr sz="3600" spc="-105" dirty="0"/>
              <a:t> </a:t>
            </a:r>
            <a:r>
              <a:rPr sz="3600" dirty="0"/>
              <a:t>Model</a:t>
            </a:r>
            <a:r>
              <a:rPr sz="3600" spc="-114" dirty="0"/>
              <a:t> </a:t>
            </a:r>
            <a:r>
              <a:rPr sz="3600" spc="-10" dirty="0"/>
              <a:t>Regression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74583" y="1239011"/>
            <a:ext cx="45847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595" algn="l"/>
                <a:tab pos="1293495" algn="l"/>
                <a:tab pos="2498090" algn="l"/>
                <a:tab pos="3573145" algn="l"/>
                <a:tab pos="4022090" algn="l"/>
              </a:tabLst>
            </a:pPr>
            <a:r>
              <a:rPr sz="3200" spc="-50" dirty="0">
                <a:latin typeface="Georgia"/>
                <a:cs typeface="Georgia"/>
              </a:rPr>
              <a:t>Y</a:t>
            </a:r>
            <a:r>
              <a:rPr sz="3200" dirty="0">
                <a:latin typeface="Georgia"/>
                <a:cs typeface="Georgia"/>
              </a:rPr>
              <a:t>	=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i="1" spc="-50" dirty="0">
                <a:latin typeface="Georgia"/>
                <a:cs typeface="Georgia"/>
              </a:rPr>
              <a:t>b</a:t>
            </a:r>
            <a:r>
              <a:rPr sz="3200" i="1" dirty="0">
                <a:latin typeface="Georgia"/>
                <a:cs typeface="Georgia"/>
              </a:rPr>
              <a:t>	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200" i="1" spc="120" dirty="0">
                <a:latin typeface="Georgia"/>
                <a:cs typeface="Georgia"/>
              </a:rPr>
              <a:t> </a:t>
            </a:r>
            <a:r>
              <a:rPr sz="3200" i="1" spc="-50" dirty="0">
                <a:latin typeface="Georgia"/>
                <a:cs typeface="Georgia"/>
              </a:rPr>
              <a:t>X</a:t>
            </a:r>
            <a:r>
              <a:rPr sz="3200" i="1" dirty="0">
                <a:latin typeface="Georgia"/>
                <a:cs typeface="Georgia"/>
              </a:rPr>
              <a:t>	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spc="-35" dirty="0">
                <a:latin typeface="Georgia"/>
                <a:cs typeface="Georgia"/>
              </a:rPr>
              <a:t>…</a:t>
            </a:r>
            <a:r>
              <a:rPr sz="3200" i="1" spc="-35" dirty="0">
                <a:latin typeface="Georgia"/>
                <a:cs typeface="Georgia"/>
              </a:rPr>
              <a:t>b</a:t>
            </a:r>
            <a:r>
              <a:rPr sz="3200" i="1" dirty="0">
                <a:latin typeface="Georgia"/>
                <a:cs typeface="Georgia"/>
              </a:rPr>
              <a:t>	</a:t>
            </a:r>
            <a:r>
              <a:rPr sz="3200" i="1" spc="-50" dirty="0">
                <a:latin typeface="Georgia"/>
                <a:cs typeface="Georgia"/>
              </a:rPr>
              <a:t>X</a:t>
            </a:r>
            <a:r>
              <a:rPr sz="3200" i="1" dirty="0">
                <a:latin typeface="Georgia"/>
                <a:cs typeface="Georgia"/>
              </a:rPr>
              <a:t>	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i="1" spc="-50" dirty="0">
                <a:latin typeface="Georgia"/>
                <a:cs typeface="Georgia"/>
              </a:rPr>
              <a:t>ε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408" y="1467103"/>
            <a:ext cx="44132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7240" algn="l"/>
                <a:tab pos="1628139" algn="l"/>
                <a:tab pos="2033270" algn="l"/>
                <a:tab pos="3161665" algn="l"/>
                <a:tab pos="3611245" algn="l"/>
                <a:tab pos="4320540" algn="l"/>
              </a:tabLst>
            </a:pPr>
            <a:r>
              <a:rPr sz="2100" i="1" spc="-50" dirty="0">
                <a:latin typeface="Georgia"/>
                <a:cs typeface="Georgia"/>
              </a:rPr>
              <a:t>i</a:t>
            </a:r>
            <a:r>
              <a:rPr sz="2100" i="1" dirty="0">
                <a:latin typeface="Georgia"/>
                <a:cs typeface="Georgia"/>
              </a:rPr>
              <a:t>	</a:t>
            </a:r>
            <a:r>
              <a:rPr sz="2100" spc="-50" dirty="0">
                <a:latin typeface="Georgia"/>
                <a:cs typeface="Georgia"/>
              </a:rPr>
              <a:t>0</a:t>
            </a:r>
            <a:r>
              <a:rPr sz="2100" dirty="0">
                <a:latin typeface="Georgia"/>
                <a:cs typeface="Georgia"/>
              </a:rPr>
              <a:t>	</a:t>
            </a:r>
            <a:r>
              <a:rPr sz="2100" spc="-50" dirty="0">
                <a:latin typeface="Georgia"/>
                <a:cs typeface="Georgia"/>
              </a:rPr>
              <a:t>1</a:t>
            </a:r>
            <a:r>
              <a:rPr sz="2100" dirty="0">
                <a:latin typeface="Georgia"/>
                <a:cs typeface="Georgia"/>
              </a:rPr>
              <a:t>	</a:t>
            </a:r>
            <a:r>
              <a:rPr sz="2100" spc="-50" dirty="0">
                <a:latin typeface="Georgia"/>
                <a:cs typeface="Georgia"/>
              </a:rPr>
              <a:t>1</a:t>
            </a:r>
            <a:r>
              <a:rPr sz="2100" dirty="0">
                <a:latin typeface="Georgia"/>
                <a:cs typeface="Georgia"/>
              </a:rPr>
              <a:t>	</a:t>
            </a:r>
            <a:r>
              <a:rPr sz="2100" spc="-50" dirty="0">
                <a:latin typeface="Georgia"/>
                <a:cs typeface="Georgia"/>
              </a:rPr>
              <a:t>n</a:t>
            </a:r>
            <a:r>
              <a:rPr sz="2100" dirty="0">
                <a:latin typeface="Georgia"/>
                <a:cs typeface="Georgia"/>
              </a:rPr>
              <a:t>	</a:t>
            </a:r>
            <a:r>
              <a:rPr sz="2100" spc="-50" dirty="0">
                <a:latin typeface="Georgia"/>
                <a:cs typeface="Georgia"/>
              </a:rPr>
              <a:t>n</a:t>
            </a:r>
            <a:r>
              <a:rPr sz="2100" dirty="0">
                <a:latin typeface="Georgia"/>
                <a:cs typeface="Georgia"/>
              </a:rPr>
              <a:t>	</a:t>
            </a:r>
            <a:r>
              <a:rPr sz="2100" i="1" spc="-50" dirty="0">
                <a:latin typeface="Georgia"/>
                <a:cs typeface="Georgia"/>
              </a:rPr>
              <a:t>i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17170" marR="398780" indent="-179705">
              <a:lnSpc>
                <a:spcPct val="90300"/>
              </a:lnSpc>
              <a:spcBef>
                <a:spcPts val="380"/>
              </a:spcBef>
              <a:buFont typeface="Arial"/>
              <a:buChar char="•"/>
              <a:tabLst>
                <a:tab pos="219075" algn="l"/>
              </a:tabLst>
            </a:pPr>
            <a:r>
              <a:rPr dirty="0"/>
              <a:t>One</a:t>
            </a:r>
            <a:r>
              <a:rPr spc="-55" dirty="0"/>
              <a:t> </a:t>
            </a:r>
            <a:r>
              <a:rPr dirty="0"/>
              <a:t>dependent</a:t>
            </a:r>
            <a:r>
              <a:rPr spc="-60" dirty="0"/>
              <a:t> </a:t>
            </a:r>
            <a:r>
              <a:rPr dirty="0"/>
              <a:t>variable</a:t>
            </a:r>
            <a:r>
              <a:rPr spc="-50" dirty="0"/>
              <a:t> Y 	</a:t>
            </a:r>
            <a:r>
              <a:rPr dirty="0"/>
              <a:t>predicted</a:t>
            </a:r>
            <a:r>
              <a:rPr spc="-3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b="1" dirty="0">
                <a:latin typeface="Georgia"/>
                <a:cs typeface="Georgia"/>
              </a:rPr>
              <a:t>a</a:t>
            </a:r>
            <a:r>
              <a:rPr b="1" spc="-3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set</a:t>
            </a:r>
            <a:r>
              <a:rPr b="1" spc="-25" dirty="0">
                <a:latin typeface="Georgia"/>
                <a:cs typeface="Georgia"/>
              </a:rPr>
              <a:t> of 	</a:t>
            </a:r>
            <a:r>
              <a:rPr dirty="0"/>
              <a:t>independent</a:t>
            </a:r>
            <a:r>
              <a:rPr spc="-100" dirty="0"/>
              <a:t> </a:t>
            </a:r>
            <a:r>
              <a:rPr dirty="0"/>
              <a:t>variables</a:t>
            </a:r>
            <a:r>
              <a:rPr spc="-100" dirty="0"/>
              <a:t> </a:t>
            </a:r>
            <a:r>
              <a:rPr spc="-20" dirty="0"/>
              <a:t>(X1, 	</a:t>
            </a:r>
            <a:r>
              <a:rPr dirty="0"/>
              <a:t>X2</a:t>
            </a:r>
            <a:r>
              <a:rPr spc="-15" dirty="0"/>
              <a:t> </a:t>
            </a:r>
            <a:r>
              <a:rPr spc="-10" dirty="0"/>
              <a:t>….Xk)</a:t>
            </a:r>
          </a:p>
          <a:p>
            <a:pPr marL="217170" marR="41910" indent="-179705">
              <a:lnSpc>
                <a:spcPts val="2590"/>
              </a:lnSpc>
              <a:spcBef>
                <a:spcPts val="1260"/>
              </a:spcBef>
              <a:buFont typeface="Arial"/>
              <a:buChar char="•"/>
              <a:tabLst>
                <a:tab pos="219075" algn="l"/>
              </a:tabLst>
            </a:pPr>
            <a:r>
              <a:rPr dirty="0"/>
              <a:t>One</a:t>
            </a:r>
            <a:r>
              <a:rPr spc="-65" dirty="0"/>
              <a:t> </a:t>
            </a:r>
            <a:r>
              <a:rPr dirty="0"/>
              <a:t>regression</a:t>
            </a:r>
            <a:r>
              <a:rPr spc="-70" dirty="0"/>
              <a:t> </a:t>
            </a:r>
            <a:r>
              <a:rPr dirty="0"/>
              <a:t>coefficient</a:t>
            </a:r>
            <a:r>
              <a:rPr spc="-70" dirty="0"/>
              <a:t> </a:t>
            </a:r>
            <a:r>
              <a:rPr spc="-25" dirty="0"/>
              <a:t>for 	</a:t>
            </a:r>
            <a:r>
              <a:rPr dirty="0"/>
              <a:t>each</a:t>
            </a:r>
            <a:r>
              <a:rPr spc="-65" dirty="0"/>
              <a:t> </a:t>
            </a:r>
            <a:r>
              <a:rPr dirty="0"/>
              <a:t>independent</a:t>
            </a:r>
            <a:r>
              <a:rPr spc="-70" dirty="0"/>
              <a:t> </a:t>
            </a:r>
            <a:r>
              <a:rPr spc="-10" dirty="0"/>
              <a:t>variable</a:t>
            </a:r>
          </a:p>
          <a:p>
            <a:pPr marL="217170" marR="30480" indent="-179705">
              <a:lnSpc>
                <a:spcPct val="90300"/>
              </a:lnSpc>
              <a:spcBef>
                <a:spcPts val="1155"/>
              </a:spcBef>
              <a:buFont typeface="Arial"/>
              <a:buChar char="•"/>
              <a:tabLst>
                <a:tab pos="218440" algn="l"/>
              </a:tabLst>
            </a:pPr>
            <a:r>
              <a:rPr b="1" dirty="0">
                <a:latin typeface="Georgia"/>
                <a:cs typeface="Georgia"/>
              </a:rPr>
              <a:t>R</a:t>
            </a:r>
            <a:r>
              <a:rPr sz="2400" b="1" baseline="24305" dirty="0">
                <a:latin typeface="Georgia"/>
                <a:cs typeface="Georgia"/>
              </a:rPr>
              <a:t>2</a:t>
            </a:r>
            <a:r>
              <a:rPr sz="2400" dirty="0"/>
              <a:t>:</a:t>
            </a:r>
            <a:r>
              <a:rPr sz="2400" spc="-50" dirty="0"/>
              <a:t> </a:t>
            </a:r>
            <a:r>
              <a:rPr sz="2400" dirty="0"/>
              <a:t>proportion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variation</a:t>
            </a:r>
            <a:r>
              <a:rPr sz="2400" spc="-50" dirty="0"/>
              <a:t> </a:t>
            </a:r>
            <a:r>
              <a:rPr sz="2400" spc="-25" dirty="0"/>
              <a:t>in 	</a:t>
            </a:r>
            <a:r>
              <a:rPr sz="2400" dirty="0"/>
              <a:t>dependent</a:t>
            </a:r>
            <a:r>
              <a:rPr sz="2400" spc="-60" dirty="0"/>
              <a:t> </a:t>
            </a:r>
            <a:r>
              <a:rPr sz="2400" dirty="0"/>
              <a:t>variable</a:t>
            </a:r>
            <a:r>
              <a:rPr sz="2400" spc="-50" dirty="0"/>
              <a:t> Y 	</a:t>
            </a:r>
            <a:r>
              <a:rPr sz="2400" dirty="0"/>
              <a:t>predictable</a:t>
            </a:r>
            <a:r>
              <a:rPr sz="2400" spc="-50" dirty="0"/>
              <a:t> </a:t>
            </a:r>
            <a:r>
              <a:rPr sz="2400" dirty="0"/>
              <a:t>by</a:t>
            </a:r>
            <a:r>
              <a:rPr sz="2400" spc="-40" dirty="0"/>
              <a:t> </a:t>
            </a:r>
            <a:r>
              <a:rPr sz="2400" b="1" u="sng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set</a:t>
            </a:r>
            <a:r>
              <a:rPr sz="2400" b="1" u="sng" spc="-45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400" b="1" u="sng" spc="-25" dirty="0"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400" b="1" u="none" spc="-25" dirty="0">
                <a:latin typeface="Georgia"/>
                <a:cs typeface="Georgia"/>
              </a:rPr>
              <a:t> 	</a:t>
            </a:r>
            <a:r>
              <a:rPr sz="2400" u="none" dirty="0"/>
              <a:t>independent</a:t>
            </a:r>
            <a:r>
              <a:rPr sz="2400" u="none" spc="-100" dirty="0"/>
              <a:t> </a:t>
            </a:r>
            <a:r>
              <a:rPr sz="2400" u="none" dirty="0"/>
              <a:t>variables</a:t>
            </a:r>
            <a:r>
              <a:rPr sz="2400" u="none" spc="-100" dirty="0"/>
              <a:t> </a:t>
            </a:r>
            <a:r>
              <a:rPr sz="2400" u="none" spc="-10" dirty="0"/>
              <a:t>(X’s)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13107" y="1066800"/>
            <a:ext cx="1024255" cy="5179060"/>
          </a:xfrm>
          <a:custGeom>
            <a:avLst/>
            <a:gdLst/>
            <a:ahLst/>
            <a:cxnLst/>
            <a:rect l="l" t="t" r="r" b="b"/>
            <a:pathLst>
              <a:path w="1024254" h="5179060">
                <a:moveTo>
                  <a:pt x="1024167" y="0"/>
                </a:moveTo>
                <a:lnTo>
                  <a:pt x="0" y="5178957"/>
                </a:lnTo>
              </a:path>
            </a:pathLst>
          </a:custGeom>
          <a:ln w="12693">
            <a:solidFill>
              <a:srgbClr val="0011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9375" y="2675635"/>
            <a:ext cx="4862830" cy="338962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91770" marR="119380" indent="-179705">
              <a:lnSpc>
                <a:spcPct val="81700"/>
              </a:lnSpc>
              <a:spcBef>
                <a:spcPts val="625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Y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predicted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random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endParaRPr sz="2400">
              <a:latin typeface="Georgia"/>
              <a:cs typeface="Georgia"/>
            </a:endParaRPr>
          </a:p>
          <a:p>
            <a:pPr marL="191770" marR="188595" indent="-179705">
              <a:lnSpc>
                <a:spcPct val="79600"/>
              </a:lnSpc>
              <a:spcBef>
                <a:spcPts val="1210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capture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variation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due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differences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between 	subjects/items/etc.</a:t>
            </a:r>
            <a:endParaRPr sz="2400">
              <a:latin typeface="Georgia"/>
              <a:cs typeface="Georgia"/>
            </a:endParaRPr>
          </a:p>
          <a:p>
            <a:pPr marL="191770" marR="654050" indent="-179705">
              <a:lnSpc>
                <a:spcPts val="2300"/>
              </a:lnSpc>
              <a:spcBef>
                <a:spcPts val="1185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is 	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hierarchical/nested/clustered</a:t>
            </a:r>
            <a:endParaRPr sz="2400">
              <a:latin typeface="Georgia"/>
              <a:cs typeface="Georgia"/>
            </a:endParaRPr>
          </a:p>
          <a:p>
            <a:pPr marL="374015" marR="5080" indent="-180975">
              <a:lnSpc>
                <a:spcPct val="79000"/>
              </a:lnSpc>
              <a:spcBef>
                <a:spcPts val="1240"/>
              </a:spcBef>
            </a:pPr>
            <a:r>
              <a:rPr sz="20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000" spc="145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Groups,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cohorts,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schools,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organizations,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hospitals,</a:t>
            </a:r>
            <a:r>
              <a:rPr sz="2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etc.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2715" y="861059"/>
            <a:ext cx="5280025" cy="11715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Georgia"/>
                <a:cs typeface="Georgia"/>
              </a:rPr>
              <a:t>Y</a:t>
            </a:r>
            <a:r>
              <a:rPr sz="3150" i="1" baseline="-18518" dirty="0">
                <a:latin typeface="Georgia"/>
                <a:cs typeface="Georgia"/>
              </a:rPr>
              <a:t>si</a:t>
            </a:r>
            <a:r>
              <a:rPr sz="3150" i="1" spc="382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0s</a:t>
            </a:r>
            <a:r>
              <a:rPr sz="3150" spc="397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1s</a:t>
            </a:r>
            <a:r>
              <a:rPr sz="3200" i="1" dirty="0">
                <a:latin typeface="Georgia"/>
                <a:cs typeface="Georgia"/>
              </a:rPr>
              <a:t>X</a:t>
            </a:r>
            <a:r>
              <a:rPr sz="3150" i="1" baseline="-18518" dirty="0">
                <a:latin typeface="Georgia"/>
                <a:cs typeface="Georgia"/>
              </a:rPr>
              <a:t>i</a:t>
            </a:r>
            <a:r>
              <a:rPr sz="3150" i="1" spc="390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…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ns</a:t>
            </a:r>
            <a:r>
              <a:rPr sz="3200" i="1" dirty="0">
                <a:latin typeface="Georgia"/>
                <a:cs typeface="Georgia"/>
              </a:rPr>
              <a:t>X</a:t>
            </a:r>
            <a:r>
              <a:rPr sz="3150" baseline="-18518" dirty="0">
                <a:latin typeface="Georgia"/>
                <a:cs typeface="Georgia"/>
              </a:rPr>
              <a:t>n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0" dirty="0">
                <a:latin typeface="Georgia"/>
                <a:cs typeface="Georgia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ε</a:t>
            </a:r>
            <a:r>
              <a:rPr sz="3150" i="1" spc="-37" baseline="-18518" dirty="0">
                <a:latin typeface="Georgia"/>
                <a:cs typeface="Georgia"/>
              </a:rPr>
              <a:t>si</a:t>
            </a:r>
            <a:endParaRPr sz="3150" baseline="-18518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675"/>
              </a:spcBef>
              <a:tabLst>
                <a:tab pos="2512695" algn="l"/>
              </a:tabLst>
            </a:pP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0s</a:t>
            </a:r>
            <a:r>
              <a:rPr sz="2100" spc="270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=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</a:t>
            </a:r>
            <a:r>
              <a:rPr sz="2100" spc="275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+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spc="-37" baseline="12152" dirty="0">
                <a:latin typeface="Georgia"/>
                <a:cs typeface="Georgia"/>
              </a:rPr>
              <a:t>S</a:t>
            </a:r>
            <a:r>
              <a:rPr sz="2100" i="1" spc="-25" dirty="0">
                <a:latin typeface="Georgia"/>
                <a:cs typeface="Georgia"/>
              </a:rPr>
              <a:t>0s</a:t>
            </a:r>
            <a:r>
              <a:rPr sz="2100" i="1" dirty="0">
                <a:latin typeface="Georgia"/>
                <a:cs typeface="Georgia"/>
              </a:rPr>
              <a:t>	</a:t>
            </a:r>
            <a:r>
              <a:rPr sz="2100" i="1" dirty="0">
                <a:solidFill>
                  <a:srgbClr val="FF000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FF0000"/>
                </a:solidFill>
                <a:latin typeface="Georgia"/>
                <a:cs typeface="Georgia"/>
              </a:rPr>
              <a:t>Intercept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5415" y="1924811"/>
            <a:ext cx="225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</a:t>
            </a:r>
            <a:r>
              <a:rPr sz="3150" i="1" baseline="-18518" dirty="0">
                <a:latin typeface="Georgia"/>
                <a:cs typeface="Georgia"/>
              </a:rPr>
              <a:t>s</a:t>
            </a:r>
            <a:r>
              <a:rPr sz="3150" i="1" spc="405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10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</a:t>
            </a:r>
            <a:r>
              <a:rPr sz="3150" spc="390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0" dirty="0">
                <a:latin typeface="Georgia"/>
                <a:cs typeface="Georgia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S</a:t>
            </a:r>
            <a:r>
              <a:rPr sz="3150" i="1" spc="-37" baseline="-18518" dirty="0">
                <a:latin typeface="Georgia"/>
                <a:cs typeface="Georgia"/>
              </a:rPr>
              <a:t>1s</a:t>
            </a:r>
            <a:endParaRPr sz="3150" baseline="-1851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95686" y="2152903"/>
            <a:ext cx="19138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dirty="0">
                <a:solidFill>
                  <a:srgbClr val="FF000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FF0000"/>
                </a:solidFill>
                <a:latin typeface="Georgia"/>
                <a:cs typeface="Georgia"/>
              </a:rPr>
              <a:t>Slopes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5" dirty="0"/>
              <a:t> </a:t>
            </a:r>
            <a:r>
              <a:rPr spc="-2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940" y="1402587"/>
            <a:ext cx="4110354" cy="16256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Nested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Repeated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Measures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Longitudinal</a:t>
            </a:r>
            <a:r>
              <a:rPr sz="2800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7240" y="760425"/>
            <a:ext cx="6062469" cy="20809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4065" y="3425687"/>
            <a:ext cx="6104755" cy="23823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should</a:t>
            </a:r>
            <a:r>
              <a:rPr spc="-60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dirty="0"/>
              <a:t>use</a:t>
            </a:r>
            <a:r>
              <a:rPr spc="-60" dirty="0"/>
              <a:t> </a:t>
            </a:r>
            <a:r>
              <a:rPr spc="-10" dirty="0"/>
              <a:t>this?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275" y="1402587"/>
            <a:ext cx="8693785" cy="40906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‘ignore’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some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Homogeneity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925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variability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Assumption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independence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930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relationships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cases</a:t>
            </a:r>
            <a:endParaRPr sz="24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935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repeated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observations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Missing</a:t>
            </a:r>
            <a:r>
              <a:rPr sz="28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925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MLMs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cope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missing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Fixed</a:t>
            </a:r>
            <a:r>
              <a:rPr spc="-70" dirty="0"/>
              <a:t> </a:t>
            </a:r>
            <a:r>
              <a:rPr dirty="0"/>
              <a:t>effects</a:t>
            </a:r>
            <a:r>
              <a:rPr spc="-70" dirty="0"/>
              <a:t> </a:t>
            </a:r>
            <a:r>
              <a:rPr dirty="0"/>
              <a:t>vs</a:t>
            </a:r>
            <a:r>
              <a:rPr spc="-70" dirty="0"/>
              <a:t> </a:t>
            </a:r>
            <a:r>
              <a:rPr dirty="0"/>
              <a:t>random</a:t>
            </a:r>
            <a:r>
              <a:rPr spc="-65" dirty="0"/>
              <a:t> </a:t>
            </a:r>
            <a:r>
              <a:rPr spc="-10" dirty="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475" y="1509267"/>
            <a:ext cx="5736590" cy="44932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238760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fixed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885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OLS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they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coefficients</a:t>
            </a:r>
            <a:endParaRPr sz="2800">
              <a:latin typeface="Georgia"/>
              <a:cs typeface="Georgia"/>
            </a:endParaRPr>
          </a:p>
          <a:p>
            <a:pPr marL="372745" marR="5080" lvl="1" indent="-179705">
              <a:lnSpc>
                <a:spcPts val="2620"/>
              </a:lnSpc>
              <a:spcBef>
                <a:spcPts val="1235"/>
              </a:spcBef>
              <a:buFont typeface="Arial"/>
              <a:buChar char="-"/>
              <a:tabLst>
                <a:tab pos="374650" algn="l"/>
              </a:tabLst>
            </a:pP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Intercepts/slopes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assumed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the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same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across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different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contexts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coefficients</a:t>
            </a:r>
            <a:endParaRPr sz="2800">
              <a:latin typeface="Georgia"/>
              <a:cs typeface="Georgia"/>
            </a:endParaRPr>
          </a:p>
          <a:p>
            <a:pPr marL="372745" marR="387985" lvl="1" indent="-179705">
              <a:lnSpc>
                <a:spcPts val="2590"/>
              </a:lnSpc>
              <a:spcBef>
                <a:spcPts val="1255"/>
              </a:spcBef>
              <a:buFont typeface="Arial"/>
              <a:buChar char="-"/>
              <a:tabLst>
                <a:tab pos="374650" algn="l"/>
              </a:tabLst>
            </a:pP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Intercepts/slopes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allowed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vary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across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different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contexts</a:t>
            </a:r>
            <a:endParaRPr sz="24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900"/>
              </a:spcBef>
              <a:buFont typeface="Arial"/>
              <a:buChar char="-"/>
              <a:tabLst>
                <a:tab pos="373380" algn="l"/>
              </a:tabLst>
            </a:pP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Require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1175" y="3838309"/>
            <a:ext cx="2475547" cy="24755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4975" y="1063675"/>
            <a:ext cx="2590800" cy="2721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2820" y="4301807"/>
            <a:ext cx="2627944" cy="171449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07008" y="5844540"/>
            <a:ext cx="515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https://bookdown.org/steve_midway/DAR/random-effects.html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324" y="989529"/>
            <a:ext cx="6227350" cy="42963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0779" y="5643372"/>
            <a:ext cx="5038725" cy="6597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600"/>
              </a:lnSpc>
              <a:spcBef>
                <a:spcPts val="120"/>
              </a:spcBef>
            </a:pPr>
            <a:r>
              <a:rPr sz="1400" dirty="0">
                <a:latin typeface="Georgia"/>
                <a:cs typeface="Georgia"/>
              </a:rPr>
              <a:t>Barr,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J.,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Levy,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R.,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Scheepers,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C.,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&amp;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Tily,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(2013).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Random </a:t>
            </a:r>
            <a:r>
              <a:rPr sz="1400" dirty="0">
                <a:latin typeface="Georgia"/>
                <a:cs typeface="Georgia"/>
              </a:rPr>
              <a:t>effects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structure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confirmatory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hypothesis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testing: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Keep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it </a:t>
            </a:r>
            <a:r>
              <a:rPr sz="1400" dirty="0">
                <a:latin typeface="Georgia"/>
                <a:cs typeface="Georgia"/>
              </a:rPr>
              <a:t>maximal.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Journal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memory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language,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68(3),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255-</a:t>
            </a:r>
            <a:r>
              <a:rPr sz="1400" spc="-20" dirty="0">
                <a:latin typeface="Georgia"/>
                <a:cs typeface="Georgia"/>
              </a:rPr>
              <a:t>278.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Pros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mixed</a:t>
            </a:r>
            <a:r>
              <a:rPr spc="-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875" y="1592579"/>
            <a:ext cx="5521960" cy="43738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93040" marR="234950" indent="-180975">
              <a:lnSpc>
                <a:spcPts val="2810"/>
              </a:lnSpc>
              <a:spcBef>
                <a:spcPts val="45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account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nested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repeated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measures</a:t>
            </a:r>
            <a:r>
              <a:rPr sz="2600" spc="-1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handle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missing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measurements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Illuminating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our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error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term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spc="-50" dirty="0">
                <a:solidFill>
                  <a:srgbClr val="001158"/>
                </a:solidFill>
                <a:latin typeface="Georgia"/>
                <a:cs typeface="Georgia"/>
              </a:rPr>
              <a:t>ε</a:t>
            </a:r>
            <a:endParaRPr sz="2600">
              <a:latin typeface="Georgia"/>
              <a:cs typeface="Georgia"/>
            </a:endParaRPr>
          </a:p>
          <a:p>
            <a:pPr marL="374650" marR="197485" lvl="1" indent="-181610">
              <a:lnSpc>
                <a:spcPts val="2400"/>
              </a:lnSpc>
              <a:spcBef>
                <a:spcPts val="1255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additional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account</a:t>
            </a:r>
            <a:r>
              <a:rPr sz="22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20" dirty="0">
                <a:solidFill>
                  <a:srgbClr val="001158"/>
                </a:solidFill>
                <a:latin typeface="Georgia"/>
                <a:cs typeface="Georgia"/>
              </a:rPr>
              <a:t>non-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independence</a:t>
            </a:r>
            <a:endParaRPr sz="2200">
              <a:latin typeface="Georgia"/>
              <a:cs typeface="Georgia"/>
            </a:endParaRPr>
          </a:p>
          <a:p>
            <a:pPr marL="374650" marR="756285" lvl="1" indent="-180975">
              <a:lnSpc>
                <a:spcPct val="89100"/>
              </a:lnSpc>
              <a:spcBef>
                <a:spcPts val="1205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things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were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previously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25" dirty="0">
                <a:solidFill>
                  <a:srgbClr val="001158"/>
                </a:solidFill>
                <a:latin typeface="Georgia"/>
                <a:cs typeface="Georgia"/>
              </a:rPr>
              <a:t>all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relegated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‘error’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now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become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2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200">
              <a:latin typeface="Georgia"/>
              <a:cs typeface="Georgia"/>
            </a:endParaRPr>
          </a:p>
          <a:p>
            <a:pPr marL="374650" marR="5080" lvl="1" indent="-181610">
              <a:lnSpc>
                <a:spcPts val="2400"/>
              </a:lnSpc>
              <a:spcBef>
                <a:spcPts val="1240"/>
              </a:spcBef>
              <a:buFont typeface="Arial"/>
              <a:buChar char="-"/>
              <a:tabLst>
                <a:tab pos="37465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E.g.,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differences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due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subjects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certain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question</a:t>
            </a:r>
            <a:r>
              <a:rPr sz="22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items,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schools,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groups,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25" dirty="0">
                <a:solidFill>
                  <a:srgbClr val="001158"/>
                </a:solidFill>
                <a:latin typeface="Georgia"/>
                <a:cs typeface="Georgia"/>
              </a:rPr>
              <a:t>etc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193040" algn="l"/>
              </a:tabLst>
            </a:pPr>
            <a:r>
              <a:rPr dirty="0"/>
              <a:t>Computational</a:t>
            </a:r>
            <a:r>
              <a:rPr spc="-135" dirty="0"/>
              <a:t> </a:t>
            </a:r>
            <a:r>
              <a:rPr spc="-10" dirty="0"/>
              <a:t>complexity</a:t>
            </a:r>
          </a:p>
          <a:p>
            <a:pPr marL="373380" lvl="1" indent="-179705">
              <a:lnSpc>
                <a:spcPct val="100000"/>
              </a:lnSpc>
              <a:spcBef>
                <a:spcPts val="950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difficult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specify</a:t>
            </a:r>
            <a:endParaRPr sz="2400">
              <a:latin typeface="Georgia"/>
              <a:cs typeface="Georgia"/>
            </a:endParaRPr>
          </a:p>
          <a:p>
            <a:pPr marL="372745" marR="501650" lvl="1" indent="-179705">
              <a:lnSpc>
                <a:spcPts val="2500"/>
              </a:lnSpc>
              <a:spcBef>
                <a:spcPts val="1315"/>
              </a:spcBef>
              <a:buFont typeface="Arial"/>
              <a:buChar char="-"/>
              <a:tabLst>
                <a:tab pos="37401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No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fitting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least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squares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4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possible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91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May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result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convergence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issues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919"/>
              </a:spcBef>
              <a:buFont typeface="Arial"/>
              <a:buChar char="•"/>
              <a:tabLst>
                <a:tab pos="193040" algn="l"/>
              </a:tabLst>
            </a:pPr>
            <a:r>
              <a:rPr dirty="0"/>
              <a:t>Interpretation</a:t>
            </a:r>
            <a:r>
              <a:rPr spc="-125" dirty="0"/>
              <a:t> </a:t>
            </a:r>
            <a:r>
              <a:rPr spc="-10" dirty="0"/>
              <a:t>issues</a:t>
            </a:r>
          </a:p>
          <a:p>
            <a:pPr marL="372745" marR="561340" lvl="1" indent="-179705">
              <a:lnSpc>
                <a:spcPts val="2500"/>
              </a:lnSpc>
              <a:spcBef>
                <a:spcPts val="1330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Computation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p-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not 	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straightforward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dirty="0"/>
              <a:t>Changes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R</a:t>
            </a:r>
            <a:r>
              <a:rPr sz="4050" baseline="24691" dirty="0"/>
              <a:t>2</a:t>
            </a:r>
            <a:r>
              <a:rPr sz="4050" spc="-97" baseline="24691" dirty="0"/>
              <a:t> </a:t>
            </a:r>
            <a:r>
              <a:rPr sz="4000" dirty="0"/>
              <a:t>in</a:t>
            </a:r>
            <a:r>
              <a:rPr sz="4000" spc="-55" dirty="0"/>
              <a:t> </a:t>
            </a:r>
            <a:r>
              <a:rPr sz="4000" dirty="0"/>
              <a:t>mixed</a:t>
            </a:r>
            <a:r>
              <a:rPr sz="4000" spc="-60" dirty="0"/>
              <a:t> </a:t>
            </a:r>
            <a:r>
              <a:rPr sz="4000" dirty="0"/>
              <a:t>effects</a:t>
            </a:r>
            <a:r>
              <a:rPr sz="4000" spc="-65" dirty="0"/>
              <a:t> </a:t>
            </a:r>
            <a:r>
              <a:rPr sz="4000" spc="-10" dirty="0"/>
              <a:t>modeling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6060" y="1371769"/>
            <a:ext cx="9036050" cy="37128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18440" indent="-18034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50" baseline="23391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50" spc="-82" baseline="23391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conditional</a:t>
            </a:r>
            <a:endParaRPr sz="2800">
              <a:latin typeface="Georgia"/>
              <a:cs typeface="Georgia"/>
            </a:endParaRPr>
          </a:p>
          <a:p>
            <a:pPr marL="398780" lvl="1" indent="-179705">
              <a:lnSpc>
                <a:spcPct val="100000"/>
              </a:lnSpc>
              <a:spcBef>
                <a:spcPts val="930"/>
              </a:spcBef>
              <a:buFont typeface="Arial"/>
              <a:buChar char="-"/>
              <a:tabLst>
                <a:tab pos="3987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Includes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explained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400">
              <a:latin typeface="Georgia"/>
              <a:cs typeface="Georgia"/>
            </a:endParaRPr>
          </a:p>
          <a:p>
            <a:pPr marL="218440" indent="-18034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50" baseline="23391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50" spc="-82" baseline="23391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marginal</a:t>
            </a:r>
            <a:endParaRPr sz="2800">
              <a:latin typeface="Georgia"/>
              <a:cs typeface="Georgia"/>
            </a:endParaRPr>
          </a:p>
          <a:p>
            <a:pPr marL="398780" lvl="1" indent="-179705">
              <a:lnSpc>
                <a:spcPct val="100000"/>
              </a:lnSpc>
              <a:spcBef>
                <a:spcPts val="925"/>
              </a:spcBef>
              <a:buFont typeface="Arial"/>
              <a:buChar char="-"/>
              <a:tabLst>
                <a:tab pos="3987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Includes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only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explained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400">
              <a:latin typeface="Georgia"/>
              <a:cs typeface="Georgia"/>
            </a:endParaRPr>
          </a:p>
          <a:p>
            <a:pPr marL="219075" marR="17780">
              <a:lnSpc>
                <a:spcPct val="89600"/>
              </a:lnSpc>
              <a:spcBef>
                <a:spcPts val="5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Nakagawa,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Johnson,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Schielzeth,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(2017).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of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determination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R2</a:t>
            </a:r>
            <a:r>
              <a:rPr sz="1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intra-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class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generalized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mixed-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1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revisited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expanded.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Journal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Royal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Society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Interface,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14(134),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20170213.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doi: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10.1098/rsif.2017.0213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1460" y="210820"/>
            <a:ext cx="97434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R</a:t>
            </a:r>
            <a:r>
              <a:rPr spc="-7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random intercepts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ct val="100000"/>
              </a:lnSpc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1460" y="1903323"/>
            <a:ext cx="8689975" cy="400050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Install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lme4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lmerTest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package</a:t>
            </a:r>
            <a:endParaRPr sz="2600">
              <a:latin typeface="Georgia"/>
              <a:cs typeface="Georgia"/>
            </a:endParaRPr>
          </a:p>
          <a:p>
            <a:pPr marL="193675" marR="903605" indent="-180975">
              <a:lnSpc>
                <a:spcPts val="2780"/>
              </a:lnSpc>
              <a:spcBef>
                <a:spcPts val="1265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lmer()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specify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our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with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intercept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follows:</a:t>
            </a:r>
            <a:endParaRPr sz="2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55"/>
              </a:spcBef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~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pred1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+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(1|pred2)</a:t>
            </a:r>
            <a:endParaRPr sz="2600">
              <a:latin typeface="Georgia"/>
              <a:cs typeface="Georgia"/>
            </a:endParaRPr>
          </a:p>
          <a:p>
            <a:pPr marL="193675" marR="381000" indent="-180975">
              <a:lnSpc>
                <a:spcPts val="2880"/>
              </a:lnSpc>
              <a:spcBef>
                <a:spcPts val="1185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Where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pred2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has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observations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associated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with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some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higher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level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(e.g.,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participant,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school,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team)</a:t>
            </a:r>
            <a:endParaRPr sz="2600">
              <a:latin typeface="Georgia"/>
              <a:cs typeface="Georgia"/>
            </a:endParaRPr>
          </a:p>
          <a:p>
            <a:pPr marL="193675" marR="5080" indent="-180975">
              <a:lnSpc>
                <a:spcPct val="89500"/>
              </a:lnSpc>
              <a:spcBef>
                <a:spcPts val="116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Pred2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also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isn’t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necessarily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something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interested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in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predictor,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but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know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having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some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influence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our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want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‘control’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497332"/>
            <a:ext cx="113620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mixed</a:t>
            </a:r>
            <a:r>
              <a:rPr spc="-50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random</a:t>
            </a:r>
            <a:r>
              <a:rPr spc="-50" dirty="0"/>
              <a:t> </a:t>
            </a:r>
            <a:r>
              <a:rPr spc="-10" dirty="0"/>
              <a:t>intercepts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262" y="1084580"/>
            <a:ext cx="11260455" cy="50546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05104" indent="-179705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Install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load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lme4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lmerTest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packages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Load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politeness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(it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Canvas)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Check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politeness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(get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summary,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make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some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plots,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etc.)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Make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prediction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about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relationship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attitude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vocal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frequency</a:t>
            </a:r>
            <a:endParaRPr sz="2400">
              <a:latin typeface="Georgia"/>
              <a:cs typeface="Georgia"/>
            </a:endParaRPr>
          </a:p>
          <a:p>
            <a:pPr marL="204470" marR="17780" indent="-179705">
              <a:lnSpc>
                <a:spcPct val="80000"/>
              </a:lnSpc>
              <a:spcBef>
                <a:spcPts val="1180"/>
              </a:spcBef>
              <a:buFont typeface="Arial"/>
              <a:buChar char="•"/>
              <a:tabLst>
                <a:tab pos="2063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predict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vocal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01158"/>
                </a:solidFill>
                <a:latin typeface="Georgia"/>
                <a:cs typeface="Georgia"/>
              </a:rPr>
              <a:t>frequency</a:t>
            </a:r>
            <a:r>
              <a:rPr sz="24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01158"/>
                </a:solidFill>
                <a:latin typeface="Georgia"/>
                <a:cs typeface="Georgia"/>
              </a:rPr>
              <a:t>attitude</a:t>
            </a:r>
            <a:r>
              <a:rPr sz="24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while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allowing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01158"/>
                </a:solidFill>
                <a:latin typeface="Georgia"/>
                <a:cs typeface="Georgia"/>
              </a:rPr>
              <a:t>subject</a:t>
            </a:r>
            <a:r>
              <a:rPr sz="2400" i="1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01158"/>
                </a:solidFill>
                <a:latin typeface="Georgia"/>
                <a:cs typeface="Georgia"/>
              </a:rPr>
              <a:t>scenario</a:t>
            </a:r>
            <a:endParaRPr sz="2400">
              <a:latin typeface="Georgia"/>
              <a:cs typeface="Georgia"/>
            </a:endParaRPr>
          </a:p>
          <a:p>
            <a:pPr marL="205740">
              <a:lnSpc>
                <a:spcPct val="100000"/>
              </a:lnSpc>
              <a:spcBef>
                <a:spcPts val="630"/>
              </a:spcBef>
            </a:pPr>
            <a:r>
              <a:rPr sz="22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200" spc="35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Remember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equation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(1|pred)</a:t>
            </a:r>
            <a:endParaRPr sz="22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400" baseline="24305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400" spc="217" baseline="2430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performance()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inspect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coef(</a:t>
            </a:r>
            <a:r>
              <a:rPr sz="2400" i="1" spc="-10" dirty="0">
                <a:solidFill>
                  <a:srgbClr val="001158"/>
                </a:solidFill>
                <a:latin typeface="Georgia"/>
                <a:cs typeface="Georgia"/>
              </a:rPr>
              <a:t>yourmodelhere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)</a:t>
            </a:r>
            <a:endParaRPr sz="2400">
              <a:latin typeface="Georgia"/>
              <a:cs typeface="Georgia"/>
            </a:endParaRPr>
          </a:p>
          <a:p>
            <a:pPr marL="205104" indent="-17970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05104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output</a:t>
            </a:r>
            <a:endParaRPr sz="2400">
              <a:latin typeface="Georgia"/>
              <a:cs typeface="Georgia"/>
            </a:endParaRPr>
          </a:p>
          <a:p>
            <a:pPr marL="204470" marR="1131570" indent="-179705">
              <a:lnSpc>
                <a:spcPts val="2300"/>
              </a:lnSpc>
              <a:spcBef>
                <a:spcPts val="1180"/>
              </a:spcBef>
              <a:buFont typeface="Arial"/>
              <a:buChar char="•"/>
              <a:tabLst>
                <a:tab pos="2063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Bonus: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parameters::model_parameters()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standardized 	coefficients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1460" y="210820"/>
            <a:ext cx="867156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Interpreting</a:t>
            </a:r>
            <a:r>
              <a:rPr spc="-130" dirty="0"/>
              <a:t> </a:t>
            </a:r>
            <a:r>
              <a:rPr dirty="0"/>
              <a:t>Random</a:t>
            </a:r>
            <a:r>
              <a:rPr spc="-130" dirty="0"/>
              <a:t> </a:t>
            </a:r>
            <a:r>
              <a:rPr dirty="0"/>
              <a:t>Effects</a:t>
            </a:r>
            <a:r>
              <a:rPr spc="-130" dirty="0"/>
              <a:t> </a:t>
            </a:r>
            <a:r>
              <a:rPr spc="-25" dirty="0"/>
              <a:t>and </a:t>
            </a:r>
            <a:r>
              <a:rPr dirty="0"/>
              <a:t>Intraclass</a:t>
            </a:r>
            <a:r>
              <a:rPr spc="-180" dirty="0"/>
              <a:t> </a:t>
            </a:r>
            <a:r>
              <a:rPr spc="-10" dirty="0"/>
              <a:t>Correlation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928" y="1621028"/>
            <a:ext cx="5607685" cy="24295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400">
              <a:latin typeface="Georgia"/>
              <a:cs typeface="Georgia"/>
            </a:endParaRPr>
          </a:p>
          <a:p>
            <a:pPr marL="373380" lvl="1" indent="-179705">
              <a:lnSpc>
                <a:spcPts val="2050"/>
              </a:lnSpc>
              <a:spcBef>
                <a:spcPts val="515"/>
              </a:spcBef>
              <a:buFont typeface="Arial"/>
              <a:buChar char="-"/>
              <a:tabLst>
                <a:tab pos="37338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tells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much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variability</a:t>
            </a:r>
            <a:endParaRPr sz="2000">
              <a:latin typeface="Georgia"/>
              <a:cs typeface="Georgia"/>
            </a:endParaRPr>
          </a:p>
          <a:p>
            <a:pPr marL="374015" marR="379730">
              <a:lnSpc>
                <a:spcPct val="67000"/>
              </a:lnSpc>
              <a:spcBef>
                <a:spcPts val="445"/>
              </a:spcBef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individuals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explained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relative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residual</a:t>
            </a:r>
            <a:endParaRPr sz="2000">
              <a:latin typeface="Georgia"/>
              <a:cs typeface="Georgia"/>
            </a:endParaRPr>
          </a:p>
          <a:p>
            <a:pPr marL="372745" marR="5080" lvl="1" indent="-179705">
              <a:lnSpc>
                <a:spcPct val="71000"/>
              </a:lnSpc>
              <a:spcBef>
                <a:spcPts val="1200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SD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tells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about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between-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subject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differences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within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group</a:t>
            </a:r>
            <a:endParaRPr sz="2000">
              <a:latin typeface="Georgia"/>
              <a:cs typeface="Georgia"/>
            </a:endParaRPr>
          </a:p>
          <a:p>
            <a:pPr marL="373380" marR="814705" lvl="1" indent="-179705">
              <a:lnSpc>
                <a:spcPct val="71000"/>
              </a:lnSpc>
              <a:spcBef>
                <a:spcPts val="1180"/>
              </a:spcBef>
              <a:buFont typeface="Arial"/>
              <a:buChar char="-"/>
              <a:tabLst>
                <a:tab pos="37465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Corr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–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slope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and 	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intercept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5421" y="1395475"/>
            <a:ext cx="5217160" cy="45872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Intraclass</a:t>
            </a:r>
            <a:r>
              <a:rPr sz="24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400" dirty="0">
              <a:latin typeface="Georgia"/>
              <a:cs typeface="Georgia"/>
            </a:endParaRPr>
          </a:p>
          <a:p>
            <a:pPr marL="179705" marR="492125" lvl="1" indent="-179705" algn="r">
              <a:lnSpc>
                <a:spcPts val="2039"/>
              </a:lnSpc>
              <a:spcBef>
                <a:spcPts val="515"/>
              </a:spcBef>
              <a:buFont typeface="Arial"/>
              <a:buChar char="-"/>
              <a:tabLst>
                <a:tab pos="17970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Ratio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intercept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endParaRPr sz="2000" dirty="0">
              <a:latin typeface="Georgia"/>
              <a:cs typeface="Georgia"/>
            </a:endParaRPr>
          </a:p>
          <a:p>
            <a:pPr marR="484505" algn="r">
              <a:lnSpc>
                <a:spcPts val="1645"/>
              </a:lnSpc>
              <a:spcBef>
                <a:spcPts val="5"/>
              </a:spcBef>
            </a:pP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(between-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person)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total</a:t>
            </a:r>
            <a:r>
              <a:rPr sz="2000" spc="-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variance,</a:t>
            </a:r>
            <a:endParaRPr sz="2000" dirty="0">
              <a:latin typeface="Georgia"/>
              <a:cs typeface="Georgia"/>
            </a:endParaRPr>
          </a:p>
          <a:p>
            <a:pPr marL="374015">
              <a:lnSpc>
                <a:spcPts val="1655"/>
              </a:lnSpc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defined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sum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intercept</a:t>
            </a:r>
            <a:endParaRPr sz="2000" dirty="0">
              <a:latin typeface="Georgia"/>
              <a:cs typeface="Georgia"/>
            </a:endParaRPr>
          </a:p>
          <a:p>
            <a:pPr marL="374015" marR="99060">
              <a:lnSpc>
                <a:spcPct val="71000"/>
              </a:lnSpc>
              <a:spcBef>
                <a:spcPts val="345"/>
              </a:spcBef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0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0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residual</a:t>
            </a:r>
            <a:r>
              <a:rPr sz="20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0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(between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50" dirty="0">
                <a:solidFill>
                  <a:srgbClr val="001158"/>
                </a:solidFill>
                <a:latin typeface="Georgia"/>
                <a:cs typeface="Georgia"/>
              </a:rPr>
              <a:t>+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within).</a:t>
            </a:r>
            <a:endParaRPr sz="2000" dirty="0">
              <a:latin typeface="Georgia"/>
              <a:cs typeface="Georgia"/>
            </a:endParaRPr>
          </a:p>
          <a:p>
            <a:pPr marL="372745" marR="544830" lvl="1" indent="-179705">
              <a:lnSpc>
                <a:spcPct val="70000"/>
              </a:lnSpc>
              <a:spcBef>
                <a:spcPts val="1225"/>
              </a:spcBef>
              <a:buFont typeface="Arial"/>
              <a:buChar char="-"/>
              <a:tabLst>
                <a:tab pos="374015" algn="l"/>
              </a:tabLst>
            </a:pPr>
            <a:r>
              <a:rPr lang="en-US" sz="2000" dirty="0">
                <a:solidFill>
                  <a:srgbClr val="001158"/>
                </a:solidFill>
                <a:latin typeface="Georgia"/>
                <a:cs typeface="Georgia"/>
              </a:rPr>
              <a:t>C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oefficient</a:t>
            </a:r>
            <a:r>
              <a:rPr sz="20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observations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same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r>
              <a:rPr lang="en-US" sz="20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cluster</a:t>
            </a:r>
            <a:endParaRPr sz="2000" dirty="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405"/>
              </a:spcBef>
              <a:buFont typeface="Arial"/>
              <a:buChar char="-"/>
              <a:tabLst>
                <a:tab pos="37274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tell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you:</a:t>
            </a:r>
            <a:endParaRPr sz="2000" dirty="0">
              <a:latin typeface="Georgia"/>
              <a:cs typeface="Georgia"/>
            </a:endParaRPr>
          </a:p>
          <a:p>
            <a:pPr marL="372745" marR="105410" lvl="1" indent="-179705">
              <a:lnSpc>
                <a:spcPct val="71000"/>
              </a:lnSpc>
              <a:spcBef>
                <a:spcPts val="1200"/>
              </a:spcBef>
              <a:buFont typeface="Arial"/>
              <a:buChar char="-"/>
              <a:tabLst>
                <a:tab pos="37401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even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necessary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(if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ICC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 is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near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0,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maybe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not)</a:t>
            </a:r>
            <a:endParaRPr sz="2000" dirty="0">
              <a:latin typeface="Georgia"/>
              <a:cs typeface="Georgia"/>
            </a:endParaRPr>
          </a:p>
          <a:p>
            <a:pPr marL="372745" lvl="1" indent="-179705">
              <a:lnSpc>
                <a:spcPts val="2039"/>
              </a:lnSpc>
              <a:spcBef>
                <a:spcPts val="505"/>
              </a:spcBef>
              <a:buFont typeface="Arial"/>
              <a:buChar char="-"/>
              <a:tabLst>
                <a:tab pos="37274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much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variation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explained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due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endParaRPr sz="2000" dirty="0">
              <a:latin typeface="Georgia"/>
              <a:cs typeface="Georgia"/>
            </a:endParaRPr>
          </a:p>
          <a:p>
            <a:pPr marL="373380" marR="218440">
              <a:lnSpc>
                <a:spcPct val="67000"/>
              </a:lnSpc>
              <a:spcBef>
                <a:spcPts val="434"/>
              </a:spcBef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clustering/grouping</a:t>
            </a:r>
            <a:r>
              <a:rPr sz="2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variable(s)</a:t>
            </a:r>
            <a:r>
              <a:rPr sz="20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–</a:t>
            </a:r>
            <a:r>
              <a:rPr sz="20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i.e.,</a:t>
            </a:r>
            <a:r>
              <a:rPr sz="20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001158"/>
                </a:solidFill>
                <a:latin typeface="Georgia"/>
                <a:cs typeface="Georgia"/>
              </a:rPr>
              <a:t>the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0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2000" dirty="0">
              <a:latin typeface="Georgia"/>
              <a:cs typeface="Georgia"/>
            </a:endParaRPr>
          </a:p>
          <a:p>
            <a:pPr marL="372110" marR="231775" lvl="1" indent="-179705">
              <a:lnSpc>
                <a:spcPct val="71000"/>
              </a:lnSpc>
              <a:spcBef>
                <a:spcPts val="1200"/>
              </a:spcBef>
              <a:buFont typeface="Arial"/>
              <a:buChar char="-"/>
              <a:tabLst>
                <a:tab pos="37338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ICC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changes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different 	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changes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Comparing</a:t>
            </a:r>
            <a:r>
              <a:rPr spc="-8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1460" y="1402587"/>
            <a:ext cx="6177280" cy="21094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AIC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Lower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value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better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BIC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Lower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value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better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Loglikelihood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Higher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better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193675">
              <a:lnSpc>
                <a:spcPct val="100000"/>
              </a:lnSpc>
              <a:spcBef>
                <a:spcPts val="925"/>
              </a:spcBef>
            </a:pPr>
            <a:r>
              <a:rPr sz="24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400" spc="-70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1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LL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–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LL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192532"/>
            <a:ext cx="11348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Repeat</a:t>
            </a:r>
            <a:r>
              <a:rPr spc="-6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same</a:t>
            </a:r>
            <a:r>
              <a:rPr spc="-70" dirty="0"/>
              <a:t> </a:t>
            </a:r>
            <a:r>
              <a:rPr dirty="0"/>
              <a:t>mixed</a:t>
            </a:r>
            <a:r>
              <a:rPr spc="-60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random </a:t>
            </a:r>
            <a:r>
              <a:rPr dirty="0"/>
              <a:t>intercepts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new</a:t>
            </a:r>
            <a:r>
              <a:rPr spc="-80" dirty="0"/>
              <a:t> </a:t>
            </a:r>
            <a:r>
              <a:rPr spc="-10" dirty="0"/>
              <a:t>predictor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148" y="1461515"/>
            <a:ext cx="10981690" cy="42443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06375" marR="844550" indent="-180975">
              <a:lnSpc>
                <a:spcPct val="70000"/>
              </a:lnSpc>
              <a:spcBef>
                <a:spcPts val="1035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Make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prediction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about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relationship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attitude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vocal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frequency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and</a:t>
            </a:r>
            <a:r>
              <a:rPr sz="2600" i="1" u="sng" spc="-6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i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gender</a:t>
            </a:r>
            <a:r>
              <a:rPr sz="2600" i="1" u="sng" spc="-6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i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and</a:t>
            </a:r>
            <a:r>
              <a:rPr sz="2600" i="1" u="sng" spc="-6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i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vocal</a:t>
            </a:r>
            <a:r>
              <a:rPr sz="2600" i="1" u="sng" spc="-7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i="1" u="sng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frequency</a:t>
            </a:r>
            <a:endParaRPr sz="2600">
              <a:latin typeface="Georgia"/>
              <a:cs typeface="Georgia"/>
            </a:endParaRPr>
          </a:p>
          <a:p>
            <a:pPr marL="206375" marR="347980" indent="-180975">
              <a:lnSpc>
                <a:spcPct val="70800"/>
              </a:lnSpc>
              <a:spcBef>
                <a:spcPts val="1200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vocal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dirty="0">
                <a:solidFill>
                  <a:srgbClr val="001158"/>
                </a:solidFill>
                <a:latin typeface="Georgia"/>
                <a:cs typeface="Georgia"/>
              </a:rPr>
              <a:t>frequency</a:t>
            </a:r>
            <a:r>
              <a:rPr sz="26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dirty="0">
                <a:solidFill>
                  <a:srgbClr val="001158"/>
                </a:solidFill>
                <a:latin typeface="Georgia"/>
                <a:cs typeface="Georgia"/>
              </a:rPr>
              <a:t>attitude</a:t>
            </a:r>
            <a:r>
              <a:rPr sz="26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spc="-25" dirty="0">
                <a:solidFill>
                  <a:srgbClr val="001158"/>
                </a:solidFill>
                <a:latin typeface="Georgia"/>
                <a:cs typeface="Georgia"/>
              </a:rPr>
              <a:t>and </a:t>
            </a:r>
            <a:r>
              <a:rPr sz="2600" i="1" dirty="0">
                <a:solidFill>
                  <a:srgbClr val="001158"/>
                </a:solidFill>
                <a:latin typeface="Georgia"/>
                <a:cs typeface="Georgia"/>
              </a:rPr>
              <a:t>gender</a:t>
            </a:r>
            <a:r>
              <a:rPr sz="2600" i="1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while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allowing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dirty="0">
                <a:solidFill>
                  <a:srgbClr val="001158"/>
                </a:solidFill>
                <a:latin typeface="Georgia"/>
                <a:cs typeface="Georgia"/>
              </a:rPr>
              <a:t>subject</a:t>
            </a:r>
            <a:r>
              <a:rPr sz="2600" i="1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spc="-10" dirty="0">
                <a:solidFill>
                  <a:srgbClr val="001158"/>
                </a:solidFill>
                <a:latin typeface="Georgia"/>
                <a:cs typeface="Georgia"/>
              </a:rPr>
              <a:t>scenario</a:t>
            </a:r>
            <a:endParaRPr sz="2600">
              <a:latin typeface="Georgia"/>
              <a:cs typeface="Georgia"/>
            </a:endParaRPr>
          </a:p>
          <a:p>
            <a:pPr marL="206375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400" spc="-85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Remember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equation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(1|pred)</a:t>
            </a:r>
            <a:endParaRPr sz="2400">
              <a:latin typeface="Georgia"/>
              <a:cs typeface="Georgia"/>
            </a:endParaRPr>
          </a:p>
          <a:p>
            <a:pPr marL="206375" indent="-18097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550" baseline="26143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550" spc="254" baseline="26143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performance()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endParaRPr sz="2600">
              <a:latin typeface="Georgia"/>
              <a:cs typeface="Georgia"/>
            </a:endParaRPr>
          </a:p>
          <a:p>
            <a:pPr marL="206375" indent="-18097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coef(</a:t>
            </a:r>
            <a:r>
              <a:rPr sz="2600" i="1" spc="-10" dirty="0">
                <a:solidFill>
                  <a:srgbClr val="001158"/>
                </a:solidFill>
                <a:latin typeface="Georgia"/>
                <a:cs typeface="Georgia"/>
              </a:rPr>
              <a:t>yourmodelhere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)</a:t>
            </a:r>
            <a:endParaRPr sz="2600">
              <a:latin typeface="Georgia"/>
              <a:cs typeface="Georgia"/>
            </a:endParaRPr>
          </a:p>
          <a:p>
            <a:pPr marL="206375" indent="-18097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AIC,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BIC,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-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2LL,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ANOVA</a:t>
            </a:r>
            <a:endParaRPr sz="2600">
              <a:latin typeface="Georgia"/>
              <a:cs typeface="Georgia"/>
            </a:endParaRPr>
          </a:p>
          <a:p>
            <a:pPr marL="206375" indent="-18097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2063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output</a:t>
            </a:r>
            <a:endParaRPr sz="2600">
              <a:latin typeface="Georgia"/>
              <a:cs typeface="Georgia"/>
            </a:endParaRPr>
          </a:p>
          <a:p>
            <a:pPr marL="207010" marR="17780" indent="-181610">
              <a:lnSpc>
                <a:spcPct val="70700"/>
              </a:lnSpc>
              <a:spcBef>
                <a:spcPts val="1205"/>
              </a:spcBef>
              <a:buFont typeface="Arial"/>
              <a:buChar char="•"/>
              <a:tabLst>
                <a:tab pos="20701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Bonus: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parameters::model_parameters()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standardized coefficients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1460" y="366267"/>
            <a:ext cx="97434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R</a:t>
            </a:r>
            <a:r>
              <a:rPr spc="-7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random </a:t>
            </a:r>
            <a:r>
              <a:rPr dirty="0"/>
              <a:t>intercepts</a:t>
            </a:r>
            <a:r>
              <a:rPr spc="-75" dirty="0"/>
              <a:t> </a:t>
            </a:r>
            <a:r>
              <a:rPr i="1" dirty="0">
                <a:latin typeface="Georgia"/>
                <a:cs typeface="Georgia"/>
              </a:rPr>
              <a:t>and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i="1" spc="-10" dirty="0">
                <a:latin typeface="Georgia"/>
                <a:cs typeface="Georgia"/>
              </a:rPr>
              <a:t>slopes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1104" y="1935988"/>
            <a:ext cx="8717915" cy="201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marR="1134110" indent="-180340">
              <a:lnSpc>
                <a:spcPct val="125000"/>
              </a:lnSpc>
              <a:spcBef>
                <a:spcPts val="100"/>
              </a:spcBef>
              <a:buFont typeface="Arial"/>
              <a:buChar char="•"/>
              <a:tabLst>
                <a:tab pos="92710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lmer()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specify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our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~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+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(1+pred|pred2)</a:t>
            </a:r>
            <a:endParaRPr sz="2800">
              <a:latin typeface="Georgia"/>
              <a:cs typeface="Georgia"/>
            </a:endParaRPr>
          </a:p>
          <a:p>
            <a:pPr marL="192405" marR="5080" indent="-180340">
              <a:lnSpc>
                <a:spcPts val="3100"/>
              </a:lnSpc>
              <a:spcBef>
                <a:spcPts val="116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Telling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expect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slope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vary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effect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(pred)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pred2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26112" y="6552692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15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192532"/>
            <a:ext cx="87198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01495" algn="l"/>
              </a:tabLst>
            </a:pPr>
            <a:r>
              <a:rPr dirty="0"/>
              <a:t>Run</a:t>
            </a:r>
            <a:r>
              <a:rPr spc="-95" dirty="0"/>
              <a:t> </a:t>
            </a:r>
            <a:r>
              <a:rPr spc="-50" dirty="0"/>
              <a:t>a</a:t>
            </a:r>
            <a:r>
              <a:rPr dirty="0"/>
              <a:t>	mixed</a:t>
            </a:r>
            <a:r>
              <a:rPr spc="-35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random </a:t>
            </a:r>
            <a:r>
              <a:rPr dirty="0"/>
              <a:t>intercepts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slopes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122" y="1536700"/>
            <a:ext cx="11339830" cy="38690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5740" marR="110489" indent="-18097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vocal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frequency</a:t>
            </a:r>
            <a:r>
              <a:rPr sz="2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attitude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i="1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gender</a:t>
            </a:r>
            <a:r>
              <a:rPr sz="2800" i="1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while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allowing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subject</a:t>
            </a:r>
            <a:r>
              <a:rPr sz="2800" i="1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scenario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r>
              <a:rPr sz="2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based</a:t>
            </a:r>
            <a:r>
              <a:rPr sz="2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attitude</a:t>
            </a:r>
            <a:endParaRPr sz="2800">
              <a:latin typeface="Georgia"/>
              <a:cs typeface="Georgia"/>
            </a:endParaRPr>
          </a:p>
          <a:p>
            <a:pPr marL="206375">
              <a:lnSpc>
                <a:spcPct val="100000"/>
              </a:lnSpc>
              <a:spcBef>
                <a:spcPts val="905"/>
              </a:spcBef>
            </a:pPr>
            <a:r>
              <a:rPr sz="26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600" spc="-185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Remember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equation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(1+pred|pred2)</a:t>
            </a:r>
            <a:endParaRPr sz="2600">
              <a:latin typeface="Georgia"/>
              <a:cs typeface="Georgia"/>
            </a:endParaRPr>
          </a:p>
          <a:p>
            <a:pPr marL="205740" indent="-18034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50" baseline="23391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50" spc="217" baseline="23391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performance()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endParaRPr sz="2800">
              <a:latin typeface="Georgia"/>
              <a:cs typeface="Georgia"/>
            </a:endParaRPr>
          </a:p>
          <a:p>
            <a:pPr marL="2057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coef(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yourmodelhere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)</a:t>
            </a:r>
            <a:endParaRPr sz="2800">
              <a:latin typeface="Georgia"/>
              <a:cs typeface="Georgia"/>
            </a:endParaRPr>
          </a:p>
          <a:p>
            <a:pPr marL="2057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205740" indent="-180340">
              <a:lnSpc>
                <a:spcPct val="100000"/>
              </a:lnSpc>
              <a:spcBef>
                <a:spcPts val="845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output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77831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Should</a:t>
            </a:r>
            <a:r>
              <a:rPr spc="-6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fixed</a:t>
            </a:r>
            <a:r>
              <a:rPr spc="-60" dirty="0"/>
              <a:t> </a:t>
            </a:r>
            <a:r>
              <a:rPr dirty="0"/>
              <a:t>or</a:t>
            </a:r>
            <a:r>
              <a:rPr spc="-60" dirty="0"/>
              <a:t> </a:t>
            </a:r>
            <a:r>
              <a:rPr spc="-10" dirty="0"/>
              <a:t>random?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ct val="100000"/>
              </a:lnSpc>
            </a:pPr>
            <a:r>
              <a:rPr spc="-25"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517" y="1013750"/>
            <a:ext cx="11323320" cy="51530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192405" algn="l"/>
              </a:tabLst>
            </a:pP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Rules</a:t>
            </a:r>
            <a:r>
              <a:rPr sz="3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3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thumb</a:t>
            </a:r>
            <a:r>
              <a:rPr sz="3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3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3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3200">
              <a:latin typeface="Georgia"/>
              <a:cs typeface="Georgia"/>
            </a:endParaRPr>
          </a:p>
          <a:p>
            <a:pPr marL="372745" marR="965835" lvl="1" indent="-179705">
              <a:lnSpc>
                <a:spcPts val="3100"/>
              </a:lnSpc>
              <a:spcBef>
                <a:spcPts val="1200"/>
              </a:spcBef>
              <a:buFont typeface="Arial"/>
              <a:buChar char="-"/>
              <a:tabLst>
                <a:tab pos="37465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‘control’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(subject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ID,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school,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observation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number,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teamID,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etc.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)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775"/>
              </a:spcBef>
              <a:buFont typeface="Arial"/>
              <a:buChar char="-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Only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interesting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test</a:t>
            </a:r>
            <a:endParaRPr sz="28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193675" algn="l"/>
              </a:tabLst>
            </a:pP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Maximal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3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3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step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down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(to</a:t>
            </a:r>
            <a:r>
              <a:rPr sz="30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reduce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Type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1</a:t>
            </a:r>
            <a:r>
              <a:rPr sz="3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error</a:t>
            </a:r>
            <a:r>
              <a:rPr sz="3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spc="-10" dirty="0">
                <a:solidFill>
                  <a:srgbClr val="001158"/>
                </a:solidFill>
                <a:latin typeface="Georgia"/>
                <a:cs typeface="Georgia"/>
              </a:rPr>
              <a:t>rate)</a:t>
            </a:r>
            <a:endParaRPr sz="30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800"/>
              </a:spcBef>
              <a:buFont typeface="Arial"/>
              <a:buChar char="-"/>
              <a:tabLst>
                <a:tab pos="373380" algn="l"/>
                <a:tab pos="802132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Maximal</a:t>
            </a:r>
            <a:r>
              <a:rPr sz="28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possible</a:t>
            </a:r>
            <a:r>
              <a:rPr sz="28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	if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possible</a:t>
            </a:r>
            <a:endParaRPr sz="2800">
              <a:latin typeface="Georgia"/>
              <a:cs typeface="Georgia"/>
            </a:endParaRPr>
          </a:p>
          <a:p>
            <a:pPr marL="373380" marR="5080" lvl="1" indent="-179705">
              <a:lnSpc>
                <a:spcPts val="3000"/>
              </a:lnSpc>
              <a:spcBef>
                <a:spcPts val="1335"/>
              </a:spcBef>
              <a:buFont typeface="Arial"/>
              <a:buChar char="-"/>
              <a:tabLst>
                <a:tab pos="37465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See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also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examples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here: 	</a:t>
            </a: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http://www.alexanderdemos.org/Mixed7.html#1_random_items_(st</a:t>
            </a:r>
            <a:r>
              <a:rPr sz="2800" u="none" spc="-10" dirty="0">
                <a:solidFill>
                  <a:srgbClr val="0033CC"/>
                </a:solidFill>
                <a:latin typeface="Georgia"/>
                <a:cs typeface="Georgia"/>
              </a:rPr>
              <a:t> 	</a:t>
            </a:r>
            <a:r>
              <a:rPr sz="2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</a:rPr>
              <a:t>imulus)</a:t>
            </a:r>
            <a:endParaRPr sz="2800">
              <a:latin typeface="Georgia"/>
              <a:cs typeface="Georgia"/>
            </a:endParaRPr>
          </a:p>
          <a:p>
            <a:pPr marL="12700" marR="283210">
              <a:lnSpc>
                <a:spcPts val="1900"/>
              </a:lnSpc>
              <a:spcBef>
                <a:spcPts val="1290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Barr,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Levy,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R.,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Scheepers,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C.,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Tily,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(2013).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structure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confirmatory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hypothesis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testing: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Keep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it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maximal.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Journal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memory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language,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68(3),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255-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278.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344042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Assumptions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ct val="100000"/>
              </a:lnSpc>
            </a:pPr>
            <a:r>
              <a:rPr spc="-25" dirty="0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071575"/>
            <a:ext cx="11133455" cy="452564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192405" algn="l"/>
              </a:tabLst>
            </a:pP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Linearity</a:t>
            </a:r>
            <a:r>
              <a:rPr sz="3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3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homoscedasticity</a:t>
            </a:r>
            <a:r>
              <a:rPr sz="3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32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32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32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2405" algn="l"/>
              </a:tabLst>
            </a:pP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Normality</a:t>
            </a:r>
            <a:r>
              <a:rPr sz="3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3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residuals</a:t>
            </a:r>
            <a:endParaRPr sz="32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192405" algn="l"/>
              </a:tabLst>
            </a:pP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Multicollinearity</a:t>
            </a:r>
            <a:endParaRPr sz="32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192405" algn="l"/>
              </a:tabLst>
            </a:pP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Influential</a:t>
            </a:r>
            <a:r>
              <a:rPr sz="3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3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points</a:t>
            </a:r>
            <a:endParaRPr sz="32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850"/>
              </a:spcBef>
              <a:buFont typeface="Arial"/>
              <a:buChar char="-"/>
              <a:tabLst>
                <a:tab pos="374015" algn="l"/>
              </a:tabLst>
            </a:pP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cf.</a:t>
            </a:r>
            <a:r>
              <a:rPr sz="30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i="1" dirty="0">
                <a:solidFill>
                  <a:srgbClr val="001158"/>
                </a:solidFill>
                <a:latin typeface="Georgia"/>
                <a:cs typeface="Georgia"/>
              </a:rPr>
              <a:t>leverage</a:t>
            </a:r>
            <a:r>
              <a:rPr sz="3000" i="1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30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i="1" dirty="0">
                <a:solidFill>
                  <a:srgbClr val="001158"/>
                </a:solidFill>
                <a:latin typeface="Georgia"/>
                <a:cs typeface="Georgia"/>
              </a:rPr>
              <a:t>influence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30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http://omaymas.github.io/InfluenceAnalysis/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192405" algn="l"/>
              </a:tabLst>
            </a:pPr>
            <a:r>
              <a:rPr sz="3200" dirty="0">
                <a:solidFill>
                  <a:srgbClr val="001158"/>
                </a:solidFill>
                <a:latin typeface="Georgia"/>
                <a:cs typeface="Georgia"/>
              </a:rPr>
              <a:t>Independence</a:t>
            </a:r>
            <a:r>
              <a:rPr sz="3200" spc="-1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001158"/>
                </a:solidFill>
                <a:latin typeface="Georgia"/>
                <a:cs typeface="Georgia"/>
              </a:rPr>
              <a:t>(What?)</a:t>
            </a:r>
            <a:endParaRPr sz="3200">
              <a:latin typeface="Georgia"/>
              <a:cs typeface="Georgia"/>
            </a:endParaRPr>
          </a:p>
          <a:p>
            <a:pPr marL="374015" marR="528320" lvl="1" indent="-180975">
              <a:lnSpc>
                <a:spcPts val="3190"/>
              </a:lnSpc>
              <a:spcBef>
                <a:spcPts val="1320"/>
              </a:spcBef>
              <a:buFont typeface="Arial"/>
              <a:buChar char="-"/>
              <a:tabLst>
                <a:tab pos="374015" algn="l"/>
              </a:tabLst>
            </a:pP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30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could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accidentally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leave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an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important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dependency</a:t>
            </a:r>
            <a:r>
              <a:rPr sz="3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spc="-25" dirty="0">
                <a:solidFill>
                  <a:srgbClr val="001158"/>
                </a:solidFill>
                <a:latin typeface="Georgia"/>
                <a:cs typeface="Georgia"/>
              </a:rPr>
              <a:t>in </a:t>
            </a:r>
            <a:r>
              <a:rPr sz="30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30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3000" spc="-10" dirty="0">
                <a:solidFill>
                  <a:srgbClr val="001158"/>
                </a:solidFill>
                <a:latin typeface="Georgia"/>
                <a:cs typeface="Georgia"/>
              </a:rPr>
              <a:t>model.</a:t>
            </a:r>
            <a:endParaRPr sz="3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Check</a:t>
            </a:r>
            <a:r>
              <a:rPr spc="-80" dirty="0"/>
              <a:t> </a:t>
            </a:r>
            <a:r>
              <a:rPr dirty="0"/>
              <a:t>your</a:t>
            </a:r>
            <a:r>
              <a:rPr spc="-80" dirty="0"/>
              <a:t> </a:t>
            </a:r>
            <a:r>
              <a:rPr dirty="0"/>
              <a:t>assumptions</a:t>
            </a:r>
            <a:r>
              <a:rPr spc="-7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mod.3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430019"/>
            <a:ext cx="11141075" cy="32524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Linearity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homoscedasticity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Normality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residuals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Influential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points</a:t>
            </a:r>
            <a:endParaRPr sz="2800">
              <a:latin typeface="Georgia"/>
              <a:cs typeface="Georgia"/>
            </a:endParaRPr>
          </a:p>
          <a:p>
            <a:pPr marL="372745" marR="53975" lvl="1" indent="-179705">
              <a:lnSpc>
                <a:spcPts val="2620"/>
              </a:lnSpc>
              <a:spcBef>
                <a:spcPts val="1230"/>
              </a:spcBef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Try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plot(hatvalues(mod.3))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there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cut-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off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would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exclude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potentially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influential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400">
              <a:latin typeface="Georgia"/>
              <a:cs typeface="Georgia"/>
            </a:endParaRPr>
          </a:p>
          <a:p>
            <a:pPr marL="372745" marR="5080" lvl="1" indent="-179705">
              <a:lnSpc>
                <a:spcPts val="2590"/>
              </a:lnSpc>
              <a:spcBef>
                <a:spcPts val="1195"/>
              </a:spcBef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Figure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way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find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that/those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dataset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(in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new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object)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and 	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re-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without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these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points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2" y="290067"/>
            <a:ext cx="108165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50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write</a:t>
            </a:r>
            <a:r>
              <a:rPr spc="-50" dirty="0"/>
              <a:t> </a:t>
            </a:r>
            <a:r>
              <a:rPr dirty="0"/>
              <a:t>ups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mixed</a:t>
            </a:r>
            <a:r>
              <a:rPr spc="-50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ct val="10000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1962" y="1203452"/>
            <a:ext cx="11324590" cy="397700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93675" marR="257175" indent="-181610">
              <a:lnSpc>
                <a:spcPts val="1989"/>
              </a:lnSpc>
              <a:spcBef>
                <a:spcPts val="305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Wiltshire,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Euler,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McKinney,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Butner,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(2017).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Changes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Dimensionality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Fractal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Scaling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Suggest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Soft-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Assembled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Dynamics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Human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EEG.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Frontiers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physiology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8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633.</a:t>
            </a:r>
            <a:endParaRPr sz="1800" dirty="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910"/>
              </a:spcBef>
              <a:buClr>
                <a:srgbClr val="001158"/>
              </a:buClr>
              <a:buFont typeface="Arial"/>
              <a:buChar char="-"/>
              <a:tabLst>
                <a:tab pos="374650" algn="l"/>
              </a:tabLst>
            </a:pPr>
            <a:r>
              <a:rPr sz="16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https://www.ncbi.nlm.nih.gov/pmc/articles/PMC5585189/pdf/fphys-</a:t>
            </a:r>
            <a:r>
              <a:rPr sz="1600" u="sng" spc="-2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08-</a:t>
            </a:r>
            <a:r>
              <a:rPr sz="16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00633.pdf</a:t>
            </a:r>
            <a:endParaRPr sz="1600" dirty="0">
              <a:latin typeface="Georgia"/>
              <a:cs typeface="Georgia"/>
            </a:endParaRPr>
          </a:p>
          <a:p>
            <a:pPr marL="193675" marR="439420" indent="-181610">
              <a:lnSpc>
                <a:spcPct val="90000"/>
              </a:lnSpc>
              <a:spcBef>
                <a:spcPts val="1190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Paxton,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A.,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Abney,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H.,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Kello,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Dale,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K.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(2014,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January).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Network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multimodal,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multiscale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coordination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dyadic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problem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solving.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Proceedings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Annual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Meeting</a:t>
            </a:r>
            <a:r>
              <a:rPr sz="1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spc="-10" dirty="0">
                <a:solidFill>
                  <a:srgbClr val="001158"/>
                </a:solidFill>
                <a:latin typeface="Georgia"/>
                <a:cs typeface="Georgia"/>
              </a:rPr>
              <a:t>Cognitive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Science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Society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(Vol.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36,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No.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36).</a:t>
            </a:r>
            <a:endParaRPr sz="1800" dirty="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1040"/>
              </a:spcBef>
              <a:buClr>
                <a:srgbClr val="001158"/>
              </a:buClr>
              <a:buFont typeface="Arial"/>
              <a:buChar char="-"/>
              <a:tabLst>
                <a:tab pos="374650" algn="l"/>
              </a:tabLst>
            </a:pPr>
            <a:r>
              <a:rPr sz="16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3"/>
              </a:rPr>
              <a:t>https://cloudfront.escholarship.org/dist/prd/content/qt7xz2z06w/qt7xz2z06w.pdf</a:t>
            </a:r>
            <a:endParaRPr sz="1600" dirty="0">
              <a:latin typeface="Georgia"/>
              <a:cs typeface="Georgia"/>
            </a:endParaRPr>
          </a:p>
          <a:p>
            <a:pPr marL="193675" marR="5080" indent="-181610">
              <a:lnSpc>
                <a:spcPts val="1900"/>
              </a:lnSpc>
              <a:spcBef>
                <a:spcPts val="1280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Baayen,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Davidson,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Bates,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D.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M.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(2008).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Mixed-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modeling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crossed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for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subjects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items.</a:t>
            </a:r>
            <a:r>
              <a:rPr sz="1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Journal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i="1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memory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i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language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59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(4),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390-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412.</a:t>
            </a:r>
            <a:endParaRPr sz="1800" dirty="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1015"/>
              </a:spcBef>
              <a:buClr>
                <a:srgbClr val="001158"/>
              </a:buClr>
              <a:buFont typeface="Arial"/>
              <a:buChar char="-"/>
              <a:tabLst>
                <a:tab pos="374650" algn="l"/>
              </a:tabLst>
            </a:pPr>
            <a:r>
              <a:rPr sz="16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https://www.sciencedirect.com/science/article/pii/S0749596X07001398</a:t>
            </a:r>
            <a:endParaRPr sz="1600" dirty="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Peugh,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J.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(2010).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practical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guide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multilevel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modeling.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Journal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i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school</a:t>
            </a:r>
            <a:r>
              <a:rPr sz="1800" i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psychology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i="1" dirty="0">
                <a:solidFill>
                  <a:srgbClr val="001158"/>
                </a:solidFill>
                <a:latin typeface="Georgia"/>
                <a:cs typeface="Georgia"/>
              </a:rPr>
              <a:t>48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(1),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85-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112.</a:t>
            </a:r>
            <a:endParaRPr sz="1800" dirty="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1040"/>
              </a:spcBef>
              <a:buClr>
                <a:srgbClr val="001158"/>
              </a:buClr>
              <a:buFont typeface="Arial"/>
              <a:buChar char="-"/>
              <a:tabLst>
                <a:tab pos="374650" algn="l"/>
              </a:tabLst>
            </a:pPr>
            <a:r>
              <a:rPr sz="16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5"/>
              </a:rPr>
              <a:t>https://www.sciencedirect.com/science/article/pii/S0022440509000545?via%3Dihub</a:t>
            </a:r>
            <a:endParaRPr sz="1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843" y="329444"/>
            <a:ext cx="1142077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spc="-95" dirty="0"/>
              <a:t> </a:t>
            </a:r>
            <a:r>
              <a:rPr dirty="0"/>
              <a:t>additional</a:t>
            </a:r>
            <a:r>
              <a:rPr spc="-9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ct val="10000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29843" y="1095017"/>
            <a:ext cx="10760075" cy="543353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3675" marR="5080" indent="-180975">
              <a:lnSpc>
                <a:spcPct val="70800"/>
              </a:lnSpc>
              <a:spcBef>
                <a:spcPts val="1010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lang="en-US" u="none" dirty="0">
                <a:solidFill>
                  <a:srgbClr val="222222"/>
                </a:solidFill>
                <a:latin typeface="Arial"/>
                <a:cs typeface="Arial"/>
              </a:rPr>
              <a:t>Meteyard, L., &amp; Davies, R. A. (2020). Best practice guidance for linear mixed-effects models in psychological science. Journal of Memory and Language, 112, 104092.</a:t>
            </a:r>
            <a:endParaRPr lang="en-US" u="none" dirty="0">
              <a:solidFill>
                <a:srgbClr val="222222"/>
              </a:solidFill>
              <a:latin typeface="Arial"/>
              <a:cs typeface="Arial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93675" marR="5080" indent="-180975">
              <a:lnSpc>
                <a:spcPct val="70800"/>
              </a:lnSpc>
              <a:spcBef>
                <a:spcPts val="1010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spc="-10" dirty="0">
                <a:hlinkClick r:id="rId2"/>
              </a:rPr>
              <a:t>https://seantrott.github.io/mixed_models_R/#Why_use_mixed_mode</a:t>
            </a:r>
            <a:r>
              <a:rPr u="none" spc="-10" dirty="0"/>
              <a:t> </a:t>
            </a:r>
            <a:r>
              <a:rPr spc="-25" dirty="0"/>
              <a:t>ls</a:t>
            </a:r>
          </a:p>
          <a:p>
            <a:pPr marL="193675" indent="-180975">
              <a:lnSpc>
                <a:spcPct val="100000"/>
              </a:lnSpc>
              <a:spcBef>
                <a:spcPts val="290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spc="-10" dirty="0">
                <a:hlinkClick r:id="rId3"/>
              </a:rPr>
              <a:t>https://rpsychologist.com/r-guide-</a:t>
            </a:r>
            <a:r>
              <a:rPr spc="-20" dirty="0">
                <a:hlinkClick r:id="rId3"/>
              </a:rPr>
              <a:t>longitudinal-lme-lmer</a:t>
            </a:r>
          </a:p>
          <a:p>
            <a:pPr marL="193675" marR="31115" indent="-180975">
              <a:lnSpc>
                <a:spcPct val="70700"/>
              </a:lnSpc>
              <a:spcBef>
                <a:spcPts val="1175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spc="-10" dirty="0">
                <a:hlinkClick r:id="rId4"/>
              </a:rPr>
              <a:t>http://www.floppybunny.org/robin/web/virtualclassroom/stats/statisti</a:t>
            </a:r>
            <a:r>
              <a:rPr u="none" spc="-10" dirty="0"/>
              <a:t> </a:t>
            </a:r>
            <a:r>
              <a:rPr spc="-10" dirty="0"/>
              <a:t>cs2/articles/mixed_models/Introduction-</a:t>
            </a:r>
            <a:r>
              <a:rPr spc="-20" dirty="0"/>
              <a:t>to-</a:t>
            </a:r>
            <a:r>
              <a:rPr spc="-10" dirty="0"/>
              <a:t>LMER.pdf</a:t>
            </a:r>
          </a:p>
          <a:p>
            <a:pPr marL="193675" marR="238125" indent="-180975">
              <a:lnSpc>
                <a:spcPct val="66900"/>
              </a:lnSpc>
              <a:spcBef>
                <a:spcPts val="1325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spc="-10" dirty="0">
                <a:hlinkClick r:id="rId5"/>
              </a:rPr>
              <a:t>https://freshbiostats.wordpress.com/2013/07/28/mixed-models-</a:t>
            </a:r>
            <a:r>
              <a:rPr spc="-20" dirty="0">
                <a:hlinkClick r:id="rId5"/>
              </a:rPr>
              <a:t>in-</a:t>
            </a:r>
            <a:r>
              <a:rPr spc="-25" dirty="0">
                <a:hlinkClick r:id="rId5"/>
              </a:rPr>
              <a:t>r-</a:t>
            </a:r>
            <a:r>
              <a:rPr spc="-20" dirty="0"/>
              <a:t>lme4-</a:t>
            </a:r>
            <a:r>
              <a:rPr spc="-10" dirty="0"/>
              <a:t>nlme-</a:t>
            </a:r>
            <a:r>
              <a:rPr spc="-20" dirty="0"/>
              <a:t>both/</a:t>
            </a:r>
          </a:p>
          <a:p>
            <a:pPr marL="193675" indent="-180975">
              <a:lnSpc>
                <a:spcPct val="100000"/>
              </a:lnSpc>
              <a:spcBef>
                <a:spcPts val="285"/>
              </a:spcBef>
              <a:buClr>
                <a:srgbClr val="001158"/>
              </a:buClr>
              <a:buFont typeface="Arial"/>
              <a:buChar char="•"/>
              <a:tabLst>
                <a:tab pos="193675" algn="l"/>
              </a:tabLst>
            </a:pPr>
            <a:r>
              <a:rPr spc="-10" dirty="0">
                <a:hlinkClick r:id="rId6"/>
              </a:rPr>
              <a:t>http://davidakenny.net/papers/k&amp;h/MLM_R.pdf</a:t>
            </a:r>
          </a:p>
          <a:p>
            <a:pPr marL="193675" indent="-18097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93675" algn="l"/>
              </a:tabLst>
            </a:pPr>
            <a:r>
              <a:rPr u="none" dirty="0">
                <a:solidFill>
                  <a:srgbClr val="001158"/>
                </a:solidFill>
              </a:rPr>
              <a:t>Maximum</a:t>
            </a:r>
            <a:r>
              <a:rPr u="none" spc="-100" dirty="0">
                <a:solidFill>
                  <a:srgbClr val="001158"/>
                </a:solidFill>
              </a:rPr>
              <a:t> </a:t>
            </a:r>
            <a:r>
              <a:rPr u="none" dirty="0">
                <a:solidFill>
                  <a:srgbClr val="001158"/>
                </a:solidFill>
              </a:rPr>
              <a:t>Likelihood</a:t>
            </a:r>
            <a:r>
              <a:rPr u="none" spc="-95" dirty="0">
                <a:solidFill>
                  <a:srgbClr val="001158"/>
                </a:solidFill>
              </a:rPr>
              <a:t> </a:t>
            </a:r>
            <a:r>
              <a:rPr u="none" dirty="0">
                <a:solidFill>
                  <a:srgbClr val="001158"/>
                </a:solidFill>
              </a:rPr>
              <a:t>Estimation:</a:t>
            </a:r>
            <a:r>
              <a:rPr u="none" spc="-90" dirty="0">
                <a:solidFill>
                  <a:srgbClr val="001158"/>
                </a:solidFill>
              </a:rPr>
              <a:t> </a:t>
            </a:r>
            <a:r>
              <a:rPr spc="-10" dirty="0">
                <a:hlinkClick r:id="rId7"/>
              </a:rPr>
              <a:t>https://youtu.be/XepXtl9YKwc</a:t>
            </a:r>
          </a:p>
          <a:p>
            <a:pPr marL="193675" indent="-180975">
              <a:lnSpc>
                <a:spcPts val="2665"/>
              </a:lnSpc>
              <a:spcBef>
                <a:spcPts val="290"/>
              </a:spcBef>
              <a:buClr>
                <a:srgbClr val="001158"/>
              </a:buClr>
              <a:buChar char="•"/>
              <a:tabLst>
                <a:tab pos="193675" algn="l"/>
              </a:tabLst>
            </a:pP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McNeish,</a:t>
            </a:r>
            <a:r>
              <a:rPr u="none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D.,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Stapleton,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L.</a:t>
            </a:r>
            <a:r>
              <a:rPr u="none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M.,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&amp;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Silverman,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R.</a:t>
            </a:r>
            <a:r>
              <a:rPr u="none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D.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(2017).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On</a:t>
            </a:r>
            <a:r>
              <a:rPr u="none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spc="-25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</a:p>
          <a:p>
            <a:pPr marL="193040" marR="763270">
              <a:lnSpc>
                <a:spcPct val="70000"/>
              </a:lnSpc>
              <a:spcBef>
                <a:spcPts val="480"/>
              </a:spcBef>
            </a:pP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unnecessary</a:t>
            </a:r>
            <a:r>
              <a:rPr u="none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ubiquity</a:t>
            </a:r>
            <a:r>
              <a:rPr u="none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u="none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hierarchical</a:t>
            </a:r>
            <a:r>
              <a:rPr u="none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linear</a:t>
            </a:r>
            <a:r>
              <a:rPr u="none" spc="-9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modeling.</a:t>
            </a:r>
            <a:r>
              <a:rPr u="none" spc="-8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i="1" u="none" spc="-10" dirty="0">
                <a:solidFill>
                  <a:srgbClr val="222222"/>
                </a:solidFill>
                <a:latin typeface="Arial"/>
                <a:cs typeface="Arial"/>
              </a:rPr>
              <a:t>Psychological </a:t>
            </a:r>
            <a:r>
              <a:rPr i="1" u="none" dirty="0">
                <a:solidFill>
                  <a:srgbClr val="222222"/>
                </a:solidFill>
                <a:latin typeface="Arial"/>
                <a:cs typeface="Arial"/>
              </a:rPr>
              <a:t>methods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,</a:t>
            </a:r>
            <a:r>
              <a:rPr u="none" spc="-8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i="1" u="none" dirty="0">
                <a:solidFill>
                  <a:srgbClr val="222222"/>
                </a:solidFill>
                <a:latin typeface="Arial"/>
                <a:cs typeface="Arial"/>
              </a:rPr>
              <a:t>22</a:t>
            </a:r>
            <a:r>
              <a:rPr u="none" dirty="0">
                <a:solidFill>
                  <a:srgbClr val="222222"/>
                </a:solidFill>
                <a:latin typeface="Arial"/>
                <a:cs typeface="Arial"/>
              </a:rPr>
              <a:t>(1),</a:t>
            </a:r>
            <a:r>
              <a:rPr u="none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u="none" spc="-20" dirty="0">
                <a:solidFill>
                  <a:srgbClr val="222222"/>
                </a:solidFill>
                <a:latin typeface="Arial"/>
                <a:cs typeface="Arial"/>
              </a:rPr>
              <a:t>114.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Preparing</a:t>
            </a:r>
            <a:r>
              <a:rPr spc="-8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Module</a:t>
            </a:r>
            <a:r>
              <a:rPr spc="-80" dirty="0"/>
              <a:t> </a:t>
            </a:r>
            <a:r>
              <a:rPr dirty="0"/>
              <a:t>12:</a:t>
            </a:r>
            <a:r>
              <a:rPr spc="-75" dirty="0"/>
              <a:t> </a:t>
            </a:r>
            <a:r>
              <a:rPr dirty="0"/>
              <a:t>Growth</a:t>
            </a:r>
            <a:r>
              <a:rPr spc="-80" dirty="0"/>
              <a:t> </a:t>
            </a:r>
            <a:r>
              <a:rPr spc="-10" dirty="0"/>
              <a:t>Curve 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849" y="1864017"/>
            <a:ext cx="7291705" cy="974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marR="5080" indent="-362585">
              <a:lnSpc>
                <a:spcPct val="111100"/>
              </a:lnSpc>
              <a:spcBef>
                <a:spcPts val="100"/>
              </a:spcBef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1.</a:t>
            </a:r>
            <a:r>
              <a:rPr sz="2800" spc="1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Read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excerpts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Mirman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-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Growth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Curve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Visualization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2" y="4849737"/>
            <a:ext cx="5027784" cy="1275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" y="1"/>
            <a:ext cx="12198350" cy="4522470"/>
          </a:xfrm>
          <a:custGeom>
            <a:avLst/>
            <a:gdLst/>
            <a:ahLst/>
            <a:cxnLst/>
            <a:rect l="l" t="t" r="r" b="b"/>
            <a:pathLst>
              <a:path w="12198350" h="4522470">
                <a:moveTo>
                  <a:pt x="12198350" y="0"/>
                </a:moveTo>
                <a:lnTo>
                  <a:pt x="0" y="0"/>
                </a:lnTo>
                <a:lnTo>
                  <a:pt x="0" y="4521939"/>
                </a:lnTo>
                <a:lnTo>
                  <a:pt x="12198350" y="4521939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77962" y="1020571"/>
            <a:ext cx="9708515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75"/>
              </a:spcBef>
            </a:pPr>
            <a:r>
              <a:rPr sz="5400" dirty="0">
                <a:solidFill>
                  <a:srgbClr val="FFFFFF"/>
                </a:solidFill>
              </a:rPr>
              <a:t>Thanks!</a:t>
            </a:r>
            <a:r>
              <a:rPr sz="5400" spc="-6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See</a:t>
            </a:r>
            <a:r>
              <a:rPr sz="5400" spc="-7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you</a:t>
            </a:r>
            <a:r>
              <a:rPr sz="5400" spc="-7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next</a:t>
            </a:r>
            <a:r>
              <a:rPr sz="5400" spc="-65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week! Questions?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6346875" y="5427979"/>
            <a:ext cx="4555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Material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partially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from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Bodo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Winter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Tutorial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1953</Words>
  <Application>Microsoft Office PowerPoint</Application>
  <PresentationFormat>Custom</PresentationFormat>
  <Paragraphs>198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Georgia</vt:lpstr>
      <vt:lpstr>Office Theme</vt:lpstr>
      <vt:lpstr>Statistics for CSAI II</vt:lpstr>
      <vt:lpstr>Modules</vt:lpstr>
      <vt:lpstr>Outline</vt:lpstr>
      <vt:lpstr>Multiple and Mixed Model Regression</vt:lpstr>
      <vt:lpstr>Data Types</vt:lpstr>
      <vt:lpstr>Why should we use this?</vt:lpstr>
      <vt:lpstr>Fixed effects vs random effects</vt:lpstr>
      <vt:lpstr>PowerPoint Presentation</vt:lpstr>
      <vt:lpstr>Pros and cons of mixed models</vt:lpstr>
      <vt:lpstr>Changes to R2 in mixed effects modeling</vt:lpstr>
      <vt:lpstr>Running the model in R with random intercepts</vt:lpstr>
      <vt:lpstr>Run a mixed model with random intercepts</vt:lpstr>
      <vt:lpstr>Interpreting Random Effects and Intraclass Correlation</vt:lpstr>
      <vt:lpstr>Comparing Models</vt:lpstr>
      <vt:lpstr>Repeat the same mixed model with random intercepts and new predictor</vt:lpstr>
      <vt:lpstr>Running the model in R with random intercepts and slopes</vt:lpstr>
      <vt:lpstr>Run a mixed model with random intercepts and slopes</vt:lpstr>
      <vt:lpstr>Should it be fixed or random?</vt:lpstr>
      <vt:lpstr>Assumptions</vt:lpstr>
      <vt:lpstr>Check your assumptions for mod.3</vt:lpstr>
      <vt:lpstr>Some example write ups of mixed models</vt:lpstr>
      <vt:lpstr>Some additional resources</vt:lpstr>
      <vt:lpstr>Preparing for Module 12: Growth Curve Modeling</vt:lpstr>
      <vt:lpstr>Thanks! See you next week!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Travis Wiltshire</cp:lastModifiedBy>
  <cp:revision>1</cp:revision>
  <dcterms:created xsi:type="dcterms:W3CDTF">2025-11-11T07:27:55Z</dcterms:created>
  <dcterms:modified xsi:type="dcterms:W3CDTF">2025-11-11T07:31:47Z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2023-11-13T00:00:00Z</vt:filetime>
  </property>
  <property fmtid="{D5CDD505-2E9C-101B-9397-08002B2CF9AE}" pid="3" name="LastSaved">
    <vt:filetime>2025-11-11T00:00:00Z</vt:filetime>
  </property>
  <property fmtid="{D5CDD505-2E9C-101B-9397-08002B2CF9AE}" pid="4" name="Producer">
    <vt:lpwstr>macOS Version 13.5.2 (Build 22G91) Quartz PDFContext</vt:lpwstr>
  </property>
</Properties>
</file>