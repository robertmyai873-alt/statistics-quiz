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8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125980"/>
            <a:ext cx="1037399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0480"/>
            <a:ext cx="854329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53339"/>
            <a:ext cx="12198350" cy="405130"/>
          </a:xfrm>
          <a:custGeom>
            <a:avLst/>
            <a:gdLst/>
            <a:ahLst/>
            <a:cxnLst/>
            <a:rect l="l" t="t" r="r" b="b"/>
            <a:pathLst>
              <a:path w="12198350" h="405129">
                <a:moveTo>
                  <a:pt x="12198350" y="0"/>
                </a:moveTo>
                <a:lnTo>
                  <a:pt x="0" y="0"/>
                </a:lnTo>
                <a:lnTo>
                  <a:pt x="0" y="404660"/>
                </a:lnTo>
                <a:lnTo>
                  <a:pt x="12198350" y="404660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962" y="290067"/>
            <a:ext cx="113404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9185" y="1651000"/>
            <a:ext cx="6256655" cy="4265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95949" y="6565342"/>
            <a:ext cx="240665" cy="198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yjus.com/maths/polynomial-functions/" TargetMode="Externa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thejuniverse.org/PUBLIC/LinearAlgebra/LOLA/dotProd/proj.html" TargetMode="External"/><Relationship Id="rId2" Type="http://schemas.openxmlformats.org/officeDocument/2006/relationships/hyperlink" Target="https://www.youtube.com/watch?v=lrSQH_69MT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s://www.jstor.org/stable/1403204?seq=1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arxiv.org/pdf/1308.5499.pdf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316" y="4880691"/>
            <a:ext cx="5027782" cy="127579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8350" cy="4522470"/>
            <a:chOff x="0" y="0"/>
            <a:chExt cx="12198350" cy="4522470"/>
          </a:xfrm>
        </p:grpSpPr>
        <p:sp>
          <p:nvSpPr>
            <p:cNvPr id="4" name="object 4"/>
            <p:cNvSpPr/>
            <p:nvPr/>
          </p:nvSpPr>
          <p:spPr>
            <a:xfrm>
              <a:off x="0" y="3719334"/>
              <a:ext cx="12198350" cy="802640"/>
            </a:xfrm>
            <a:custGeom>
              <a:avLst/>
              <a:gdLst/>
              <a:ahLst/>
              <a:cxnLst/>
              <a:rect l="l" t="t" r="r" b="b"/>
              <a:pathLst>
                <a:path w="12198350" h="802639">
                  <a:moveTo>
                    <a:pt x="0" y="802601"/>
                  </a:moveTo>
                  <a:lnTo>
                    <a:pt x="12198350" y="802601"/>
                  </a:lnTo>
                  <a:lnTo>
                    <a:pt x="12198350" y="0"/>
                  </a:lnTo>
                  <a:lnTo>
                    <a:pt x="0" y="0"/>
                  </a:lnTo>
                  <a:lnTo>
                    <a:pt x="0" y="802601"/>
                  </a:lnTo>
                  <a:close/>
                </a:path>
              </a:pathLst>
            </a:custGeom>
            <a:solidFill>
              <a:srgbClr val="859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8350" cy="3719829"/>
            </a:xfrm>
            <a:custGeom>
              <a:avLst/>
              <a:gdLst/>
              <a:ahLst/>
              <a:cxnLst/>
              <a:rect l="l" t="t" r="r" b="b"/>
              <a:pathLst>
                <a:path w="12198350" h="3719829">
                  <a:moveTo>
                    <a:pt x="12198350" y="0"/>
                  </a:moveTo>
                  <a:lnTo>
                    <a:pt x="0" y="0"/>
                  </a:lnTo>
                  <a:lnTo>
                    <a:pt x="0" y="3719334"/>
                  </a:lnTo>
                  <a:lnTo>
                    <a:pt x="12198350" y="3719334"/>
                  </a:lnTo>
                  <a:lnTo>
                    <a:pt x="12198350" y="0"/>
                  </a:lnTo>
                  <a:close/>
                </a:path>
              </a:pathLst>
            </a:custGeom>
            <a:solidFill>
              <a:srgbClr val="0011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77962" y="715771"/>
            <a:ext cx="9148445" cy="228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</a:rPr>
              <a:t>Statistics</a:t>
            </a:r>
            <a:r>
              <a:rPr sz="5400" spc="-10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for</a:t>
            </a:r>
            <a:r>
              <a:rPr sz="5400" spc="-8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CSAI</a:t>
            </a:r>
            <a:r>
              <a:rPr sz="5400" spc="-90" dirty="0">
                <a:solidFill>
                  <a:srgbClr val="FFFFFF"/>
                </a:solidFill>
              </a:rPr>
              <a:t> </a:t>
            </a:r>
            <a:r>
              <a:rPr sz="5400" spc="-25" dirty="0">
                <a:solidFill>
                  <a:srgbClr val="FFFFFF"/>
                </a:solidFill>
              </a:rPr>
              <a:t>II</a:t>
            </a:r>
            <a:endParaRPr sz="5400"/>
          </a:p>
          <a:p>
            <a:pPr marL="2613025" marR="5080" indent="-1686560">
              <a:lnSpc>
                <a:spcPct val="100000"/>
              </a:lnSpc>
              <a:spcBef>
                <a:spcPts val="25"/>
              </a:spcBef>
            </a:pPr>
            <a:r>
              <a:rPr sz="5400" dirty="0">
                <a:solidFill>
                  <a:srgbClr val="FFFFFF"/>
                </a:solidFill>
              </a:rPr>
              <a:t>10</a:t>
            </a:r>
            <a:r>
              <a:rPr sz="5400" spc="-8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–</a:t>
            </a:r>
            <a:r>
              <a:rPr sz="5400" spc="-8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Multiple</a:t>
            </a:r>
            <a:r>
              <a:rPr sz="4000" spc="-7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Regression</a:t>
            </a:r>
            <a:r>
              <a:rPr sz="4000" spc="-65" dirty="0">
                <a:solidFill>
                  <a:srgbClr val="FFFFFF"/>
                </a:solidFill>
              </a:rPr>
              <a:t> </a:t>
            </a:r>
            <a:r>
              <a:rPr sz="4000" spc="-20" dirty="0">
                <a:solidFill>
                  <a:srgbClr val="FFFFFF"/>
                </a:solidFill>
              </a:rPr>
              <a:t>with </a:t>
            </a:r>
            <a:r>
              <a:rPr sz="4000" spc="-10" dirty="0">
                <a:solidFill>
                  <a:srgbClr val="FFFFFF"/>
                </a:solidFill>
              </a:rPr>
              <a:t>Polynomials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>
              <a:lnSpc>
                <a:spcPct val="10000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1477962" y="3903979"/>
            <a:ext cx="2686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Travis</a:t>
            </a:r>
            <a:r>
              <a:rPr sz="2400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J.</a:t>
            </a:r>
            <a:r>
              <a:rPr sz="2400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Wiltshire</a:t>
            </a:r>
            <a:r>
              <a:rPr sz="24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Georgia"/>
                <a:cs typeface="Georgia"/>
              </a:rPr>
              <a:t>|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Outline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1686435" y="6565342"/>
            <a:ext cx="11112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2849" y="1145324"/>
            <a:ext cx="9056370" cy="519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Introduction</a:t>
            </a:r>
            <a:r>
              <a:rPr sz="2800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9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Probability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Sampling</a:t>
            </a:r>
            <a:r>
              <a:rPr sz="2800" spc="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Theory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Revisiting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Hypothesis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Testing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&amp;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</a:t>
            </a:r>
            <a:r>
              <a:rPr sz="2800" spc="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More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Centering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Checking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Interactions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Categories</a:t>
            </a:r>
            <a:endParaRPr sz="2800">
              <a:latin typeface="Georgia"/>
              <a:cs typeface="Georgia"/>
            </a:endParaRPr>
          </a:p>
          <a:p>
            <a:pPr marL="563880" indent="-551180">
              <a:lnSpc>
                <a:spcPct val="100000"/>
              </a:lnSpc>
              <a:buFont typeface="Georgia"/>
              <a:buAutoNum type="arabicPeriod"/>
              <a:tabLst>
                <a:tab pos="563880" algn="l"/>
              </a:tabLst>
            </a:pP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i="1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i="1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i="1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2800">
              <a:latin typeface="Georgia"/>
              <a:cs typeface="Georgia"/>
            </a:endParaRPr>
          </a:p>
          <a:p>
            <a:pPr marL="564515" indent="-551815">
              <a:lnSpc>
                <a:spcPct val="100000"/>
              </a:lnSpc>
              <a:buAutoNum type="arabicPeriod"/>
              <a:tabLst>
                <a:tab pos="5645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Mixed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endParaRPr sz="2800">
              <a:latin typeface="Georgia"/>
              <a:cs typeface="Georgia"/>
            </a:endParaRPr>
          </a:p>
          <a:p>
            <a:pPr marL="563880" indent="-55118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5638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Growth</a:t>
            </a:r>
            <a:r>
              <a:rPr sz="2800" spc="-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Curve</a:t>
            </a:r>
            <a:r>
              <a:rPr sz="2800" spc="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Analysis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Outline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1686435" y="6565342"/>
            <a:ext cx="11112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963" y="1030732"/>
            <a:ext cx="4194810" cy="236347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Polynomial</a:t>
            </a:r>
            <a:r>
              <a:rPr sz="2800" spc="-9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When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use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it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How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do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it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Orthogonal</a:t>
            </a:r>
            <a:r>
              <a:rPr sz="2800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2296"/>
            <a:ext cx="12198350" cy="6776084"/>
            <a:chOff x="0" y="82296"/>
            <a:chExt cx="12198350" cy="677608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8600" y="82296"/>
              <a:ext cx="3810000" cy="320649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3758" y="107454"/>
              <a:ext cx="3704173" cy="31024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8600" y="3249167"/>
              <a:ext cx="3816096" cy="32064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3758" y="3275164"/>
              <a:ext cx="3711816" cy="310241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1962" y="213867"/>
            <a:ext cx="55956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Refresher:</a:t>
            </a:r>
            <a:r>
              <a:rPr sz="4000" spc="-125" dirty="0"/>
              <a:t> </a:t>
            </a:r>
            <a:r>
              <a:rPr sz="4000" dirty="0"/>
              <a:t>Types</a:t>
            </a:r>
            <a:r>
              <a:rPr sz="4000" spc="-125" dirty="0"/>
              <a:t> </a:t>
            </a:r>
            <a:r>
              <a:rPr sz="4000" spc="-25" dirty="0"/>
              <a:t>of </a:t>
            </a:r>
            <a:r>
              <a:rPr sz="4000" dirty="0"/>
              <a:t>polynomial</a:t>
            </a:r>
            <a:r>
              <a:rPr sz="4000" spc="-120" dirty="0"/>
              <a:t> </a:t>
            </a:r>
            <a:r>
              <a:rPr sz="4000" spc="-10" dirty="0"/>
              <a:t>functions</a:t>
            </a:r>
            <a:endParaRPr sz="40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indent="-18034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5740" algn="l"/>
              </a:tabLst>
            </a:pPr>
            <a:r>
              <a:rPr dirty="0"/>
              <a:t>Constant</a:t>
            </a:r>
            <a:r>
              <a:rPr spc="-85" dirty="0"/>
              <a:t> </a:t>
            </a:r>
            <a:r>
              <a:rPr dirty="0"/>
              <a:t>Polynomial</a:t>
            </a:r>
            <a:r>
              <a:rPr spc="-85" dirty="0"/>
              <a:t> </a:t>
            </a:r>
            <a:r>
              <a:rPr spc="-10" dirty="0"/>
              <a:t>Function:</a:t>
            </a:r>
          </a:p>
          <a:p>
            <a:pPr marL="206375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Times New Roman"/>
                <a:cs typeface="Times New Roman"/>
              </a:rPr>
              <a:t>P(x)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ax0</a:t>
            </a:r>
          </a:p>
          <a:p>
            <a:pPr marL="205740" indent="-180340">
              <a:lnSpc>
                <a:spcPct val="100000"/>
              </a:lnSpc>
              <a:spcBef>
                <a:spcPts val="1220"/>
              </a:spcBef>
              <a:buFont typeface="Arial"/>
              <a:buChar char="•"/>
              <a:tabLst>
                <a:tab pos="205740" algn="l"/>
              </a:tabLst>
            </a:pPr>
            <a:r>
              <a:rPr dirty="0"/>
              <a:t>Zero</a:t>
            </a:r>
            <a:r>
              <a:rPr spc="-55" dirty="0"/>
              <a:t> </a:t>
            </a:r>
            <a:r>
              <a:rPr dirty="0"/>
              <a:t>Polynomial</a:t>
            </a:r>
            <a:r>
              <a:rPr spc="-60" dirty="0"/>
              <a:t> </a:t>
            </a:r>
            <a:r>
              <a:rPr spc="-10" dirty="0"/>
              <a:t>Function:</a:t>
            </a:r>
          </a:p>
          <a:p>
            <a:pPr marL="206375">
              <a:lnSpc>
                <a:spcPct val="100000"/>
              </a:lnSpc>
            </a:pPr>
            <a:r>
              <a:rPr dirty="0">
                <a:latin typeface="Times New Roman"/>
                <a:cs typeface="Times New Roman"/>
              </a:rPr>
              <a:t>P(x)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0;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where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all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ai’s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zero,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0,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1,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2,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3,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…,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n.</a:t>
            </a:r>
          </a:p>
          <a:p>
            <a:pPr marL="205740" indent="-180340">
              <a:lnSpc>
                <a:spcPts val="2245"/>
              </a:lnSpc>
              <a:spcBef>
                <a:spcPts val="1225"/>
              </a:spcBef>
              <a:buFont typeface="Arial"/>
              <a:buChar char="•"/>
              <a:tabLst>
                <a:tab pos="205740" algn="l"/>
              </a:tabLst>
            </a:pPr>
            <a:r>
              <a:rPr dirty="0"/>
              <a:t>Linear</a:t>
            </a:r>
            <a:r>
              <a:rPr spc="-60" dirty="0"/>
              <a:t> </a:t>
            </a:r>
            <a:r>
              <a:rPr dirty="0"/>
              <a:t>Polynomial</a:t>
            </a:r>
            <a:r>
              <a:rPr spc="-65" dirty="0"/>
              <a:t> </a:t>
            </a:r>
            <a:r>
              <a:rPr spc="-10" dirty="0"/>
              <a:t>Function:</a:t>
            </a:r>
          </a:p>
          <a:p>
            <a:pPr marL="206375">
              <a:lnSpc>
                <a:spcPts val="2245"/>
              </a:lnSpc>
            </a:pPr>
            <a:r>
              <a:rPr dirty="0">
                <a:latin typeface="Times New Roman"/>
                <a:cs typeface="Times New Roman"/>
              </a:rPr>
              <a:t>P(x)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ax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+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50" dirty="0">
                <a:latin typeface="Times New Roman"/>
                <a:cs typeface="Times New Roman"/>
              </a:rPr>
              <a:t>b</a:t>
            </a:r>
          </a:p>
          <a:p>
            <a:pPr marL="205740" indent="-18034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205740" algn="l"/>
              </a:tabLst>
            </a:pPr>
            <a:r>
              <a:rPr dirty="0"/>
              <a:t>Quadratic</a:t>
            </a:r>
            <a:r>
              <a:rPr spc="-75" dirty="0"/>
              <a:t> </a:t>
            </a:r>
            <a:r>
              <a:rPr dirty="0"/>
              <a:t>Polynomial</a:t>
            </a:r>
            <a:r>
              <a:rPr spc="-80" dirty="0"/>
              <a:t> </a:t>
            </a:r>
            <a:r>
              <a:rPr spc="-10" dirty="0"/>
              <a:t>Function</a:t>
            </a:r>
          </a:p>
          <a:p>
            <a:pPr marL="206375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Times New Roman"/>
                <a:cs typeface="Times New Roman"/>
              </a:rPr>
              <a:t>P(x)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ax</a:t>
            </a:r>
            <a:r>
              <a:rPr sz="1950" spc="-15" baseline="25641" dirty="0">
                <a:latin typeface="Times New Roman"/>
                <a:cs typeface="Times New Roman"/>
              </a:rPr>
              <a:t>2</a:t>
            </a:r>
            <a:r>
              <a:rPr sz="1900" spc="-10" dirty="0">
                <a:latin typeface="Times New Roman"/>
                <a:cs typeface="Times New Roman"/>
              </a:rPr>
              <a:t>+bx+c</a:t>
            </a:r>
            <a:endParaRPr sz="1900">
              <a:latin typeface="Times New Roman"/>
              <a:cs typeface="Times New Roman"/>
            </a:endParaRPr>
          </a:p>
          <a:p>
            <a:pPr marL="205740" indent="-18034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05740" algn="l"/>
              </a:tabLst>
            </a:pPr>
            <a:r>
              <a:rPr dirty="0"/>
              <a:t>Cubic</a:t>
            </a:r>
            <a:r>
              <a:rPr spc="-60" dirty="0"/>
              <a:t> </a:t>
            </a:r>
            <a:r>
              <a:rPr dirty="0"/>
              <a:t>Polynomial</a:t>
            </a:r>
            <a:r>
              <a:rPr spc="-65" dirty="0"/>
              <a:t> </a:t>
            </a:r>
            <a:r>
              <a:rPr spc="-10" dirty="0"/>
              <a:t>Function:</a:t>
            </a:r>
          </a:p>
          <a:p>
            <a:pPr marL="206375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Times New Roman"/>
                <a:cs typeface="Times New Roman"/>
              </a:rPr>
              <a:t>P(x)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ax</a:t>
            </a:r>
            <a:r>
              <a:rPr sz="1950" spc="-15" baseline="25641" dirty="0">
                <a:latin typeface="Times New Roman"/>
                <a:cs typeface="Times New Roman"/>
              </a:rPr>
              <a:t>3</a:t>
            </a:r>
            <a:r>
              <a:rPr sz="1900" spc="-10" dirty="0">
                <a:latin typeface="Times New Roman"/>
                <a:cs typeface="Times New Roman"/>
              </a:rPr>
              <a:t>+bx</a:t>
            </a:r>
            <a:r>
              <a:rPr sz="1950" spc="-15" baseline="25641" dirty="0">
                <a:latin typeface="Times New Roman"/>
                <a:cs typeface="Times New Roman"/>
              </a:rPr>
              <a:t>2</a:t>
            </a:r>
            <a:r>
              <a:rPr sz="1900" spc="-10" dirty="0">
                <a:latin typeface="Times New Roman"/>
                <a:cs typeface="Times New Roman"/>
              </a:rPr>
              <a:t>+cx+d</a:t>
            </a:r>
            <a:endParaRPr sz="1900">
              <a:latin typeface="Times New Roman"/>
              <a:cs typeface="Times New Roman"/>
            </a:endParaRPr>
          </a:p>
          <a:p>
            <a:pPr marL="205740" indent="-180340">
              <a:lnSpc>
                <a:spcPct val="100000"/>
              </a:lnSpc>
              <a:spcBef>
                <a:spcPts val="1125"/>
              </a:spcBef>
              <a:buFont typeface="Arial"/>
              <a:buChar char="•"/>
              <a:tabLst>
                <a:tab pos="205740" algn="l"/>
              </a:tabLst>
            </a:pPr>
            <a:r>
              <a:rPr dirty="0"/>
              <a:t>General</a:t>
            </a:r>
            <a:r>
              <a:rPr spc="-50" dirty="0"/>
              <a:t> </a:t>
            </a:r>
            <a:r>
              <a:rPr dirty="0"/>
              <a:t>form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Higher</a:t>
            </a:r>
            <a:r>
              <a:rPr spc="-45" dirty="0"/>
              <a:t> </a:t>
            </a:r>
            <a:r>
              <a:rPr dirty="0"/>
              <a:t>Degree</a:t>
            </a:r>
            <a:r>
              <a:rPr spc="-50" dirty="0"/>
              <a:t> </a:t>
            </a:r>
            <a:r>
              <a:rPr dirty="0"/>
              <a:t>Polynomial</a:t>
            </a:r>
            <a:r>
              <a:rPr spc="-45" dirty="0"/>
              <a:t> </a:t>
            </a:r>
            <a:r>
              <a:rPr spc="-10" dirty="0"/>
              <a:t>Function:</a:t>
            </a:r>
          </a:p>
          <a:p>
            <a:pPr marL="206375">
              <a:lnSpc>
                <a:spcPct val="100000"/>
              </a:lnSpc>
              <a:spcBef>
                <a:spcPts val="25"/>
              </a:spcBef>
            </a:pPr>
            <a:r>
              <a:rPr dirty="0">
                <a:latin typeface="Times New Roman"/>
                <a:cs typeface="Times New Roman"/>
              </a:rPr>
              <a:t>P(x)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z="1950" baseline="-17094" dirty="0">
                <a:latin typeface="Times New Roman"/>
                <a:cs typeface="Times New Roman"/>
              </a:rPr>
              <a:t>n</a:t>
            </a:r>
            <a:r>
              <a:rPr sz="1900" dirty="0">
                <a:latin typeface="Times New Roman"/>
                <a:cs typeface="Times New Roman"/>
              </a:rPr>
              <a:t>x</a:t>
            </a:r>
            <a:r>
              <a:rPr sz="1950" baseline="25641" dirty="0">
                <a:latin typeface="Times New Roman"/>
                <a:cs typeface="Times New Roman"/>
              </a:rPr>
              <a:t>n</a:t>
            </a:r>
            <a:r>
              <a:rPr sz="1950" spc="157" baseline="25641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+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a</a:t>
            </a:r>
            <a:r>
              <a:rPr sz="1950" spc="-30" baseline="-17094" dirty="0">
                <a:latin typeface="Times New Roman"/>
                <a:cs typeface="Times New Roman"/>
              </a:rPr>
              <a:t>n-1</a:t>
            </a:r>
            <a:r>
              <a:rPr sz="1900" spc="-20" dirty="0">
                <a:latin typeface="Times New Roman"/>
                <a:cs typeface="Times New Roman"/>
              </a:rPr>
              <a:t>x</a:t>
            </a:r>
            <a:r>
              <a:rPr sz="1950" spc="-30" baseline="25641" dirty="0">
                <a:latin typeface="Times New Roman"/>
                <a:cs typeface="Times New Roman"/>
              </a:rPr>
              <a:t>n-</a:t>
            </a:r>
            <a:r>
              <a:rPr sz="1950" baseline="25641" dirty="0">
                <a:latin typeface="Times New Roman"/>
                <a:cs typeface="Times New Roman"/>
              </a:rPr>
              <a:t>1</a:t>
            </a:r>
            <a:r>
              <a:rPr sz="1900" dirty="0">
                <a:latin typeface="Times New Roman"/>
                <a:cs typeface="Times New Roman"/>
              </a:rPr>
              <a:t>+…+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50" baseline="-17094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where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50" baseline="-17094" dirty="0">
                <a:latin typeface="Times New Roman"/>
                <a:cs typeface="Times New Roman"/>
              </a:rPr>
              <a:t>0</a:t>
            </a:r>
            <a:r>
              <a:rPr sz="1900" dirty="0">
                <a:latin typeface="Times New Roman"/>
                <a:cs typeface="Times New Roman"/>
              </a:rPr>
              <a:t>,a</a:t>
            </a:r>
            <a:r>
              <a:rPr sz="1950" baseline="-17094" dirty="0">
                <a:latin typeface="Times New Roman"/>
                <a:cs typeface="Times New Roman"/>
              </a:rPr>
              <a:t>1…</a:t>
            </a:r>
            <a:r>
              <a:rPr sz="1900" dirty="0">
                <a:latin typeface="Times New Roman"/>
                <a:cs typeface="Times New Roman"/>
              </a:rPr>
              <a:t>,a</a:t>
            </a:r>
            <a:r>
              <a:rPr sz="1950" baseline="-17094" dirty="0">
                <a:latin typeface="Times New Roman"/>
                <a:cs typeface="Times New Roman"/>
              </a:rPr>
              <a:t>n</a:t>
            </a:r>
            <a:r>
              <a:rPr sz="1950" spc="157" baseline="-1709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all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constants.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912" y="6248400"/>
            <a:ext cx="34664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Georgia"/>
                <a:cs typeface="Georgia"/>
              </a:rPr>
              <a:t>From: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u="sng" spc="-10" dirty="0">
                <a:solidFill>
                  <a:srgbClr val="7030A0"/>
                </a:solidFill>
                <a:uFill>
                  <a:solidFill>
                    <a:srgbClr val="7030A0"/>
                  </a:solidFill>
                </a:uFill>
                <a:latin typeface="Georgia"/>
                <a:cs typeface="Georgia"/>
                <a:hlinkClick r:id="rId6"/>
              </a:rPr>
              <a:t>https://byjus.com/maths/polynomial-functions/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20352" y="2843276"/>
            <a:ext cx="1034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Quadratic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20352" y="5735751"/>
            <a:ext cx="1461770" cy="5803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0"/>
              </a:spcBef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Higher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degree (Quartic)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When</a:t>
            </a:r>
            <a:r>
              <a:rPr sz="4000" spc="-55" dirty="0"/>
              <a:t> </a:t>
            </a:r>
            <a:r>
              <a:rPr sz="4000" dirty="0"/>
              <a:t>to</a:t>
            </a:r>
            <a:r>
              <a:rPr sz="4000" spc="-70" dirty="0"/>
              <a:t> </a:t>
            </a:r>
            <a:r>
              <a:rPr sz="4000" dirty="0"/>
              <a:t>consider</a:t>
            </a:r>
            <a:r>
              <a:rPr sz="4000" spc="-65" dirty="0"/>
              <a:t> </a:t>
            </a:r>
            <a:r>
              <a:rPr sz="4000" dirty="0"/>
              <a:t>polynomial</a:t>
            </a:r>
            <a:r>
              <a:rPr sz="4000" spc="-60" dirty="0"/>
              <a:t> </a:t>
            </a:r>
            <a:r>
              <a:rPr sz="4000" spc="-10" dirty="0"/>
              <a:t>regression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7462" y="1103884"/>
            <a:ext cx="6348730" cy="1595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2405" marR="5080" indent="-18034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93675" algn="l"/>
              </a:tabLst>
            </a:pPr>
            <a:r>
              <a:rPr sz="2800" b="1" dirty="0">
                <a:solidFill>
                  <a:srgbClr val="001158"/>
                </a:solidFill>
                <a:latin typeface="Georgia"/>
                <a:cs typeface="Georgia"/>
              </a:rPr>
              <a:t>Theoretically:</a:t>
            </a:r>
            <a:r>
              <a:rPr sz="2800" b="1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When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have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theory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reason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expect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relationship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between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your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predictor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your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b="1" u="sng" spc="-1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curvilinear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0375" y="1124997"/>
            <a:ext cx="10518775" cy="5123815"/>
            <a:chOff x="460375" y="1124997"/>
            <a:chExt cx="10518775" cy="51238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730" y="1124997"/>
              <a:ext cx="2825043" cy="21132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375" y="2956407"/>
              <a:ext cx="7650665" cy="329199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696921" y="5326379"/>
            <a:ext cx="4086860" cy="876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05"/>
              </a:spcBef>
            </a:pPr>
            <a:r>
              <a:rPr sz="1400" dirty="0">
                <a:latin typeface="Georgia"/>
                <a:cs typeface="Georgia"/>
              </a:rPr>
              <a:t>Euler,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J.,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Wiltshire,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T.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J.,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Niermeyer,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A.,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spc="-50" dirty="0">
                <a:latin typeface="Georgia"/>
                <a:cs typeface="Georgia"/>
              </a:rPr>
              <a:t>&amp; </a:t>
            </a:r>
            <a:r>
              <a:rPr sz="1400" dirty="0">
                <a:latin typeface="Georgia"/>
                <a:cs typeface="Georgia"/>
              </a:rPr>
              <a:t>Butner,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J.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E.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(2016).</a:t>
            </a:r>
            <a:r>
              <a:rPr sz="1400" spc="-2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Working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memory</a:t>
            </a:r>
            <a:r>
              <a:rPr sz="1400" spc="-3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performance </a:t>
            </a:r>
            <a:r>
              <a:rPr sz="1400" dirty="0">
                <a:latin typeface="Georgia"/>
                <a:cs typeface="Georgia"/>
              </a:rPr>
              <a:t>inversely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predicts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spontaneous</a:t>
            </a:r>
            <a:r>
              <a:rPr sz="1400" spc="-4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delta</a:t>
            </a:r>
            <a:r>
              <a:rPr sz="1400" spc="-5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theta- </a:t>
            </a:r>
            <a:r>
              <a:rPr sz="1400" dirty="0">
                <a:latin typeface="Georgia"/>
                <a:cs typeface="Georgia"/>
              </a:rPr>
              <a:t>band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scaling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relations.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Brain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research,</a:t>
            </a:r>
            <a:r>
              <a:rPr sz="1400" spc="-35" dirty="0">
                <a:latin typeface="Georgia"/>
                <a:cs typeface="Georgia"/>
              </a:rPr>
              <a:t> </a:t>
            </a:r>
            <a:r>
              <a:rPr sz="1400" dirty="0">
                <a:latin typeface="Georgia"/>
                <a:cs typeface="Georgia"/>
              </a:rPr>
              <a:t>1637,</a:t>
            </a:r>
            <a:r>
              <a:rPr sz="1400" spc="-40" dirty="0">
                <a:latin typeface="Georgia"/>
                <a:cs typeface="Georgia"/>
              </a:rPr>
              <a:t> </a:t>
            </a:r>
            <a:r>
              <a:rPr sz="1400" spc="-10" dirty="0">
                <a:latin typeface="Georgia"/>
                <a:cs typeface="Georgia"/>
              </a:rPr>
              <a:t>22-</a:t>
            </a:r>
            <a:r>
              <a:rPr sz="1400" spc="-25" dirty="0">
                <a:latin typeface="Georgia"/>
                <a:cs typeface="Georgia"/>
              </a:rPr>
              <a:t>33.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8305851" y="3442322"/>
            <a:ext cx="3383279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14"/>
              </a:lnSpc>
              <a:spcBef>
                <a:spcPts val="100"/>
              </a:spcBef>
            </a:pP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Some</a:t>
            </a:r>
            <a:r>
              <a:rPr sz="1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spc="-10" dirty="0">
                <a:solidFill>
                  <a:srgbClr val="001158"/>
                </a:solidFill>
                <a:latin typeface="Georgia"/>
                <a:cs typeface="Georgia"/>
              </a:rPr>
              <a:t>examples:</a:t>
            </a:r>
            <a:endParaRPr sz="1600">
              <a:latin typeface="Georgia"/>
              <a:cs typeface="Georgia"/>
            </a:endParaRPr>
          </a:p>
          <a:p>
            <a:pPr marL="168275" indent="-125095">
              <a:lnSpc>
                <a:spcPts val="1714"/>
              </a:lnSpc>
              <a:buFont typeface="Symbol"/>
              <a:buChar char=""/>
              <a:tabLst>
                <a:tab pos="168275" algn="l"/>
              </a:tabLst>
            </a:pP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Learning,</a:t>
            </a:r>
            <a:r>
              <a:rPr sz="1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skill</a:t>
            </a:r>
            <a:r>
              <a:rPr sz="1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spc="-10" dirty="0">
                <a:solidFill>
                  <a:srgbClr val="001158"/>
                </a:solidFill>
                <a:latin typeface="Georgia"/>
                <a:cs typeface="Georgia"/>
              </a:rPr>
              <a:t>acquisition</a:t>
            </a:r>
            <a:endParaRPr sz="1600">
              <a:latin typeface="Georgia"/>
              <a:cs typeface="Georgia"/>
            </a:endParaRPr>
          </a:p>
          <a:p>
            <a:pPr marL="168275" indent="-125095">
              <a:lnSpc>
                <a:spcPts val="1714"/>
              </a:lnSpc>
              <a:buFont typeface="Symbol"/>
              <a:buChar char=""/>
              <a:tabLst>
                <a:tab pos="168275" algn="l"/>
              </a:tabLst>
            </a:pPr>
            <a:r>
              <a:rPr sz="1600" spc="-10" dirty="0">
                <a:solidFill>
                  <a:srgbClr val="001158"/>
                </a:solidFill>
                <a:latin typeface="Georgia"/>
                <a:cs typeface="Georgia"/>
              </a:rPr>
              <a:t>Developmental</a:t>
            </a:r>
            <a:r>
              <a:rPr sz="1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spc="-10" dirty="0">
                <a:solidFill>
                  <a:srgbClr val="001158"/>
                </a:solidFill>
                <a:latin typeface="Georgia"/>
                <a:cs typeface="Georgia"/>
              </a:rPr>
              <a:t>stages</a:t>
            </a:r>
            <a:endParaRPr sz="1600">
              <a:latin typeface="Georgia"/>
              <a:cs typeface="Georgia"/>
            </a:endParaRPr>
          </a:p>
          <a:p>
            <a:pPr marL="168275" indent="-125095">
              <a:lnSpc>
                <a:spcPts val="1714"/>
              </a:lnSpc>
              <a:buFont typeface="Symbol"/>
              <a:buChar char=""/>
              <a:tabLst>
                <a:tab pos="168275" algn="l"/>
              </a:tabLst>
            </a:pP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Stress</a:t>
            </a:r>
            <a:r>
              <a:rPr sz="1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spc="-10" dirty="0">
                <a:solidFill>
                  <a:srgbClr val="001158"/>
                </a:solidFill>
                <a:latin typeface="Georgia"/>
                <a:cs typeface="Georgia"/>
              </a:rPr>
              <a:t>responses</a:t>
            </a:r>
            <a:endParaRPr sz="1600">
              <a:latin typeface="Georgia"/>
              <a:cs typeface="Georgia"/>
            </a:endParaRPr>
          </a:p>
          <a:p>
            <a:pPr marL="168275" indent="-125095">
              <a:lnSpc>
                <a:spcPts val="1714"/>
              </a:lnSpc>
              <a:buFont typeface="Symbol"/>
              <a:buChar char=""/>
              <a:tabLst>
                <a:tab pos="168275" algn="l"/>
              </a:tabLst>
            </a:pP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Attention</a:t>
            </a:r>
            <a:r>
              <a:rPr sz="1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memory</a:t>
            </a:r>
            <a:r>
              <a:rPr sz="1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spc="-10" dirty="0">
                <a:solidFill>
                  <a:srgbClr val="001158"/>
                </a:solidFill>
                <a:latin typeface="Georgia"/>
                <a:cs typeface="Georgia"/>
              </a:rPr>
              <a:t>capacities</a:t>
            </a:r>
            <a:endParaRPr sz="1600">
              <a:latin typeface="Georgia"/>
              <a:cs typeface="Georgia"/>
            </a:endParaRPr>
          </a:p>
          <a:p>
            <a:pPr marL="168275" indent="-125095">
              <a:lnSpc>
                <a:spcPts val="1814"/>
              </a:lnSpc>
              <a:buFont typeface="Symbol"/>
              <a:buChar char=""/>
              <a:tabLst>
                <a:tab pos="168275" algn="l"/>
              </a:tabLst>
            </a:pPr>
            <a:r>
              <a:rPr sz="1600" spc="-10" dirty="0">
                <a:solidFill>
                  <a:srgbClr val="001158"/>
                </a:solidFill>
                <a:latin typeface="Georgia"/>
                <a:cs typeface="Georgia"/>
              </a:rPr>
              <a:t>Attitudes</a:t>
            </a:r>
            <a:r>
              <a:rPr sz="1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preferences</a:t>
            </a:r>
            <a:r>
              <a:rPr sz="1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over</a:t>
            </a:r>
            <a:r>
              <a:rPr sz="1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spc="-20" dirty="0">
                <a:solidFill>
                  <a:srgbClr val="001158"/>
                </a:solidFill>
                <a:latin typeface="Georgia"/>
                <a:cs typeface="Georgia"/>
              </a:rPr>
              <a:t>time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When</a:t>
            </a:r>
            <a:r>
              <a:rPr sz="4000" spc="-55" dirty="0"/>
              <a:t> </a:t>
            </a:r>
            <a:r>
              <a:rPr sz="4000" dirty="0"/>
              <a:t>to</a:t>
            </a:r>
            <a:r>
              <a:rPr sz="4000" spc="-70" dirty="0"/>
              <a:t> </a:t>
            </a:r>
            <a:r>
              <a:rPr sz="4000" dirty="0"/>
              <a:t>consider</a:t>
            </a:r>
            <a:r>
              <a:rPr sz="4000" spc="-65" dirty="0"/>
              <a:t> </a:t>
            </a:r>
            <a:r>
              <a:rPr sz="4000" dirty="0"/>
              <a:t>polynomial</a:t>
            </a:r>
            <a:r>
              <a:rPr sz="4000" spc="-60" dirty="0"/>
              <a:t> </a:t>
            </a:r>
            <a:r>
              <a:rPr sz="4000" spc="-10" dirty="0"/>
              <a:t>regression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55123" y="1359915"/>
            <a:ext cx="5462905" cy="30454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2405" marR="5080" indent="-18034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93675" algn="l"/>
              </a:tabLst>
            </a:pPr>
            <a:r>
              <a:rPr sz="2800" b="1" dirty="0">
                <a:solidFill>
                  <a:srgbClr val="001158"/>
                </a:solidFill>
                <a:latin typeface="Georgia"/>
                <a:cs typeface="Georgia"/>
              </a:rPr>
              <a:t>Empirically:</a:t>
            </a:r>
            <a:r>
              <a:rPr sz="2800" b="1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When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check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your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scatterplots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other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plots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checking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the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your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linear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28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885"/>
              </a:spcBef>
              <a:buFont typeface="Arial"/>
              <a:buChar char="-"/>
              <a:tabLst>
                <a:tab pos="37338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Residuals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vs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fit</a:t>
            </a:r>
            <a:endParaRPr sz="24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940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Histogram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residuals</a:t>
            </a:r>
            <a:endParaRPr sz="24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910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QQ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plot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1552" y="1160056"/>
            <a:ext cx="4592592" cy="51141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524" y="515620"/>
            <a:ext cx="60566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Polynomial</a:t>
            </a:r>
            <a:r>
              <a:rPr sz="4000" spc="-85" dirty="0"/>
              <a:t> </a:t>
            </a:r>
            <a:r>
              <a:rPr sz="4000" spc="-10" dirty="0"/>
              <a:t>Regression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26524" y="1574291"/>
            <a:ext cx="4692650" cy="42075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93040" marR="246379" indent="-180975">
              <a:lnSpc>
                <a:spcPts val="2500"/>
              </a:lnSpc>
              <a:spcBef>
                <a:spcPts val="700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degree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polynomial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determines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number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of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points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inflection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(d-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1)</a:t>
            </a:r>
            <a:endParaRPr sz="2600">
              <a:latin typeface="Georgia"/>
              <a:cs typeface="Georgia"/>
            </a:endParaRPr>
          </a:p>
          <a:p>
            <a:pPr marL="193040" marR="711200" indent="-180975">
              <a:lnSpc>
                <a:spcPct val="80000"/>
              </a:lnSpc>
              <a:spcBef>
                <a:spcPts val="1235"/>
              </a:spcBef>
              <a:buFont typeface="Arial"/>
              <a:buChar char="•"/>
              <a:tabLst>
                <a:tab pos="193040" algn="l"/>
              </a:tabLst>
            </a:pPr>
            <a:r>
              <a:rPr sz="2600" b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Must</a:t>
            </a:r>
            <a:r>
              <a:rPr sz="2600" b="1" u="heavy" spc="-6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include</a:t>
            </a:r>
            <a:r>
              <a:rPr sz="2600" b="1" u="heavy" spc="-6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all</a:t>
            </a:r>
            <a:r>
              <a:rPr sz="2600" b="1" u="heavy" spc="-6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u="heavy" spc="-1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lower</a:t>
            </a:r>
            <a:r>
              <a:rPr sz="2600" b="1" u="none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order</a:t>
            </a:r>
            <a:r>
              <a:rPr sz="2600" b="1" u="heavy" spc="-4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u="heavy" spc="-1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terms</a:t>
            </a:r>
            <a:endParaRPr sz="2600">
              <a:latin typeface="Georgia"/>
              <a:cs typeface="Georgia"/>
            </a:endParaRPr>
          </a:p>
          <a:p>
            <a:pPr marL="193040" marR="100330" indent="-180975">
              <a:lnSpc>
                <a:spcPts val="2500"/>
              </a:lnSpc>
              <a:spcBef>
                <a:spcPts val="1175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careful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i="1" dirty="0">
                <a:solidFill>
                  <a:srgbClr val="001158"/>
                </a:solidFill>
                <a:latin typeface="Georgia"/>
                <a:cs typeface="Georgia"/>
              </a:rPr>
              <a:t>overfitting</a:t>
            </a:r>
            <a:r>
              <a:rPr sz="2600" i="1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data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(generalizability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 model)</a:t>
            </a:r>
            <a:endParaRPr sz="2600">
              <a:latin typeface="Georgia"/>
              <a:cs typeface="Georgia"/>
            </a:endParaRPr>
          </a:p>
          <a:p>
            <a:pPr marL="193040" marR="1026160" indent="-180975">
              <a:lnSpc>
                <a:spcPct val="80000"/>
              </a:lnSpc>
              <a:spcBef>
                <a:spcPts val="1220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Practical</a:t>
            </a:r>
            <a:r>
              <a:rPr sz="26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significance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vs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statistical</a:t>
            </a:r>
            <a:r>
              <a:rPr sz="2600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significance</a:t>
            </a:r>
            <a:endParaRPr sz="2600">
              <a:latin typeface="Georgia"/>
              <a:cs typeface="Georgia"/>
            </a:endParaRPr>
          </a:p>
          <a:p>
            <a:pPr marL="193040" marR="5080" indent="-180975">
              <a:lnSpc>
                <a:spcPct val="80000"/>
              </a:lnSpc>
              <a:spcBef>
                <a:spcPts val="1225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Coefficients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tell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us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direction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strength/depth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curve(s)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56175" y="1752600"/>
            <a:ext cx="7080884" cy="3430904"/>
            <a:chOff x="4956175" y="1752600"/>
            <a:chExt cx="7080884" cy="34309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6588" y="1752600"/>
              <a:ext cx="5399976" cy="34305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6175" y="1906575"/>
              <a:ext cx="1832813" cy="32765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075" y="210820"/>
            <a:ext cx="942911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Interpreting</a:t>
            </a:r>
            <a:r>
              <a:rPr sz="4000" spc="-135" dirty="0"/>
              <a:t> </a:t>
            </a:r>
            <a:r>
              <a:rPr sz="4000" dirty="0"/>
              <a:t>Polynomial</a:t>
            </a:r>
            <a:r>
              <a:rPr sz="4000" spc="-145" dirty="0"/>
              <a:t> </a:t>
            </a:r>
            <a:r>
              <a:rPr sz="4000" spc="-10" dirty="0"/>
              <a:t>Regression Results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87329" y="1466646"/>
            <a:ext cx="5273675" cy="435673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Plot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them!</a:t>
            </a:r>
            <a:endParaRPr sz="28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55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Quadratic</a:t>
            </a:r>
            <a:r>
              <a:rPr sz="2800" spc="-1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term:</a:t>
            </a:r>
            <a:endParaRPr sz="2800">
              <a:latin typeface="Georgia"/>
              <a:cs typeface="Georgia"/>
            </a:endParaRPr>
          </a:p>
          <a:p>
            <a:pPr marL="372745" marR="776605" lvl="1" indent="-179705">
              <a:lnSpc>
                <a:spcPct val="79200"/>
              </a:lnSpc>
              <a:spcBef>
                <a:spcPts val="1240"/>
              </a:spcBef>
              <a:buFont typeface="Arial"/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Positive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=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curve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opens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upward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(apex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lowest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value)</a:t>
            </a:r>
            <a:endParaRPr sz="2400">
              <a:latin typeface="Georgia"/>
              <a:cs typeface="Georgia"/>
            </a:endParaRPr>
          </a:p>
          <a:p>
            <a:pPr marL="372745" marR="260985" lvl="1" indent="-179705">
              <a:lnSpc>
                <a:spcPts val="2300"/>
              </a:lnSpc>
              <a:spcBef>
                <a:spcPts val="1185"/>
              </a:spcBef>
              <a:buFont typeface="Arial"/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Negative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=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curve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opens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downward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(apex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highest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values)</a:t>
            </a:r>
            <a:endParaRPr sz="2400">
              <a:latin typeface="Georgia"/>
              <a:cs typeface="Georgia"/>
            </a:endParaRPr>
          </a:p>
          <a:p>
            <a:pPr marL="193675" marR="5080" indent="-180975">
              <a:lnSpc>
                <a:spcPct val="80400"/>
              </a:lnSpc>
              <a:spcBef>
                <a:spcPts val="1195"/>
              </a:spcBef>
              <a:buFont typeface="Arial"/>
              <a:buChar char="•"/>
              <a:tabLst>
                <a:tab pos="193675" algn="l"/>
              </a:tabLst>
            </a:pP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Focus</a:t>
            </a:r>
            <a:r>
              <a:rPr sz="2800" b="1" u="sng" spc="-4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is</a:t>
            </a:r>
            <a:r>
              <a:rPr sz="2800" b="1" u="sng" spc="-4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more</a:t>
            </a:r>
            <a:r>
              <a:rPr sz="2800" b="1" u="sng" spc="-4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on</a:t>
            </a:r>
            <a:r>
              <a:rPr sz="2800" b="1" u="sng" spc="-3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spc="-1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overall</a:t>
            </a:r>
            <a:r>
              <a:rPr sz="2800" b="1" u="none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model</a:t>
            </a:r>
            <a:r>
              <a:rPr sz="2800" b="1" u="sng" spc="-9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comparisons</a:t>
            </a:r>
            <a:r>
              <a:rPr sz="2800" b="1" u="sng" spc="-9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and</a:t>
            </a:r>
            <a:r>
              <a:rPr sz="2800" b="1" u="sng" spc="-8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spc="-2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the</a:t>
            </a:r>
            <a:r>
              <a:rPr sz="2800" b="1" u="none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shape</a:t>
            </a:r>
            <a:r>
              <a:rPr sz="2800" b="1" u="sng" spc="-3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of</a:t>
            </a:r>
            <a:r>
              <a:rPr sz="2800" b="1" u="sng" spc="-2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the</a:t>
            </a:r>
            <a:r>
              <a:rPr sz="2800" b="1" u="sng" spc="-3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trend</a:t>
            </a:r>
            <a:r>
              <a:rPr sz="2800" b="1" u="sng" spc="-1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spc="-2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vs</a:t>
            </a:r>
            <a:r>
              <a:rPr sz="2800" b="1" u="none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interpretation</a:t>
            </a:r>
            <a:r>
              <a:rPr sz="2800" b="1" u="sng" spc="-5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of</a:t>
            </a:r>
            <a:r>
              <a:rPr sz="2800" b="1" u="sng" spc="-5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800" b="1" u="sng" spc="-1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individual</a:t>
            </a:r>
            <a:r>
              <a:rPr sz="2800" b="1" u="none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b="1" u="sng" spc="-1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coefficients</a:t>
            </a:r>
            <a:endParaRPr sz="2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4067" y="2162624"/>
            <a:ext cx="4506350" cy="29750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Running</a:t>
            </a:r>
            <a:r>
              <a:rPr sz="4000" spc="-75" dirty="0"/>
              <a:t> </a:t>
            </a:r>
            <a:r>
              <a:rPr sz="4000" dirty="0"/>
              <a:t>the</a:t>
            </a:r>
            <a:r>
              <a:rPr sz="4000" spc="-75" dirty="0"/>
              <a:t> </a:t>
            </a:r>
            <a:r>
              <a:rPr sz="4000" dirty="0"/>
              <a:t>model</a:t>
            </a:r>
            <a:r>
              <a:rPr sz="4000" spc="-85" dirty="0"/>
              <a:t> </a:t>
            </a:r>
            <a:r>
              <a:rPr sz="4000" dirty="0"/>
              <a:t>in</a:t>
            </a:r>
            <a:r>
              <a:rPr sz="4000" spc="-75" dirty="0"/>
              <a:t> </a:t>
            </a:r>
            <a:r>
              <a:rPr sz="4000" spc="-50" dirty="0"/>
              <a:t>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91962" y="1073248"/>
            <a:ext cx="6160135" cy="31661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Manually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create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polynomial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terms</a:t>
            </a:r>
            <a:endParaRPr sz="2800">
              <a:latin typeface="Georgia"/>
              <a:cs typeface="Georgia"/>
            </a:endParaRPr>
          </a:p>
          <a:p>
            <a:pPr marL="374015" lvl="1" indent="-180975">
              <a:lnSpc>
                <a:spcPct val="100000"/>
              </a:lnSpc>
              <a:spcBef>
                <a:spcPts val="850"/>
              </a:spcBef>
              <a:buFont typeface="Arial"/>
              <a:buChar char="-"/>
              <a:tabLst>
                <a:tab pos="37401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E.g.,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arousal2&lt;-arousal*arousal</a:t>
            </a:r>
            <a:endParaRPr sz="2600">
              <a:latin typeface="Georgia"/>
              <a:cs typeface="Georgia"/>
            </a:endParaRPr>
          </a:p>
          <a:p>
            <a:pPr marL="374015" lvl="1" indent="-180975">
              <a:lnSpc>
                <a:spcPct val="100000"/>
              </a:lnSpc>
              <a:spcBef>
                <a:spcPts val="865"/>
              </a:spcBef>
              <a:buFont typeface="Arial"/>
              <a:buChar char="-"/>
              <a:tabLst>
                <a:tab pos="374015" algn="l"/>
              </a:tabLst>
            </a:pP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arousal3&lt;-arousal*arousal*arousal</a:t>
            </a:r>
            <a:endParaRPr sz="2600">
              <a:latin typeface="Georgia"/>
              <a:cs typeface="Georgia"/>
            </a:endParaRPr>
          </a:p>
          <a:p>
            <a:pPr lvl="1">
              <a:lnSpc>
                <a:spcPct val="100000"/>
              </a:lnSpc>
              <a:spcBef>
                <a:spcPts val="2125"/>
              </a:spcBef>
              <a:buClr>
                <a:srgbClr val="001158"/>
              </a:buClr>
              <a:buFont typeface="Arial"/>
              <a:buChar char="-"/>
            </a:pPr>
            <a:endParaRPr sz="26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Add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directly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into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lm()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formula</a:t>
            </a:r>
            <a:endParaRPr sz="2800">
              <a:latin typeface="Georgia"/>
              <a:cs typeface="Georgia"/>
            </a:endParaRPr>
          </a:p>
          <a:p>
            <a:pPr marL="374015" lvl="1" indent="-180975">
              <a:lnSpc>
                <a:spcPct val="100000"/>
              </a:lnSpc>
              <a:spcBef>
                <a:spcPts val="944"/>
              </a:spcBef>
              <a:buFont typeface="Arial"/>
              <a:buChar char="-"/>
              <a:tabLst>
                <a:tab pos="37401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~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+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I(pred^2)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5975" y="1772883"/>
            <a:ext cx="4416308" cy="33122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962" y="497332"/>
            <a:ext cx="9415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Run</a:t>
            </a:r>
            <a:r>
              <a:rPr sz="4000" spc="-80" dirty="0"/>
              <a:t> </a:t>
            </a:r>
            <a:r>
              <a:rPr sz="4000" dirty="0"/>
              <a:t>multiple</a:t>
            </a:r>
            <a:r>
              <a:rPr sz="4000" spc="-80" dirty="0"/>
              <a:t> </a:t>
            </a:r>
            <a:r>
              <a:rPr sz="4000" dirty="0"/>
              <a:t>regression</a:t>
            </a:r>
            <a:r>
              <a:rPr sz="4000" spc="-75" dirty="0"/>
              <a:t> </a:t>
            </a:r>
            <a:r>
              <a:rPr sz="4000" dirty="0"/>
              <a:t>on</a:t>
            </a:r>
            <a:r>
              <a:rPr sz="4000" spc="-80" dirty="0"/>
              <a:t> </a:t>
            </a:r>
            <a:r>
              <a:rPr sz="4000" dirty="0"/>
              <a:t>the</a:t>
            </a:r>
            <a:r>
              <a:rPr sz="4000" spc="-80" dirty="0"/>
              <a:t> </a:t>
            </a:r>
            <a:r>
              <a:rPr sz="4000" spc="-20" dirty="0"/>
              <a:t>data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91962" y="1424787"/>
            <a:ext cx="11243310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Load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yerkes.dods.csv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file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Canvas</a:t>
            </a:r>
            <a:endParaRPr sz="26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Inspect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generate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descriptive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statistics</a:t>
            </a:r>
            <a:endParaRPr sz="2600">
              <a:latin typeface="Georgia"/>
              <a:cs typeface="Georgia"/>
            </a:endParaRPr>
          </a:p>
          <a:p>
            <a:pPr marL="193040" marR="1031240" indent="-180975">
              <a:lnSpc>
                <a:spcPts val="2520"/>
              </a:lnSpc>
              <a:spcBef>
                <a:spcPts val="1160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save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linear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perf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arous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the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predictor</a:t>
            </a:r>
            <a:endParaRPr sz="26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Interpret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results</a:t>
            </a:r>
            <a:endParaRPr sz="2600">
              <a:latin typeface="Georgia"/>
              <a:cs typeface="Georgia"/>
            </a:endParaRPr>
          </a:p>
          <a:p>
            <a:pPr marL="193040" marR="248920" indent="-180975">
              <a:lnSpc>
                <a:spcPct val="80000"/>
              </a:lnSpc>
              <a:spcBef>
                <a:spcPts val="1205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Generate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inspect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following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fitted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vs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residual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plot,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histogram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the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residuals,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qq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plot</a:t>
            </a:r>
            <a:endParaRPr sz="2600">
              <a:latin typeface="Georgia"/>
              <a:cs typeface="Georgia"/>
            </a:endParaRPr>
          </a:p>
          <a:p>
            <a:pPr marL="193040" marR="5080" indent="-180975">
              <a:lnSpc>
                <a:spcPts val="2500"/>
              </a:lnSpc>
              <a:spcBef>
                <a:spcPts val="1175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Now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run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save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adding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quadratic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term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(you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decide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which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method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want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do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add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this)</a:t>
            </a:r>
            <a:endParaRPr sz="26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1936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Interpret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results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460" y="545084"/>
            <a:ext cx="8580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Multiple</a:t>
            </a:r>
            <a:r>
              <a:rPr sz="3600" spc="-125" dirty="0"/>
              <a:t> </a:t>
            </a:r>
            <a:r>
              <a:rPr sz="3600" dirty="0"/>
              <a:t>and</a:t>
            </a:r>
            <a:r>
              <a:rPr sz="3600" spc="-130" dirty="0"/>
              <a:t> </a:t>
            </a:r>
            <a:r>
              <a:rPr sz="3600" dirty="0"/>
              <a:t>Polynomial</a:t>
            </a:r>
            <a:r>
              <a:rPr sz="3600" spc="-135" dirty="0"/>
              <a:t> </a:t>
            </a:r>
            <a:r>
              <a:rPr sz="3600" spc="-10" dirty="0"/>
              <a:t>Regression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48861" y="2043684"/>
            <a:ext cx="4658995" cy="39395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18440" marR="30480" indent="-180975">
              <a:lnSpc>
                <a:spcPts val="2810"/>
              </a:lnSpc>
              <a:spcBef>
                <a:spcPts val="450"/>
              </a:spcBef>
              <a:buFont typeface="Arial"/>
              <a:buChar char="•"/>
              <a:tabLst>
                <a:tab pos="2184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One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dependent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Y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predicted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600" b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001158"/>
                </a:solidFill>
                <a:latin typeface="Georgia"/>
                <a:cs typeface="Georgia"/>
              </a:rPr>
              <a:t>set</a:t>
            </a:r>
            <a:r>
              <a:rPr sz="2600" b="1" spc="-25" dirty="0">
                <a:solidFill>
                  <a:srgbClr val="001158"/>
                </a:solidFill>
                <a:latin typeface="Georgia"/>
                <a:cs typeface="Georgia"/>
              </a:rPr>
              <a:t> of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independent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(X1,</a:t>
            </a:r>
            <a:r>
              <a:rPr sz="26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X2</a:t>
            </a:r>
            <a:endParaRPr sz="2600">
              <a:latin typeface="Georgia"/>
              <a:cs typeface="Georgia"/>
            </a:endParaRPr>
          </a:p>
          <a:p>
            <a:pPr marL="218440">
              <a:lnSpc>
                <a:spcPts val="2740"/>
              </a:lnSpc>
            </a:pP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….Xk)</a:t>
            </a:r>
            <a:endParaRPr sz="2600">
              <a:latin typeface="Georgia"/>
              <a:cs typeface="Georgia"/>
            </a:endParaRPr>
          </a:p>
          <a:p>
            <a:pPr marL="218440" marR="141605" indent="-180975">
              <a:lnSpc>
                <a:spcPts val="2810"/>
              </a:lnSpc>
              <a:spcBef>
                <a:spcPts val="1240"/>
              </a:spcBef>
              <a:buFont typeface="Arial"/>
              <a:buChar char="•"/>
              <a:tabLst>
                <a:tab pos="2184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One</a:t>
            </a:r>
            <a:r>
              <a:rPr sz="26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6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coefficient</a:t>
            </a:r>
            <a:r>
              <a:rPr sz="26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for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6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independent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endParaRPr sz="2600">
              <a:latin typeface="Georgia"/>
              <a:cs typeface="Georgia"/>
            </a:endParaRPr>
          </a:p>
          <a:p>
            <a:pPr marL="219075" marR="130175" indent="-180975">
              <a:lnSpc>
                <a:spcPct val="89700"/>
              </a:lnSpc>
              <a:spcBef>
                <a:spcPts val="1240"/>
              </a:spcBef>
              <a:buFont typeface="Arial"/>
              <a:buChar char="•"/>
              <a:tabLst>
                <a:tab pos="219075" algn="l"/>
              </a:tabLst>
            </a:pPr>
            <a:r>
              <a:rPr sz="2600" b="1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550" b="1" baseline="26143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proportion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variation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in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dependent</a:t>
            </a:r>
            <a:r>
              <a:rPr sz="2600" spc="-9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600" spc="-9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Y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predictable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by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set</a:t>
            </a:r>
            <a:r>
              <a:rPr sz="2600" b="1" u="heavy" spc="-3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u="heavy" spc="-2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of</a:t>
            </a:r>
            <a:r>
              <a:rPr sz="2600" b="1" u="none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u="none" dirty="0">
                <a:solidFill>
                  <a:srgbClr val="001158"/>
                </a:solidFill>
                <a:latin typeface="Georgia"/>
                <a:cs typeface="Georgia"/>
              </a:rPr>
              <a:t>independent</a:t>
            </a:r>
            <a:r>
              <a:rPr sz="2600" u="none" spc="-9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u="none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600" u="none" spc="-9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u="none" spc="-10" dirty="0">
                <a:solidFill>
                  <a:srgbClr val="001158"/>
                </a:solidFill>
                <a:latin typeface="Georgia"/>
                <a:cs typeface="Georgia"/>
              </a:rPr>
              <a:t>(X’s)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77272" y="2043785"/>
            <a:ext cx="4674235" cy="429577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93040" marR="70485" indent="-180975">
              <a:lnSpc>
                <a:spcPts val="2810"/>
              </a:lnSpc>
              <a:spcBef>
                <a:spcPts val="450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One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dependent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Y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predicted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600" b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001158"/>
                </a:solidFill>
                <a:latin typeface="Georgia"/>
                <a:cs typeface="Georgia"/>
              </a:rPr>
              <a:t>set</a:t>
            </a:r>
            <a:r>
              <a:rPr sz="2600" b="1" spc="-25" dirty="0">
                <a:solidFill>
                  <a:srgbClr val="001158"/>
                </a:solidFill>
                <a:latin typeface="Georgia"/>
                <a:cs typeface="Georgia"/>
              </a:rPr>
              <a:t> of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independent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(X1,</a:t>
            </a:r>
            <a:r>
              <a:rPr sz="26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X2</a:t>
            </a:r>
            <a:endParaRPr sz="2600">
              <a:latin typeface="Georgia"/>
              <a:cs typeface="Georgia"/>
            </a:endParaRPr>
          </a:p>
          <a:p>
            <a:pPr marL="193040">
              <a:lnSpc>
                <a:spcPts val="2740"/>
              </a:lnSpc>
            </a:pP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….Xk)</a:t>
            </a:r>
            <a:endParaRPr sz="2600">
              <a:latin typeface="Georgia"/>
              <a:cs typeface="Georgia"/>
            </a:endParaRPr>
          </a:p>
          <a:p>
            <a:pPr marL="193040" marR="182245" indent="-180975">
              <a:lnSpc>
                <a:spcPts val="2810"/>
              </a:lnSpc>
              <a:spcBef>
                <a:spcPts val="1240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One</a:t>
            </a:r>
            <a:r>
              <a:rPr sz="2600" spc="-8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6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coefficient</a:t>
            </a:r>
            <a:r>
              <a:rPr sz="26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for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26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independent</a:t>
            </a:r>
            <a:r>
              <a:rPr sz="26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endParaRPr sz="2600">
              <a:latin typeface="Georgia"/>
              <a:cs typeface="Georgia"/>
            </a:endParaRPr>
          </a:p>
          <a:p>
            <a:pPr marL="193040" marR="5080" indent="-180975">
              <a:lnSpc>
                <a:spcPct val="89800"/>
              </a:lnSpc>
              <a:spcBef>
                <a:spcPts val="1235"/>
              </a:spcBef>
              <a:buFont typeface="Arial"/>
              <a:buChar char="•"/>
              <a:tabLst>
                <a:tab pos="193040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Independent</a:t>
            </a:r>
            <a:r>
              <a:rPr sz="2600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600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become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variables</a:t>
            </a:r>
            <a:r>
              <a:rPr sz="2600" b="1" i="1" u="heavy" spc="-6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raised</a:t>
            </a:r>
            <a:r>
              <a:rPr sz="2600" b="1" i="1" u="heavy" spc="-6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spc="-3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to</a:t>
            </a:r>
            <a:r>
              <a:rPr sz="2600" b="1" i="1" u="none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increasing</a:t>
            </a:r>
            <a:r>
              <a:rPr sz="2600" b="1" i="1" u="heavy" spc="-7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degrees</a:t>
            </a:r>
            <a:r>
              <a:rPr sz="2600" b="1" i="1" u="heavy" spc="-7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of</a:t>
            </a:r>
            <a:r>
              <a:rPr sz="2600" b="1" i="1" u="heavy" spc="-7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spc="-2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the</a:t>
            </a:r>
            <a:r>
              <a:rPr sz="2600" b="1" i="1" u="none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polynomial</a:t>
            </a:r>
            <a:r>
              <a:rPr sz="2600" b="1" i="1" u="heavy" spc="-5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(the</a:t>
            </a:r>
            <a:r>
              <a:rPr sz="2600" b="1" i="1" u="heavy" spc="-5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spc="-1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exponent</a:t>
            </a:r>
            <a:r>
              <a:rPr sz="2600" b="1" i="1" u="none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they</a:t>
            </a:r>
            <a:r>
              <a:rPr sz="2600" b="1" i="1" u="heavy" spc="-40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are</a:t>
            </a:r>
            <a:r>
              <a:rPr sz="2600" b="1" i="1" u="heavy" spc="-3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raised</a:t>
            </a:r>
            <a:r>
              <a:rPr sz="2600" b="1" i="1" u="heavy" spc="-3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 </a:t>
            </a:r>
            <a:r>
              <a:rPr sz="2600" b="1" i="1" u="heavy" spc="-25" dirty="0">
                <a:solidFill>
                  <a:srgbClr val="001158"/>
                </a:solidFill>
                <a:uFill>
                  <a:solidFill>
                    <a:srgbClr val="001158"/>
                  </a:solidFill>
                </a:uFill>
                <a:latin typeface="Georgia"/>
                <a:cs typeface="Georgia"/>
              </a:rPr>
              <a:t>to)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710" y="1435391"/>
            <a:ext cx="5133975" cy="393700"/>
          </a:xfrm>
          <a:custGeom>
            <a:avLst/>
            <a:gdLst/>
            <a:ahLst/>
            <a:cxnLst/>
            <a:rect l="l" t="t" r="r" b="b"/>
            <a:pathLst>
              <a:path w="5133975" h="393700">
                <a:moveTo>
                  <a:pt x="5133975" y="0"/>
                </a:moveTo>
                <a:lnTo>
                  <a:pt x="5133975" y="0"/>
                </a:lnTo>
                <a:lnTo>
                  <a:pt x="0" y="0"/>
                </a:lnTo>
                <a:lnTo>
                  <a:pt x="0" y="393700"/>
                </a:lnTo>
                <a:lnTo>
                  <a:pt x="5133975" y="393700"/>
                </a:lnTo>
                <a:lnTo>
                  <a:pt x="513397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3741" y="1422437"/>
            <a:ext cx="5032375" cy="393700"/>
          </a:xfrm>
          <a:custGeom>
            <a:avLst/>
            <a:gdLst/>
            <a:ahLst/>
            <a:cxnLst/>
            <a:rect l="l" t="t" r="r" b="b"/>
            <a:pathLst>
              <a:path w="5032375" h="393700">
                <a:moveTo>
                  <a:pt x="5032375" y="0"/>
                </a:moveTo>
                <a:lnTo>
                  <a:pt x="5032375" y="0"/>
                </a:lnTo>
                <a:lnTo>
                  <a:pt x="0" y="0"/>
                </a:lnTo>
                <a:lnTo>
                  <a:pt x="0" y="393700"/>
                </a:lnTo>
                <a:lnTo>
                  <a:pt x="5032375" y="393700"/>
                </a:lnTo>
                <a:lnTo>
                  <a:pt x="503237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2312" y="1384300"/>
            <a:ext cx="110712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6010910" algn="l"/>
              </a:tabLst>
            </a:pPr>
            <a:r>
              <a:rPr sz="2800" dirty="0">
                <a:latin typeface="Georgia"/>
                <a:cs typeface="Georgia"/>
              </a:rPr>
              <a:t>Y</a:t>
            </a:r>
            <a:r>
              <a:rPr sz="2850" i="1" baseline="-17543" dirty="0">
                <a:latin typeface="Georgia"/>
                <a:cs typeface="Georgia"/>
              </a:rPr>
              <a:t>i</a:t>
            </a:r>
            <a:r>
              <a:rPr sz="2850" i="1" spc="262" baseline="-17543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=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i="1" dirty="0">
                <a:latin typeface="Georgia"/>
                <a:cs typeface="Georgia"/>
              </a:rPr>
              <a:t>b</a:t>
            </a:r>
            <a:r>
              <a:rPr sz="2850" baseline="-17543" dirty="0">
                <a:latin typeface="Georgia"/>
                <a:cs typeface="Georgia"/>
              </a:rPr>
              <a:t>0</a:t>
            </a:r>
            <a:r>
              <a:rPr sz="2850" spc="270" baseline="-17543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+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i="1" dirty="0">
                <a:latin typeface="Georgia"/>
                <a:cs typeface="Georgia"/>
              </a:rPr>
              <a:t>b</a:t>
            </a:r>
            <a:r>
              <a:rPr sz="2850" baseline="-17543" dirty="0">
                <a:latin typeface="Georgia"/>
                <a:cs typeface="Georgia"/>
              </a:rPr>
              <a:t>1</a:t>
            </a:r>
            <a:r>
              <a:rPr sz="2800" i="1" dirty="0">
                <a:latin typeface="Georgia"/>
                <a:cs typeface="Georgia"/>
              </a:rPr>
              <a:t>X</a:t>
            </a:r>
            <a:r>
              <a:rPr sz="2850" baseline="-17543" dirty="0">
                <a:latin typeface="Georgia"/>
                <a:cs typeface="Georgia"/>
              </a:rPr>
              <a:t>1</a:t>
            </a:r>
            <a:r>
              <a:rPr sz="2850" spc="270" baseline="-17543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+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i="1" dirty="0">
                <a:latin typeface="Georgia"/>
                <a:cs typeface="Georgia"/>
              </a:rPr>
              <a:t>b</a:t>
            </a:r>
            <a:r>
              <a:rPr sz="2850" baseline="-17543" dirty="0">
                <a:latin typeface="Georgia"/>
                <a:cs typeface="Georgia"/>
              </a:rPr>
              <a:t>2</a:t>
            </a:r>
            <a:r>
              <a:rPr sz="2800" i="1" dirty="0">
                <a:latin typeface="Georgia"/>
                <a:cs typeface="Georgia"/>
              </a:rPr>
              <a:t>X</a:t>
            </a:r>
            <a:r>
              <a:rPr sz="2850" baseline="-17543" dirty="0">
                <a:latin typeface="Georgia"/>
                <a:cs typeface="Georgia"/>
              </a:rPr>
              <a:t>2</a:t>
            </a:r>
            <a:r>
              <a:rPr sz="2850" spc="-75" baseline="-17543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+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…</a:t>
            </a:r>
            <a:r>
              <a:rPr sz="2800" i="1" dirty="0">
                <a:latin typeface="Georgia"/>
                <a:cs typeface="Georgia"/>
              </a:rPr>
              <a:t>b</a:t>
            </a:r>
            <a:r>
              <a:rPr sz="2850" baseline="-17543" dirty="0">
                <a:latin typeface="Georgia"/>
                <a:cs typeface="Georgia"/>
              </a:rPr>
              <a:t>n</a:t>
            </a:r>
            <a:r>
              <a:rPr sz="2800" i="1" dirty="0">
                <a:latin typeface="Georgia"/>
                <a:cs typeface="Georgia"/>
              </a:rPr>
              <a:t>X</a:t>
            </a:r>
            <a:r>
              <a:rPr sz="2850" baseline="-17543" dirty="0">
                <a:latin typeface="Georgia"/>
                <a:cs typeface="Georgia"/>
              </a:rPr>
              <a:t>n</a:t>
            </a:r>
            <a:r>
              <a:rPr sz="2800" dirty="0">
                <a:latin typeface="Georgia"/>
                <a:cs typeface="Georgia"/>
              </a:rPr>
              <a:t>+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i="1" spc="-25" dirty="0">
                <a:latin typeface="Georgia"/>
                <a:cs typeface="Georgia"/>
              </a:rPr>
              <a:t>ε</a:t>
            </a:r>
            <a:r>
              <a:rPr sz="2850" i="1" spc="-37" baseline="-17543" dirty="0">
                <a:latin typeface="Georgia"/>
                <a:cs typeface="Georgia"/>
              </a:rPr>
              <a:t>i</a:t>
            </a:r>
            <a:r>
              <a:rPr sz="2850" i="1" baseline="-17543" dirty="0">
                <a:latin typeface="Georgia"/>
                <a:cs typeface="Georgia"/>
              </a:rPr>
              <a:t>	</a:t>
            </a:r>
            <a:r>
              <a:rPr sz="4200" baseline="1984" dirty="0">
                <a:latin typeface="Georgia"/>
                <a:cs typeface="Georgia"/>
              </a:rPr>
              <a:t>Y</a:t>
            </a:r>
            <a:r>
              <a:rPr sz="2850" i="1" baseline="-14619" dirty="0">
                <a:latin typeface="Georgia"/>
                <a:cs typeface="Georgia"/>
              </a:rPr>
              <a:t>i</a:t>
            </a:r>
            <a:r>
              <a:rPr sz="2850" i="1" spc="262" baseline="-14619" dirty="0">
                <a:latin typeface="Georgia"/>
                <a:cs typeface="Georgia"/>
              </a:rPr>
              <a:t> </a:t>
            </a:r>
            <a:r>
              <a:rPr sz="4200" baseline="1984" dirty="0">
                <a:latin typeface="Georgia"/>
                <a:cs typeface="Georgia"/>
              </a:rPr>
              <a:t>=</a:t>
            </a:r>
            <a:r>
              <a:rPr sz="4200" spc="-44" baseline="1984" dirty="0">
                <a:latin typeface="Georgia"/>
                <a:cs typeface="Georgia"/>
              </a:rPr>
              <a:t> </a:t>
            </a:r>
            <a:r>
              <a:rPr sz="4200" i="1" baseline="1984" dirty="0">
                <a:latin typeface="Georgia"/>
                <a:cs typeface="Georgia"/>
              </a:rPr>
              <a:t>b</a:t>
            </a:r>
            <a:r>
              <a:rPr sz="2850" baseline="-14619" dirty="0">
                <a:latin typeface="Georgia"/>
                <a:cs typeface="Georgia"/>
              </a:rPr>
              <a:t>0</a:t>
            </a:r>
            <a:r>
              <a:rPr sz="2850" spc="270" baseline="-14619" dirty="0">
                <a:latin typeface="Georgia"/>
                <a:cs typeface="Georgia"/>
              </a:rPr>
              <a:t> </a:t>
            </a:r>
            <a:r>
              <a:rPr sz="4200" baseline="1984" dirty="0">
                <a:latin typeface="Georgia"/>
                <a:cs typeface="Georgia"/>
              </a:rPr>
              <a:t>+</a:t>
            </a:r>
            <a:r>
              <a:rPr sz="4200" spc="-44" baseline="1984" dirty="0">
                <a:latin typeface="Georgia"/>
                <a:cs typeface="Georgia"/>
              </a:rPr>
              <a:t> </a:t>
            </a:r>
            <a:r>
              <a:rPr sz="4200" i="1" baseline="1984" dirty="0">
                <a:latin typeface="Georgia"/>
                <a:cs typeface="Georgia"/>
              </a:rPr>
              <a:t>b</a:t>
            </a:r>
            <a:r>
              <a:rPr sz="2850" baseline="-14619" dirty="0">
                <a:latin typeface="Georgia"/>
                <a:cs typeface="Georgia"/>
              </a:rPr>
              <a:t>1</a:t>
            </a:r>
            <a:r>
              <a:rPr sz="4200" i="1" baseline="1984" dirty="0">
                <a:latin typeface="Georgia"/>
                <a:cs typeface="Georgia"/>
              </a:rPr>
              <a:t>X</a:t>
            </a:r>
            <a:r>
              <a:rPr sz="4200" i="1" spc="-37" baseline="1984" dirty="0">
                <a:latin typeface="Georgia"/>
                <a:cs typeface="Georgia"/>
              </a:rPr>
              <a:t> </a:t>
            </a:r>
            <a:r>
              <a:rPr sz="4200" baseline="1984" dirty="0">
                <a:latin typeface="Georgia"/>
                <a:cs typeface="Georgia"/>
              </a:rPr>
              <a:t>+</a:t>
            </a:r>
            <a:r>
              <a:rPr sz="4200" spc="-44" baseline="1984" dirty="0">
                <a:latin typeface="Georgia"/>
                <a:cs typeface="Georgia"/>
              </a:rPr>
              <a:t> </a:t>
            </a:r>
            <a:r>
              <a:rPr sz="4200" i="1" baseline="1984" dirty="0">
                <a:latin typeface="Georgia"/>
                <a:cs typeface="Georgia"/>
              </a:rPr>
              <a:t>b</a:t>
            </a:r>
            <a:r>
              <a:rPr sz="2850" baseline="-14619" dirty="0">
                <a:latin typeface="Georgia"/>
                <a:cs typeface="Georgia"/>
              </a:rPr>
              <a:t>2</a:t>
            </a:r>
            <a:r>
              <a:rPr sz="4200" i="1" baseline="1984" dirty="0">
                <a:latin typeface="Georgia"/>
                <a:cs typeface="Georgia"/>
              </a:rPr>
              <a:t>X</a:t>
            </a:r>
            <a:r>
              <a:rPr sz="2850" baseline="26315" dirty="0">
                <a:latin typeface="Georgia"/>
                <a:cs typeface="Georgia"/>
              </a:rPr>
              <a:t>2</a:t>
            </a:r>
            <a:r>
              <a:rPr sz="2850" spc="-75" baseline="26315" dirty="0">
                <a:latin typeface="Georgia"/>
                <a:cs typeface="Georgia"/>
              </a:rPr>
              <a:t> </a:t>
            </a:r>
            <a:r>
              <a:rPr sz="4200" baseline="1984" dirty="0">
                <a:latin typeface="Georgia"/>
                <a:cs typeface="Georgia"/>
              </a:rPr>
              <a:t>+</a:t>
            </a:r>
            <a:r>
              <a:rPr sz="4200" spc="-44" baseline="1984" dirty="0">
                <a:latin typeface="Georgia"/>
                <a:cs typeface="Georgia"/>
              </a:rPr>
              <a:t> </a:t>
            </a:r>
            <a:r>
              <a:rPr sz="4200" baseline="1984" dirty="0">
                <a:latin typeface="Georgia"/>
                <a:cs typeface="Georgia"/>
              </a:rPr>
              <a:t>…</a:t>
            </a:r>
            <a:r>
              <a:rPr sz="4200" i="1" baseline="1984" dirty="0">
                <a:latin typeface="Georgia"/>
                <a:cs typeface="Georgia"/>
              </a:rPr>
              <a:t>b</a:t>
            </a:r>
            <a:r>
              <a:rPr sz="2850" baseline="-14619" dirty="0">
                <a:latin typeface="Georgia"/>
                <a:cs typeface="Georgia"/>
              </a:rPr>
              <a:t>n</a:t>
            </a:r>
            <a:r>
              <a:rPr sz="4200" i="1" baseline="1984" dirty="0">
                <a:latin typeface="Georgia"/>
                <a:cs typeface="Georgia"/>
              </a:rPr>
              <a:t>X</a:t>
            </a:r>
            <a:r>
              <a:rPr sz="2850" baseline="26315" dirty="0">
                <a:latin typeface="Georgia"/>
                <a:cs typeface="Georgia"/>
              </a:rPr>
              <a:t>n</a:t>
            </a:r>
            <a:r>
              <a:rPr sz="4200" baseline="1984" dirty="0">
                <a:latin typeface="Georgia"/>
                <a:cs typeface="Georgia"/>
              </a:rPr>
              <a:t>+</a:t>
            </a:r>
            <a:r>
              <a:rPr sz="4200" spc="-37" baseline="1984" dirty="0">
                <a:latin typeface="Georgia"/>
                <a:cs typeface="Georgia"/>
              </a:rPr>
              <a:t> </a:t>
            </a:r>
            <a:r>
              <a:rPr sz="4200" i="1" spc="-37" baseline="1984" dirty="0">
                <a:latin typeface="Georgia"/>
                <a:cs typeface="Georgia"/>
              </a:rPr>
              <a:t>ε</a:t>
            </a:r>
            <a:r>
              <a:rPr sz="2850" i="1" spc="-37" baseline="-14619" dirty="0">
                <a:latin typeface="Georgia"/>
                <a:cs typeface="Georgia"/>
              </a:rPr>
              <a:t>i</a:t>
            </a:r>
            <a:endParaRPr sz="2850" baseline="-14619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15988" y="1430900"/>
            <a:ext cx="361950" cy="4904740"/>
          </a:xfrm>
          <a:custGeom>
            <a:avLst/>
            <a:gdLst/>
            <a:ahLst/>
            <a:cxnLst/>
            <a:rect l="l" t="t" r="r" b="b"/>
            <a:pathLst>
              <a:path w="361950" h="4904740">
                <a:moveTo>
                  <a:pt x="361765" y="0"/>
                </a:moveTo>
                <a:lnTo>
                  <a:pt x="0" y="4904459"/>
                </a:lnTo>
              </a:path>
            </a:pathLst>
          </a:custGeom>
          <a:ln w="12693">
            <a:solidFill>
              <a:srgbClr val="0011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962" y="497332"/>
            <a:ext cx="5791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Compare</a:t>
            </a:r>
            <a:r>
              <a:rPr sz="4000" spc="-60" dirty="0"/>
              <a:t> </a:t>
            </a:r>
            <a:r>
              <a:rPr sz="4000" dirty="0"/>
              <a:t>your</a:t>
            </a:r>
            <a:r>
              <a:rPr sz="4000" spc="-50" dirty="0"/>
              <a:t> </a:t>
            </a:r>
            <a:r>
              <a:rPr sz="4000" spc="-10" dirty="0"/>
              <a:t>models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66562" y="1430019"/>
            <a:ext cx="10825480" cy="308546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18440" indent="-18034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2184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Compare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your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anova()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AIC</a:t>
            </a:r>
            <a:endParaRPr sz="2800">
              <a:latin typeface="Georgia"/>
              <a:cs typeface="Georgia"/>
            </a:endParaRPr>
          </a:p>
          <a:p>
            <a:pPr marL="2184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184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Which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fits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better?</a:t>
            </a:r>
            <a:endParaRPr sz="2800">
              <a:latin typeface="Georgia"/>
              <a:cs typeface="Georgia"/>
            </a:endParaRPr>
          </a:p>
          <a:p>
            <a:pPr marL="218440" indent="-18034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184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What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change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850" spc="-37" baseline="23391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?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350"/>
              </a:spcBef>
              <a:buClr>
                <a:srgbClr val="001158"/>
              </a:buClr>
              <a:buFont typeface="Arial"/>
              <a:buChar char="•"/>
            </a:pPr>
            <a:endParaRPr sz="2800">
              <a:latin typeface="Georgia"/>
              <a:cs typeface="Georgia"/>
            </a:endParaRPr>
          </a:p>
          <a:p>
            <a:pPr marL="217170" marR="17780" indent="-180340">
              <a:lnSpc>
                <a:spcPts val="3000"/>
              </a:lnSpc>
              <a:buFont typeface="Arial"/>
              <a:buChar char="•"/>
              <a:tabLst>
                <a:tab pos="2184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Now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check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if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you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have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any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problems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multicollinearity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(you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may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need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manually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create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quadratic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variable)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" y="228598"/>
            <a:ext cx="11881485" cy="6099810"/>
          </a:xfrm>
          <a:custGeom>
            <a:avLst/>
            <a:gdLst/>
            <a:ahLst/>
            <a:cxnLst/>
            <a:rect l="l" t="t" r="r" b="b"/>
            <a:pathLst>
              <a:path w="11881485" h="6099810">
                <a:moveTo>
                  <a:pt x="0" y="0"/>
                </a:moveTo>
                <a:lnTo>
                  <a:pt x="11881137" y="0"/>
                </a:lnTo>
                <a:lnTo>
                  <a:pt x="11881137" y="6099758"/>
                </a:lnTo>
                <a:lnTo>
                  <a:pt x="0" y="6099758"/>
                </a:lnTo>
                <a:lnTo>
                  <a:pt x="0" y="0"/>
                </a:lnTo>
                <a:close/>
              </a:path>
            </a:pathLst>
          </a:custGeom>
          <a:ln w="32751">
            <a:solidFill>
              <a:srgbClr val="00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Essential</a:t>
            </a:r>
            <a:r>
              <a:rPr sz="4000" spc="-135" dirty="0"/>
              <a:t> </a:t>
            </a:r>
            <a:r>
              <a:rPr sz="4000" dirty="0"/>
              <a:t>vs.</a:t>
            </a:r>
            <a:r>
              <a:rPr sz="4000" spc="-130" dirty="0"/>
              <a:t> </a:t>
            </a:r>
            <a:r>
              <a:rPr sz="4000" dirty="0"/>
              <a:t>Nonessential</a:t>
            </a:r>
            <a:r>
              <a:rPr sz="4000" spc="-135" dirty="0"/>
              <a:t> </a:t>
            </a:r>
            <a:r>
              <a:rPr sz="4000" spc="-10" dirty="0"/>
              <a:t>Multicollinearity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25" dirty="0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262" y="1189228"/>
            <a:ext cx="11374755" cy="42157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05104" marR="137795" indent="-18034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063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Computing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powers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predictor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X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(X</a:t>
            </a:r>
            <a:r>
              <a:rPr sz="2850" baseline="23391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,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X</a:t>
            </a:r>
            <a:r>
              <a:rPr sz="2850" baseline="23391" dirty="0">
                <a:solidFill>
                  <a:srgbClr val="001158"/>
                </a:solidFill>
                <a:latin typeface="Georgia"/>
                <a:cs typeface="Georgia"/>
              </a:rPr>
              <a:t>3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,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etc.)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may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result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in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predictors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highly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correlated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original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linear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predictor</a:t>
            </a:r>
            <a:endParaRPr sz="2800">
              <a:latin typeface="Georgia"/>
              <a:cs typeface="Georgia"/>
            </a:endParaRPr>
          </a:p>
          <a:p>
            <a:pPr marL="205104" marR="17780" indent="-180340">
              <a:lnSpc>
                <a:spcPts val="3000"/>
              </a:lnSpc>
              <a:spcBef>
                <a:spcPts val="1195"/>
              </a:spcBef>
              <a:buFont typeface="Arial"/>
              <a:buChar char="•"/>
              <a:tabLst>
                <a:tab pos="2063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But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all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lower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order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terms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should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included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predictors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well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(for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interpretability)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Cambria Math"/>
                <a:cs typeface="Cambria Math"/>
              </a:rPr>
              <a:t>⇒</a:t>
            </a:r>
            <a:r>
              <a:rPr sz="2800" spc="10" dirty="0">
                <a:solidFill>
                  <a:srgbClr val="001158"/>
                </a:solidFill>
                <a:latin typeface="Cambria Math"/>
                <a:cs typeface="Cambria Math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multicollinearity!</a:t>
            </a:r>
            <a:endParaRPr sz="2800">
              <a:latin typeface="Georgia"/>
              <a:cs typeface="Georgia"/>
            </a:endParaRPr>
          </a:p>
          <a:p>
            <a:pPr marL="205740" indent="-18034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2057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Two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types:</a:t>
            </a:r>
            <a:endParaRPr sz="2800">
              <a:latin typeface="Georgia"/>
              <a:cs typeface="Georgia"/>
            </a:endParaRPr>
          </a:p>
          <a:p>
            <a:pPr marL="385445" marR="695325" lvl="1" indent="-179705">
              <a:lnSpc>
                <a:spcPct val="128299"/>
              </a:lnSpc>
              <a:spcBef>
                <a:spcPts val="140"/>
              </a:spcBef>
              <a:buFont typeface="Arial"/>
              <a:buChar char="-"/>
              <a:tabLst>
                <a:tab pos="93916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Nonessential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multicollinearity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(merely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due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scaling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non-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zero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mean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X) 	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Solution:</a:t>
            </a:r>
            <a:r>
              <a:rPr sz="2400" spc="-65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centering</a:t>
            </a:r>
            <a:r>
              <a:rPr sz="2400" spc="-65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X</a:t>
            </a:r>
            <a:r>
              <a:rPr sz="2400" spc="-70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before</a:t>
            </a:r>
            <a:r>
              <a:rPr sz="2400" spc="-60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creating</a:t>
            </a:r>
            <a:r>
              <a:rPr sz="2400" spc="-65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polynomial</a:t>
            </a:r>
            <a:r>
              <a:rPr sz="2400" spc="-65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2C55FF"/>
                </a:solidFill>
                <a:latin typeface="Georgia"/>
                <a:cs typeface="Georgia"/>
              </a:rPr>
              <a:t>terms</a:t>
            </a:r>
            <a:endParaRPr sz="2400">
              <a:latin typeface="Georgia"/>
              <a:cs typeface="Georgia"/>
            </a:endParaRPr>
          </a:p>
          <a:p>
            <a:pPr marL="385445" marR="1214120" lvl="1" indent="-179705">
              <a:lnSpc>
                <a:spcPts val="3820"/>
              </a:lnSpc>
              <a:spcBef>
                <a:spcPts val="70"/>
              </a:spcBef>
              <a:buFont typeface="Arial"/>
              <a:buChar char="-"/>
              <a:tabLst>
                <a:tab pos="93916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Essential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multicollinearity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(due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nonsymmetry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distribution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X) 	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Possible</a:t>
            </a:r>
            <a:r>
              <a:rPr sz="2400" spc="-85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solution:</a:t>
            </a:r>
            <a:r>
              <a:rPr sz="2400" spc="-85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orthogonal</a:t>
            </a:r>
            <a:r>
              <a:rPr sz="2400" spc="-85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2C55FF"/>
                </a:solidFill>
                <a:latin typeface="Georgia"/>
                <a:cs typeface="Georgia"/>
              </a:rPr>
              <a:t>polynomial</a:t>
            </a:r>
            <a:r>
              <a:rPr sz="2400" spc="-85" dirty="0">
                <a:solidFill>
                  <a:srgbClr val="2C55FF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2C55FF"/>
                </a:solidFill>
                <a:latin typeface="Georgia"/>
                <a:cs typeface="Georgia"/>
              </a:rPr>
              <a:t>regression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475" y="463803"/>
            <a:ext cx="63703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Orthogonal</a:t>
            </a:r>
            <a:r>
              <a:rPr sz="4000" spc="-145" dirty="0"/>
              <a:t> </a:t>
            </a:r>
            <a:r>
              <a:rPr sz="4000" spc="-10" dirty="0"/>
              <a:t>polynomials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70168" y="1383284"/>
            <a:ext cx="7254875" cy="39725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91770" marR="730250" indent="-179705" algn="just">
              <a:lnSpc>
                <a:spcPct val="90400"/>
              </a:lnSpc>
              <a:spcBef>
                <a:spcPts val="375"/>
              </a:spcBef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special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class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that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capture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specific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curve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components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(i.e.,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transformation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the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polynomial</a:t>
            </a:r>
            <a:r>
              <a:rPr sz="24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terms)</a:t>
            </a:r>
            <a:endParaRPr sz="2400">
              <a:latin typeface="Georgia"/>
              <a:cs typeface="Georgia"/>
            </a:endParaRPr>
          </a:p>
          <a:p>
            <a:pPr marL="192405" indent="-179705" algn="just">
              <a:lnSpc>
                <a:spcPct val="100000"/>
              </a:lnSpc>
              <a:spcBef>
                <a:spcPts val="910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Reduces</a:t>
            </a:r>
            <a:r>
              <a:rPr sz="2400" spc="-9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essential</a:t>
            </a:r>
            <a:r>
              <a:rPr sz="2400" spc="-9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multicollinearity</a:t>
            </a:r>
            <a:endParaRPr sz="2400">
              <a:latin typeface="Georgia"/>
              <a:cs typeface="Georgia"/>
            </a:endParaRPr>
          </a:p>
          <a:p>
            <a:pPr marL="191770" marR="191770" indent="-179705">
              <a:lnSpc>
                <a:spcPts val="2590"/>
              </a:lnSpc>
              <a:spcBef>
                <a:spcPts val="1265"/>
              </a:spcBef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But</a:t>
            </a:r>
            <a:r>
              <a:rPr sz="24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poses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challenge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interpretability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because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coefficients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do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not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directly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relate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original 	metric</a:t>
            </a:r>
            <a:endParaRPr sz="2400">
              <a:latin typeface="Georgia"/>
              <a:cs typeface="Georgia"/>
            </a:endParaRPr>
          </a:p>
          <a:p>
            <a:pPr marL="192405" indent="-179705">
              <a:lnSpc>
                <a:spcPct val="100000"/>
              </a:lnSpc>
              <a:spcBef>
                <a:spcPts val="905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Easy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do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using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poly()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lm()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formula</a:t>
            </a:r>
            <a:endParaRPr sz="2400">
              <a:latin typeface="Georgia"/>
              <a:cs typeface="Georgia"/>
            </a:endParaRPr>
          </a:p>
          <a:p>
            <a:pPr marL="191770" marR="466090" indent="-179705">
              <a:lnSpc>
                <a:spcPts val="2590"/>
              </a:lnSpc>
              <a:spcBef>
                <a:spcPts val="1240"/>
              </a:spcBef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See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here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more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info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(but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this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non-essential): 	</a:t>
            </a:r>
            <a:r>
              <a:rPr sz="24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Video</a:t>
            </a:r>
            <a:r>
              <a:rPr sz="2400" u="none" spc="-50" dirty="0">
                <a:solidFill>
                  <a:srgbClr val="0033CC"/>
                </a:solidFill>
                <a:latin typeface="Georgia"/>
                <a:cs typeface="Georgia"/>
              </a:rPr>
              <a:t> </a:t>
            </a:r>
            <a:r>
              <a:rPr sz="2400" u="none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400" u="none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3"/>
              </a:rPr>
              <a:t>visualizations</a:t>
            </a:r>
            <a:r>
              <a:rPr sz="2400" u="none" spc="-50" dirty="0">
                <a:solidFill>
                  <a:srgbClr val="0033CC"/>
                </a:solidFill>
                <a:latin typeface="Georgia"/>
                <a:cs typeface="Georgia"/>
              </a:rPr>
              <a:t> </a:t>
            </a:r>
            <a:r>
              <a:rPr sz="2400" u="none" dirty="0">
                <a:solidFill>
                  <a:srgbClr val="001158"/>
                </a:solidFill>
                <a:latin typeface="Georgia"/>
                <a:cs typeface="Georgia"/>
              </a:rPr>
              <a:t>or</a:t>
            </a:r>
            <a:r>
              <a:rPr sz="2400" u="none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4"/>
              </a:rPr>
              <a:t>paper</a:t>
            </a:r>
            <a:r>
              <a:rPr sz="2400" u="sng" spc="-5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4"/>
              </a:rPr>
              <a:t> </a:t>
            </a:r>
            <a:r>
              <a:rPr sz="24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4"/>
              </a:rPr>
              <a:t>(Narula,</a:t>
            </a:r>
            <a:r>
              <a:rPr sz="2400" u="sng" spc="-5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4"/>
              </a:rPr>
              <a:t> </a:t>
            </a:r>
            <a:r>
              <a:rPr sz="24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4"/>
              </a:rPr>
              <a:t>1979)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41634" y="2213284"/>
            <a:ext cx="3642668" cy="22899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8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Narula</a:t>
            </a:r>
            <a:r>
              <a:rPr spc="-110" dirty="0"/>
              <a:t> </a:t>
            </a:r>
            <a:r>
              <a:rPr dirty="0"/>
              <a:t>(1979):</a:t>
            </a:r>
            <a:r>
              <a:rPr spc="-114" dirty="0"/>
              <a:t> </a:t>
            </a:r>
            <a:r>
              <a:rPr dirty="0"/>
              <a:t>Orthogonal</a:t>
            </a:r>
            <a:r>
              <a:rPr spc="-114" dirty="0"/>
              <a:t> </a:t>
            </a:r>
            <a:r>
              <a:rPr dirty="0"/>
              <a:t>Polynomial</a:t>
            </a:r>
            <a:r>
              <a:rPr spc="-110" dirty="0"/>
              <a:t> </a:t>
            </a:r>
            <a:r>
              <a:rPr spc="-10" dirty="0"/>
              <a:t>Regression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0920" y="1324415"/>
            <a:ext cx="8789977" cy="45524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8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660" y="1072388"/>
            <a:ext cx="6030595" cy="436626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80975" indent="-180975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1809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Polynomial</a:t>
            </a:r>
            <a:r>
              <a:rPr sz="1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1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1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useful</a:t>
            </a:r>
            <a:r>
              <a:rPr sz="1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when:</a:t>
            </a:r>
            <a:endParaRPr sz="1800">
              <a:latin typeface="Georgia"/>
              <a:cs typeface="Georgia"/>
            </a:endParaRPr>
          </a:p>
          <a:p>
            <a:pPr marL="361315" lvl="1" indent="-180340">
              <a:lnSpc>
                <a:spcPct val="100000"/>
              </a:lnSpc>
              <a:spcBef>
                <a:spcPts val="1030"/>
              </a:spcBef>
              <a:buFont typeface="Arial"/>
              <a:buChar char="-"/>
              <a:tabLst>
                <a:tab pos="36131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Predicted</a:t>
            </a:r>
            <a:r>
              <a:rPr sz="1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relationship</a:t>
            </a:r>
            <a:r>
              <a:rPr sz="1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between</a:t>
            </a:r>
            <a:r>
              <a:rPr sz="1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variables</a:t>
            </a:r>
            <a:r>
              <a:rPr sz="1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1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curvilinear</a:t>
            </a:r>
            <a:endParaRPr sz="1800">
              <a:latin typeface="Georgia"/>
              <a:cs typeface="Georgia"/>
            </a:endParaRPr>
          </a:p>
          <a:p>
            <a:pPr marL="361315" lvl="1" indent="-180340">
              <a:lnSpc>
                <a:spcPct val="100000"/>
              </a:lnSpc>
              <a:spcBef>
                <a:spcPts val="940"/>
              </a:spcBef>
              <a:buFont typeface="Arial"/>
              <a:buChar char="-"/>
              <a:tabLst>
                <a:tab pos="36131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Checking</a:t>
            </a:r>
            <a:r>
              <a:rPr sz="1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observe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curve-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like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patterns</a:t>
            </a:r>
            <a:endParaRPr sz="1800">
              <a:latin typeface="Georgia"/>
              <a:cs typeface="Georgia"/>
            </a:endParaRPr>
          </a:p>
          <a:p>
            <a:pPr marL="180975" indent="-181610">
              <a:lnSpc>
                <a:spcPts val="1920"/>
              </a:lnSpc>
              <a:spcBef>
                <a:spcPts val="1295"/>
              </a:spcBef>
              <a:buFont typeface="Arial"/>
              <a:buChar char="•"/>
              <a:tabLst>
                <a:tab pos="1809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Must</a:t>
            </a:r>
            <a:r>
              <a:rPr sz="1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iteratively</a:t>
            </a:r>
            <a:r>
              <a:rPr sz="1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add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polynomial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terms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increasing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order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all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lower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order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terms</a:t>
            </a:r>
            <a:endParaRPr sz="1800">
              <a:latin typeface="Georgia"/>
              <a:cs typeface="Georgia"/>
            </a:endParaRPr>
          </a:p>
          <a:p>
            <a:pPr marL="180975" indent="-180975">
              <a:lnSpc>
                <a:spcPct val="100000"/>
              </a:lnSpc>
              <a:spcBef>
                <a:spcPts val="910"/>
              </a:spcBef>
              <a:buFont typeface="Arial"/>
              <a:buChar char="•"/>
              <a:tabLst>
                <a:tab pos="180975" algn="l"/>
              </a:tabLst>
            </a:pP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Interpretation:</a:t>
            </a:r>
            <a:r>
              <a:rPr sz="1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Comparing</a:t>
            </a:r>
            <a:r>
              <a:rPr sz="1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fit</a:t>
            </a:r>
            <a:endParaRPr sz="1800">
              <a:latin typeface="Georgia"/>
              <a:cs typeface="Georgia"/>
            </a:endParaRPr>
          </a:p>
          <a:p>
            <a:pPr marL="180975" marR="24765" indent="-181610">
              <a:lnSpc>
                <a:spcPts val="1900"/>
              </a:lnSpc>
              <a:spcBef>
                <a:spcPts val="1315"/>
              </a:spcBef>
              <a:buFont typeface="Arial"/>
              <a:buChar char="•"/>
              <a:tabLst>
                <a:tab pos="1809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Sometimes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polynomial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terms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too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highly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correlated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1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each</a:t>
            </a:r>
            <a:r>
              <a:rPr sz="1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other</a:t>
            </a:r>
            <a:endParaRPr sz="1800">
              <a:latin typeface="Georgia"/>
              <a:cs typeface="Georgia"/>
            </a:endParaRPr>
          </a:p>
          <a:p>
            <a:pPr marL="361315" lvl="1" indent="-180340">
              <a:lnSpc>
                <a:spcPct val="100000"/>
              </a:lnSpc>
              <a:spcBef>
                <a:spcPts val="1030"/>
              </a:spcBef>
              <a:buFont typeface="Arial"/>
              <a:buChar char="-"/>
              <a:tabLst>
                <a:tab pos="36131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Create</a:t>
            </a:r>
            <a:r>
              <a:rPr sz="1800" spc="-9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orthogonal</a:t>
            </a:r>
            <a:r>
              <a:rPr sz="18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1800">
              <a:latin typeface="Georgia"/>
              <a:cs typeface="Georgia"/>
            </a:endParaRPr>
          </a:p>
          <a:p>
            <a:pPr marL="360680" marR="480059" lvl="1" indent="-180340">
              <a:lnSpc>
                <a:spcPts val="1989"/>
              </a:lnSpc>
              <a:spcBef>
                <a:spcPts val="1145"/>
              </a:spcBef>
              <a:buFont typeface="Arial"/>
              <a:buChar char="-"/>
              <a:tabLst>
                <a:tab pos="361950" algn="l"/>
              </a:tabLst>
            </a:pPr>
            <a:r>
              <a:rPr sz="1800" b="1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1800" b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158"/>
                </a:solidFill>
                <a:latin typeface="Georgia"/>
                <a:cs typeface="Georgia"/>
              </a:rPr>
              <a:t>practice,</a:t>
            </a:r>
            <a:r>
              <a:rPr sz="1800" b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158"/>
                </a:solidFill>
                <a:latin typeface="Georgia"/>
                <a:cs typeface="Georgia"/>
              </a:rPr>
              <a:t>patterns</a:t>
            </a:r>
            <a:r>
              <a:rPr sz="1800" b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b="1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158"/>
                </a:solidFill>
                <a:latin typeface="Georgia"/>
                <a:cs typeface="Georgia"/>
              </a:rPr>
              <a:t>results</a:t>
            </a:r>
            <a:r>
              <a:rPr sz="1800" b="1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158"/>
                </a:solidFill>
                <a:latin typeface="Georgia"/>
                <a:cs typeface="Georgia"/>
              </a:rPr>
              <a:t>should</a:t>
            </a:r>
            <a:r>
              <a:rPr sz="1800" b="1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1800" b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b="1" spc="-25" dirty="0">
                <a:solidFill>
                  <a:srgbClr val="001158"/>
                </a:solidFill>
                <a:latin typeface="Georgia"/>
                <a:cs typeface="Georgia"/>
              </a:rPr>
              <a:t>the 	</a:t>
            </a:r>
            <a:r>
              <a:rPr sz="1800" b="1" spc="-20" dirty="0">
                <a:solidFill>
                  <a:srgbClr val="001158"/>
                </a:solidFill>
                <a:latin typeface="Georgia"/>
                <a:cs typeface="Georgia"/>
              </a:rPr>
              <a:t>same</a:t>
            </a:r>
            <a:endParaRPr sz="1800">
              <a:latin typeface="Georgia"/>
              <a:cs typeface="Georgia"/>
            </a:endParaRPr>
          </a:p>
          <a:p>
            <a:pPr marL="180975">
              <a:lnSpc>
                <a:spcPct val="100000"/>
              </a:lnSpc>
              <a:spcBef>
                <a:spcPts val="900"/>
              </a:spcBef>
            </a:pPr>
            <a:r>
              <a:rPr sz="1800" spc="-5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5842" y="1294096"/>
            <a:ext cx="5228037" cy="47044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960" y="222097"/>
            <a:ext cx="10272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Preparing</a:t>
            </a:r>
            <a:r>
              <a:rPr sz="4000" spc="-80" dirty="0"/>
              <a:t> </a:t>
            </a:r>
            <a:r>
              <a:rPr sz="4000" dirty="0"/>
              <a:t>for</a:t>
            </a:r>
            <a:r>
              <a:rPr sz="4000" spc="-80" dirty="0"/>
              <a:t> </a:t>
            </a:r>
            <a:r>
              <a:rPr sz="4000" dirty="0"/>
              <a:t>Module</a:t>
            </a:r>
            <a:r>
              <a:rPr sz="4000" spc="-80" dirty="0"/>
              <a:t> </a:t>
            </a:r>
            <a:r>
              <a:rPr sz="4000" dirty="0"/>
              <a:t>11:</a:t>
            </a:r>
            <a:r>
              <a:rPr sz="4000" spc="-80" dirty="0"/>
              <a:t> </a:t>
            </a:r>
            <a:r>
              <a:rPr sz="4000" dirty="0"/>
              <a:t>Mixed</a:t>
            </a:r>
            <a:r>
              <a:rPr sz="4000" spc="-80" dirty="0"/>
              <a:t> </a:t>
            </a:r>
            <a:r>
              <a:rPr sz="4000" spc="-10" dirty="0"/>
              <a:t>models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1686435" y="6565342"/>
            <a:ext cx="11112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2849" y="1145324"/>
            <a:ext cx="8493760" cy="321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marR="109855" indent="-360680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Winter,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B.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(2013).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Linear</a:t>
            </a:r>
            <a:r>
              <a:rPr sz="2800" spc="-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linear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mixed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linguistic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applications.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pp.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21-40.</a:t>
            </a:r>
            <a:r>
              <a:rPr sz="2800" spc="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  <a:hlinkClick r:id="rId2"/>
              </a:rPr>
              <a:t>http://arxiv.org/pdf/1308.5499.pdf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35"/>
              </a:spcBef>
              <a:buClr>
                <a:srgbClr val="001158"/>
              </a:buClr>
              <a:buFont typeface="Georgia"/>
              <a:buAutoNum type="arabicPeriod"/>
            </a:pPr>
            <a:endParaRPr sz="2800">
              <a:latin typeface="Georgia"/>
              <a:cs typeface="Georgia"/>
            </a:endParaRPr>
          </a:p>
          <a:p>
            <a:pPr marL="372745" marR="5080" indent="-360680">
              <a:lnSpc>
                <a:spcPct val="105600"/>
              </a:lnSpc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Additional</a:t>
            </a:r>
            <a:r>
              <a:rPr sz="28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reading</a:t>
            </a:r>
            <a:r>
              <a:rPr sz="28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(optional)</a:t>
            </a:r>
            <a:r>
              <a:rPr sz="28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-</a:t>
            </a:r>
            <a:r>
              <a:rPr sz="2800" spc="-8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https:// 	bookdown.org/roback/bookdown-BeyondMLR/ch- 	multilevelintro.html#twolevelmodeling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316" y="4849737"/>
            <a:ext cx="5027782" cy="12758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8350" cy="4522470"/>
          </a:xfrm>
          <a:custGeom>
            <a:avLst/>
            <a:gdLst/>
            <a:ahLst/>
            <a:cxnLst/>
            <a:rect l="l" t="t" r="r" b="b"/>
            <a:pathLst>
              <a:path w="12198350" h="4522470">
                <a:moveTo>
                  <a:pt x="12198350" y="0"/>
                </a:moveTo>
                <a:lnTo>
                  <a:pt x="0" y="0"/>
                </a:lnTo>
                <a:lnTo>
                  <a:pt x="0" y="4521936"/>
                </a:lnTo>
                <a:lnTo>
                  <a:pt x="12198350" y="4521936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77962" y="1020571"/>
            <a:ext cx="9706610" cy="16744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0"/>
              </a:spcBef>
            </a:pPr>
            <a:r>
              <a:rPr sz="5400" dirty="0">
                <a:solidFill>
                  <a:srgbClr val="FFFFFF"/>
                </a:solidFill>
              </a:rPr>
              <a:t>Thanks!</a:t>
            </a:r>
            <a:r>
              <a:rPr sz="5400" spc="-7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See</a:t>
            </a:r>
            <a:r>
              <a:rPr sz="5400" spc="-8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you</a:t>
            </a:r>
            <a:r>
              <a:rPr sz="5400" spc="-8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next</a:t>
            </a:r>
            <a:r>
              <a:rPr sz="5400" spc="-75" dirty="0">
                <a:solidFill>
                  <a:srgbClr val="FFFFFF"/>
                </a:solidFill>
              </a:rPr>
              <a:t> </a:t>
            </a:r>
            <a:r>
              <a:rPr sz="5400" spc="-10" dirty="0">
                <a:solidFill>
                  <a:srgbClr val="FFFFFF"/>
                </a:solidFill>
              </a:rPr>
              <a:t>week! Questions?</a:t>
            </a:r>
            <a:endParaRPr sz="5400"/>
          </a:p>
        </p:txBody>
      </p:sp>
      <p:sp>
        <p:nvSpPr>
          <p:cNvPr id="6" name="object 6"/>
          <p:cNvSpPr txBox="1"/>
          <p:nvPr/>
        </p:nvSpPr>
        <p:spPr>
          <a:xfrm>
            <a:off x="11621349" y="6565342"/>
            <a:ext cx="17653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16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6875" y="5427979"/>
            <a:ext cx="3201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Material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from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Cohen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et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al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CH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1088</Words>
  <Application>Microsoft Office PowerPoint</Application>
  <PresentationFormat>Custom</PresentationFormat>
  <Paragraphs>138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Cambria Math</vt:lpstr>
      <vt:lpstr>Georgia</vt:lpstr>
      <vt:lpstr>Symbol</vt:lpstr>
      <vt:lpstr>Times New Roman</vt:lpstr>
      <vt:lpstr>Office Theme</vt:lpstr>
      <vt:lpstr>Statistics for CSAI II 10 – Multiple Regression with Polynomials</vt:lpstr>
      <vt:lpstr>Outline</vt:lpstr>
      <vt:lpstr>Outline</vt:lpstr>
      <vt:lpstr>Refresher: Types of polynomial functions</vt:lpstr>
      <vt:lpstr>When to consider polynomial regression</vt:lpstr>
      <vt:lpstr>When to consider polynomial regression</vt:lpstr>
      <vt:lpstr>Polynomial Regression</vt:lpstr>
      <vt:lpstr>Interpreting Polynomial Regression Results</vt:lpstr>
      <vt:lpstr>Running the model in R</vt:lpstr>
      <vt:lpstr>Run multiple regression on the data</vt:lpstr>
      <vt:lpstr>Multiple and Polynomial Regression</vt:lpstr>
      <vt:lpstr>Compare your models</vt:lpstr>
      <vt:lpstr>Essential vs. Nonessential Multicollinearity</vt:lpstr>
      <vt:lpstr>Orthogonal polynomials</vt:lpstr>
      <vt:lpstr>Narula (1979): Orthogonal Polynomial Regression</vt:lpstr>
      <vt:lpstr>Recap</vt:lpstr>
      <vt:lpstr>Preparing for Module 11: Mixed models</vt:lpstr>
      <vt:lpstr>Thanks! See you next week!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Travis Wiltshire</cp:lastModifiedBy>
  <cp:revision>1</cp:revision>
  <dcterms:created xsi:type="dcterms:W3CDTF">2025-11-04T08:00:26Z</dcterms:created>
  <dcterms:modified xsi:type="dcterms:W3CDTF">2025-11-04T08:06:02Z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2023-11-06T00:00:00Z</vt:filetime>
  </property>
  <property fmtid="{D5CDD505-2E9C-101B-9397-08002B2CF9AE}" pid="3" name="LastSaved">
    <vt:filetime>2025-11-04T00:00:00Z</vt:filetime>
  </property>
  <property fmtid="{D5CDD505-2E9C-101B-9397-08002B2CF9AE}" pid="4" name="Producer">
    <vt:lpwstr>macOS Version 13.5.2 (Build 22G91) Quartz PDFContext</vt:lpwstr>
  </property>
</Properties>
</file>